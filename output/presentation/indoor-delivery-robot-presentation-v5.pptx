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000b36d4114320" /><Relationship Type="http://schemas.openxmlformats.org/officeDocument/2006/relationships/extended-properties" Target="/docProps/app.xml" Id="R5e21b7010b374ff2" /><Relationship Type="http://schemas.openxmlformats.org/officeDocument/2006/relationships/officeDocument" Target="/ppt/presentation.xml" Id="Rd6587ca1efd64f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f86d0d0e24871"/>
  </p:sldMasterIdLst>
  <p:notesMasterIdLst>
    <p:notesMasterId xmlns:r="http://schemas.openxmlformats.org/officeDocument/2006/relationships" r:id="R044e2d08d0fc4000"/>
  </p:notesMasterIdLst>
  <p:sldIdLst>
    <p:sldId xmlns:r="http://schemas.openxmlformats.org/officeDocument/2006/relationships" id="256" r:id="R08360d3b8b604624"/>
    <p:sldId xmlns:r="http://schemas.openxmlformats.org/officeDocument/2006/relationships" id="257" r:id="R1a728c5565fa42aa"/>
    <p:sldId xmlns:r="http://schemas.openxmlformats.org/officeDocument/2006/relationships" id="258" r:id="R1c2c3be633da4e66"/>
    <p:sldId xmlns:r="http://schemas.openxmlformats.org/officeDocument/2006/relationships" id="259" r:id="R9e132daa9db94ef3"/>
    <p:sldId xmlns:r="http://schemas.openxmlformats.org/officeDocument/2006/relationships" id="260" r:id="R8f2f201da72848b0"/>
    <p:sldId xmlns:r="http://schemas.openxmlformats.org/officeDocument/2006/relationships" id="261" r:id="Re9fccf8be22043ee"/>
    <p:sldId xmlns:r="http://schemas.openxmlformats.org/officeDocument/2006/relationships" id="262" r:id="Rbad994229edb43f7"/>
    <p:sldId xmlns:r="http://schemas.openxmlformats.org/officeDocument/2006/relationships" id="263" r:id="R1e923aad596241e3"/>
    <p:sldId xmlns:r="http://schemas.openxmlformats.org/officeDocument/2006/relationships" id="264" r:id="R9c0fe2c6af444085"/>
    <p:sldId xmlns:r="http://schemas.openxmlformats.org/officeDocument/2006/relationships" id="265" r:id="Rb8a22d49dcf440f8"/>
    <p:sldId xmlns:r="http://schemas.openxmlformats.org/officeDocument/2006/relationships" id="266" r:id="Rbe82b7d2a88b4f49"/>
    <p:sldId xmlns:r="http://schemas.openxmlformats.org/officeDocument/2006/relationships" id="267" r:id="Rafbbd6b0fd1c4bcb"/>
    <p:sldId xmlns:r="http://schemas.openxmlformats.org/officeDocument/2006/relationships" id="268" r:id="Ra5292ae6ba6748bf"/>
    <p:sldId xmlns:r="http://schemas.openxmlformats.org/officeDocument/2006/relationships" id="269" r:id="R4ecb9f6c7ce0477a"/>
    <p:sldId xmlns:r="http://schemas.openxmlformats.org/officeDocument/2006/relationships" id="270" r:id="R21edd5a79ef1442d"/>
    <p:sldId xmlns:r="http://schemas.openxmlformats.org/officeDocument/2006/relationships" id="271" r:id="Rd5cce0a9130e4193"/>
    <p:sldId xmlns:r="http://schemas.openxmlformats.org/officeDocument/2006/relationships" id="272" r:id="Rbdfc88e8ea6843f1"/>
    <p:sldId xmlns:r="http://schemas.openxmlformats.org/officeDocument/2006/relationships" id="273" r:id="R45f0344e3ac143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9ee107d9124b85" /><Relationship Type="http://schemas.openxmlformats.org/officeDocument/2006/relationships/slideMaster" Target="/ppt/slideMasters/slideMaster1.xml" Id="R1e6f86d0d0e24871" /><Relationship Type="http://schemas.openxmlformats.org/officeDocument/2006/relationships/notesMaster" Target="/ppt/notesMasters/notesMaster1.xml" Id="R044e2d08d0fc4000" /><Relationship Type="http://schemas.openxmlformats.org/officeDocument/2006/relationships/presProps" Target="/ppt/presProps.xml" Id="Rd86b35baf2ee48f7" /><Relationship Type="http://schemas.openxmlformats.org/officeDocument/2006/relationships/tableStyles" Target="/ppt/tableStyles.xml" Id="Rb1b1215b600f4372" /><Relationship Type="http://schemas.openxmlformats.org/officeDocument/2006/relationships/slide" Target="/ppt/slides/slide1.xml" Id="R08360d3b8b604624" /><Relationship Type="http://schemas.openxmlformats.org/officeDocument/2006/relationships/slide" Target="/ppt/slides/slide2.xml" Id="R1a728c5565fa42aa" /><Relationship Type="http://schemas.openxmlformats.org/officeDocument/2006/relationships/slide" Target="/ppt/slides/slide3.xml" Id="R1c2c3be633da4e66" /><Relationship Type="http://schemas.openxmlformats.org/officeDocument/2006/relationships/slide" Target="/ppt/slides/slide4.xml" Id="R9e132daa9db94ef3" /><Relationship Type="http://schemas.openxmlformats.org/officeDocument/2006/relationships/slide" Target="/ppt/slides/slide5.xml" Id="R8f2f201da72848b0" /><Relationship Type="http://schemas.openxmlformats.org/officeDocument/2006/relationships/slide" Target="/ppt/slides/slide6.xml" Id="Re9fccf8be22043ee" /><Relationship Type="http://schemas.openxmlformats.org/officeDocument/2006/relationships/slide" Target="/ppt/slides/slide7.xml" Id="Rbad994229edb43f7" /><Relationship Type="http://schemas.openxmlformats.org/officeDocument/2006/relationships/slide" Target="/ppt/slides/slide8.xml" Id="R1e923aad596241e3" /><Relationship Type="http://schemas.openxmlformats.org/officeDocument/2006/relationships/slide" Target="/ppt/slides/slide9.xml" Id="R9c0fe2c6af444085" /><Relationship Type="http://schemas.openxmlformats.org/officeDocument/2006/relationships/slide" Target="/ppt/slides/slide10.xml" Id="Rb8a22d49dcf440f8" /><Relationship Type="http://schemas.openxmlformats.org/officeDocument/2006/relationships/slide" Target="/ppt/slides/slide11.xml" Id="Rbe82b7d2a88b4f49" /><Relationship Type="http://schemas.openxmlformats.org/officeDocument/2006/relationships/slide" Target="/ppt/slides/slide12.xml" Id="Rafbbd6b0fd1c4bcb" /><Relationship Type="http://schemas.openxmlformats.org/officeDocument/2006/relationships/slide" Target="/ppt/slides/slide13.xml" Id="Ra5292ae6ba6748bf" /><Relationship Type="http://schemas.openxmlformats.org/officeDocument/2006/relationships/slide" Target="/ppt/slides/slide14.xml" Id="R4ecb9f6c7ce0477a" /><Relationship Type="http://schemas.openxmlformats.org/officeDocument/2006/relationships/slide" Target="/ppt/slides/slide15.xml" Id="R21edd5a79ef1442d" /><Relationship Type="http://schemas.openxmlformats.org/officeDocument/2006/relationships/slide" Target="/ppt/slides/slide16.xml" Id="Rd5cce0a9130e4193" /><Relationship Type="http://schemas.openxmlformats.org/officeDocument/2006/relationships/slide" Target="/ppt/slides/slide17.xml" Id="Rbdfc88e8ea6843f1" /><Relationship Type="http://schemas.openxmlformats.org/officeDocument/2006/relationships/slide" Target="/ppt/slides/slide18.xml" Id="R45f0344e3ac1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f79b4d3145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605dcbda94c90" /><Relationship Type="http://schemas.openxmlformats.org/officeDocument/2006/relationships/notesMaster" Target="/ppt/notesMasters/notesMaster1.xml" Id="Rd37a843b14fd46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4da2f076ef4060" /><Relationship Type="http://schemas.openxmlformats.org/officeDocument/2006/relationships/notesMaster" Target="/ppt/notesMasters/notesMaster1.xml" Id="R810bebbffe64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0dd5a5823a403d" /><Relationship Type="http://schemas.openxmlformats.org/officeDocument/2006/relationships/notesMaster" Target="/ppt/notesMasters/notesMaster1.xml" Id="R46e45a2616164c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5440cf5db34a97" /><Relationship Type="http://schemas.openxmlformats.org/officeDocument/2006/relationships/notesMaster" Target="/ppt/notesMasters/notesMaster1.xml" Id="R3a2485c9e04c4b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e76f04fe2d4aab" /><Relationship Type="http://schemas.openxmlformats.org/officeDocument/2006/relationships/notesMaster" Target="/ppt/notesMasters/notesMaster1.xml" Id="Rfefd1871c00446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a1891467944d6" /><Relationship Type="http://schemas.openxmlformats.org/officeDocument/2006/relationships/notesMaster" Target="/ppt/notesMasters/notesMaster1.xml" Id="Rb999e7bb2dbe4c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a92c9670774ab8" /><Relationship Type="http://schemas.openxmlformats.org/officeDocument/2006/relationships/notesMaster" Target="/ppt/notesMasters/notesMaster1.xml" Id="R1255f29688674f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64f6dcd18f4f86" /><Relationship Type="http://schemas.openxmlformats.org/officeDocument/2006/relationships/notesMaster" Target="/ppt/notesMasters/notesMaster1.xml" Id="R9e63dc07d21c4e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05294cc2b843d2" /><Relationship Type="http://schemas.openxmlformats.org/officeDocument/2006/relationships/notesMaster" Target="/ppt/notesMasters/notesMaster1.xml" Id="Rdcb3aaad21d04c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d7fbdaab6d402f" /><Relationship Type="http://schemas.openxmlformats.org/officeDocument/2006/relationships/notesMaster" Target="/ppt/notesMasters/notesMaster1.xml" Id="Re83b9274ada543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74066d20cb409a" /><Relationship Type="http://schemas.openxmlformats.org/officeDocument/2006/relationships/notesMaster" Target="/ppt/notesMasters/notesMaster1.xml" Id="R325f0c02d02445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3fac0a13f54d81" /><Relationship Type="http://schemas.openxmlformats.org/officeDocument/2006/relationships/notesMaster" Target="/ppt/notesMasters/notesMaster1.xml" Id="R61ecf68d54114d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aae2e816de4021" /><Relationship Type="http://schemas.openxmlformats.org/officeDocument/2006/relationships/notesMaster" Target="/ppt/notesMasters/notesMaster1.xml" Id="R9be394060daa48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08e53248d84495" /><Relationship Type="http://schemas.openxmlformats.org/officeDocument/2006/relationships/notesMaster" Target="/ppt/notesMasters/notesMaster1.xml" Id="R12f994c263254b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cf83d916e84b86" /><Relationship Type="http://schemas.openxmlformats.org/officeDocument/2006/relationships/notesMaster" Target="/ppt/notesMasters/notesMaster1.xml" Id="Rf3528695e06c44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4ca9d5de264a6e" /><Relationship Type="http://schemas.openxmlformats.org/officeDocument/2006/relationships/notesMaster" Target="/ppt/notesMasters/notesMaster1.xml" Id="Ra7b62259b78d40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395d1baa4740a9" /><Relationship Type="http://schemas.openxmlformats.org/officeDocument/2006/relationships/notesMaster" Target="/ppt/notesMasters/notesMaster1.xml" Id="R59e56a6b15c449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7b441bb4d345fd" /><Relationship Type="http://schemas.openxmlformats.org/officeDocument/2006/relationships/notesMaster" Target="/ppt/notesMasters/notesMaster1.xml" Id="Rb7e71b0a23c642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a5b6c62fb4c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8722d285e42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b1690e207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d47b44fc94c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086f363824f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988bbb33845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E531CB-0231-43E8-BAAF-C5DF89BF88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CE2D6B-4DCB-406D-8E55-F379792FC8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1D9FBE-92F1-446C-B6D5-3403CC92A7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BEFBFC-2764-44EA-8F16-F53739490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10B5D7-91A6-4F7C-A98C-895319F6C3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1F40B1-37A2-4F68-A71F-04CE498020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79BFB2-B19E-49B9-B150-19D71FC847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0309E9-9A98-42F5-A0E2-7B149B039B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88DF83-80D0-4B72-89C0-F00FF48CA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963DB7-3B9A-4CD5-8CED-59A8C7F43B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55b3e8ccfc4f02" /><Relationship Type="http://schemas.openxmlformats.org/officeDocument/2006/relationships/slideLayout" Target="/ppt/slideLayouts/slideLayout1.xml" Id="Re4eddbce410f4100" /><Relationship Type="http://schemas.openxmlformats.org/officeDocument/2006/relationships/slideLayout" Target="/ppt/slideLayouts/slideLayout2.xml" Id="R35a04d40606842af" /><Relationship Type="http://schemas.openxmlformats.org/officeDocument/2006/relationships/slideLayout" Target="/ppt/slideLayouts/slideLayout3.xml" Id="Rb9e5800851c041d3" /><Relationship Type="http://schemas.openxmlformats.org/officeDocument/2006/relationships/slideLayout" Target="/ppt/slideLayouts/slideLayout4.xml" Id="R439792f2e31248fc" /><Relationship Type="http://schemas.openxmlformats.org/officeDocument/2006/relationships/slideLayout" Target="/ppt/slideLayouts/slideLayout5.xml" Id="R5ab5f6570e174792" /><Relationship Type="http://schemas.openxmlformats.org/officeDocument/2006/relationships/slideLayout" Target="/ppt/slideLayouts/slideLayout6.xml" Id="R3c62f8ec1e6d4b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ddbce410f4100"/>
    <p:sldLayoutId xmlns:r="http://schemas.openxmlformats.org/officeDocument/2006/relationships" id="2147483650" r:id="R35a04d40606842af"/>
    <p:sldLayoutId xmlns:r="http://schemas.openxmlformats.org/officeDocument/2006/relationships" id="2147483651" r:id="Rb9e5800851c041d3"/>
    <p:sldLayoutId xmlns:r="http://schemas.openxmlformats.org/officeDocument/2006/relationships" id="2147483652" r:id="R439792f2e31248fc"/>
    <p:sldLayoutId xmlns:r="http://schemas.openxmlformats.org/officeDocument/2006/relationships" id="2147483653" r:id="R5ab5f6570e174792"/>
    <p:sldLayoutId xmlns:r="http://schemas.openxmlformats.org/officeDocument/2006/relationships" id="2147483654" r:id="R3c62f8ec1e6d4b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b14d738a64246" /><Relationship Type="http://schemas.openxmlformats.org/officeDocument/2006/relationships/notesSlide" Target="/ppt/notesSlides/notesSlide1.xml" Id="Rf9c1ffd3bded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bce2c9a6845ca" /><Relationship Type="http://schemas.openxmlformats.org/officeDocument/2006/relationships/notesSlide" Target="/ppt/notesSlides/notesSlide2.xml" Id="Rf3e5e3dbca2e4d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649f0a1b2461e" /><Relationship Type="http://schemas.openxmlformats.org/officeDocument/2006/relationships/notesSlide" Target="/ppt/notesSlides/notesSlide3.xml" Id="R1df70c92e73b46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01e6e7f5f40a1" /><Relationship Type="http://schemas.openxmlformats.org/officeDocument/2006/relationships/notesSlide" Target="/ppt/notesSlides/notesSlide4.xml" Id="R5156209a82ac4a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a9579c32a4d34" /><Relationship Type="http://schemas.openxmlformats.org/officeDocument/2006/relationships/notesSlide" Target="/ppt/notesSlides/notesSlide5.xml" Id="R990e8b635a30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dc3509a8944ef" /><Relationship Type="http://schemas.openxmlformats.org/officeDocument/2006/relationships/image" Target="/ppt/media/image.png" Id="R372916c00a164772" /><Relationship Type="http://schemas.openxmlformats.org/officeDocument/2006/relationships/notesSlide" Target="/ppt/notesSlides/notesSlide6.xml" Id="R27c8161720814c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c2007d767476f" /><Relationship Type="http://schemas.openxmlformats.org/officeDocument/2006/relationships/image" Target="/ppt/media/image2.png" Id="R59bb09a9c547478b" /><Relationship Type="http://schemas.openxmlformats.org/officeDocument/2006/relationships/notesSlide" Target="/ppt/notesSlides/notesSlide7.xml" Id="R1e45aa1c591b4b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923ac82604b06" /><Relationship Type="http://schemas.openxmlformats.org/officeDocument/2006/relationships/image" Target="/ppt/media/image3.png" Id="Rfee3896272c24a25" /><Relationship Type="http://schemas.openxmlformats.org/officeDocument/2006/relationships/notesSlide" Target="/ppt/notesSlides/notesSlide8.xml" Id="R0866c6ba88f347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ee2613c3a42bb" /><Relationship Type="http://schemas.openxmlformats.org/officeDocument/2006/relationships/image" Target="/ppt/media/image4.png" Id="R2470ab5d0cca48ad" /><Relationship Type="http://schemas.openxmlformats.org/officeDocument/2006/relationships/notesSlide" Target="/ppt/notesSlides/notesSlide9.xml" Id="R7c20e6672b074d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9031e0636478b" /><Relationship Type="http://schemas.openxmlformats.org/officeDocument/2006/relationships/notesSlide" Target="/ppt/notesSlides/notesSlide10.xml" Id="R42ec679e09d241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28c5eb9d741a6" /><Relationship Type="http://schemas.openxmlformats.org/officeDocument/2006/relationships/image" Target="/ppt/media/image5.png" Id="R64b95982a5b74293" /><Relationship Type="http://schemas.openxmlformats.org/officeDocument/2006/relationships/notesSlide" Target="/ppt/notesSlides/notesSlide11.xml" Id="Rb395c1b37ec146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e9889fd8743b2" /><Relationship Type="http://schemas.openxmlformats.org/officeDocument/2006/relationships/notesSlide" Target="/ppt/notesSlides/notesSlide12.xml" Id="Rc8954ef6389747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58fd4609d47b2" /><Relationship Type="http://schemas.openxmlformats.org/officeDocument/2006/relationships/image" Target="/ppt/media/image6.png" Id="R79c42645fc55460f" /><Relationship Type="http://schemas.openxmlformats.org/officeDocument/2006/relationships/image" Target="/ppt/media/image7.png" Id="Rf8cbfcfb9f9d4d7f" /><Relationship Type="http://schemas.openxmlformats.org/officeDocument/2006/relationships/notesSlide" Target="/ppt/notesSlides/notesSlide13.xml" Id="R94355cdfbc1646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e77fda0dd4de8" /><Relationship Type="http://schemas.openxmlformats.org/officeDocument/2006/relationships/image" Target="/ppt/media/image8.png" Id="Ra18f94507807464e" /><Relationship Type="http://schemas.openxmlformats.org/officeDocument/2006/relationships/image" Target="/ppt/media/image9.png" Id="R659ae2e909464f2f" /><Relationship Type="http://schemas.openxmlformats.org/officeDocument/2006/relationships/notesSlide" Target="/ppt/notesSlides/notesSlide14.xml" Id="R504081acca174d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0d3f13ed84309" /><Relationship Type="http://schemas.openxmlformats.org/officeDocument/2006/relationships/image" Target="/ppt/media/image10.png" Id="R71d139a2ddc54819" /><Relationship Type="http://schemas.openxmlformats.org/officeDocument/2006/relationships/image" Target="/ppt/media/image11.png" Id="R7877ca6e92b649c6" /><Relationship Type="http://schemas.openxmlformats.org/officeDocument/2006/relationships/notesSlide" Target="/ppt/notesSlides/notesSlide15.xml" Id="R3419b28b04fc4b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c13fdc7e64f40" /><Relationship Type="http://schemas.openxmlformats.org/officeDocument/2006/relationships/image" Target="/ppt/media/image12.png" Id="Rfac6557374604c79" /><Relationship Type="http://schemas.openxmlformats.org/officeDocument/2006/relationships/notesSlide" Target="/ppt/notesSlides/notesSlide16.xml" Id="R974a1883a7f84c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6a8f331b94f59" /><Relationship Type="http://schemas.openxmlformats.org/officeDocument/2006/relationships/notesSlide" Target="/ppt/notesSlides/notesSlide17.xml" Id="R118d260754e644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618596e9f46b7" /><Relationship Type="http://schemas.openxmlformats.org/officeDocument/2006/relationships/notesSlide" Target="/ppt/notesSlides/notesSlide18.xml" Id="Re70eac12565f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1C1AF-9992-4CB8-98A9-65DC8871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DC331-E076-4491-AD8A-A73B3EA6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โครงงานเตรียมสหกิจศึกษา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59C8-DF02-442F-AE6C-78D0485B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A3B82"/>
                </a:solidFill>
              </a:defRPr>
            </a:defPPr>
            <a:lvl1pPr>
              <a:defRPr sz="3000" b="1">
                <a:solidFill>
                  <a:srgbClr val="0A3B82"/>
                </a:solidFill>
              </a:defRPr>
            </a:lvl1pPr>
            <a:lvl2pPr>
              <a:defRPr sz="3000" b="1">
                <a:solidFill>
                  <a:srgbClr val="0A3B82"/>
                </a:solidFill>
              </a:defRPr>
            </a:lvl2pPr>
            <a:lvl3pPr>
              <a:defRPr sz="3000" b="1">
                <a:solidFill>
                  <a:srgbClr val="0A3B82"/>
                </a:solidFill>
              </a:defRPr>
            </a:lvl3pPr>
            <a:lvl4pPr>
              <a:defRPr sz="3000" b="1">
                <a:solidFill>
                  <a:srgbClr val="0A3B82"/>
                </a:solidFill>
              </a:defRPr>
            </a:lvl4pPr>
            <a:lvl5pPr>
              <a:defRPr sz="3000" b="1">
                <a:solidFill>
                  <a:srgbClr val="0A3B82"/>
                </a:solidFill>
              </a:defRPr>
            </a:lvl5pPr>
            <a:lvl6pPr>
              <a:defRPr sz="3000" b="1">
                <a:solidFill>
                  <a:srgbClr val="0A3B82"/>
                </a:solidFill>
              </a:defRPr>
            </a:lvl6pPr>
            <a:lvl7pPr>
              <a:defRPr sz="3000" b="1">
                <a:solidFill>
                  <a:srgbClr val="0A3B82"/>
                </a:solidFill>
              </a:defRPr>
            </a:lvl7pPr>
            <a:lvl8pPr>
              <a:defRPr sz="3000" b="1">
                <a:solidFill>
                  <a:srgbClr val="0A3B82"/>
                </a:solidFill>
              </a:defRPr>
            </a:lvl8pPr>
            <a:lvl9pPr>
              <a:defRPr sz="30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BF80E-F25E-4A22-B898-ADF0D77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0487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DBEB-15DC-402B-A1BF-115BA24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00AFC-9B74-4B36-8B8E-18F61E3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B9144-3132-421B-8F80-5E05725A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6610110087   วิศวกรรมคอมพิวเตอร์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2DAF6-7269-407B-A9D8-F33F3796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E565A-4928-4EF7-B245-C110BC78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73057-DCC0-46BF-9CF6-9DAB80AA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478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4D215-061E-45B1-887C-DC2DD9CA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B36E5-87C8-44C9-AAB6-A375D511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2076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2328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A8BE8-4A77-4147-8684-571EF02A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8E72C-C631-4DC3-B14E-0EBD36A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A6661-7CC0-476E-8399-5682345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01837-E81F-4F08-AD28-E6AB8569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677A3-7364-43D2-8897-CAB5C8CD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แนวคิดเริ่มจากงานรับส่งภายในอาคารที่ต้องทำซ้ำ และต้องติดตามได้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FF962-E722-4545-A2F0-226218B3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เราต้องการให้หุ่นยนต์รับงานจากผู้ใช้ แล้วเดินทางระหว่างสถานีได้ด้วยตนเอง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BA4A-B85D-4443-AA37-D358C5C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แทนที่ผู้ใช้งานจะต้องเดินไปส่งสิ่งของทุกครั้ง หรือต้องเปิดเครื่องมือ ROS เพื่อสั่งหุ่นยนต์โดยตรง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F3BE6-6610-484E-BB61-E300B78F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49530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B8BF3-FDFB-4EA6-89CF-B5C0FA73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ก่อนมีระบบนี้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8307D-EA46-4D40-9A33-D37455C3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8B"/>
                </a:solidFill>
              </a:defRPr>
            </a:defPPr>
            <a:lvl1pPr>
              <a:defRPr sz="1200" b="0">
                <a:solidFill>
                  <a:srgbClr val="58718B"/>
                </a:solidFill>
              </a:defRPr>
            </a:lvl1pPr>
            <a:lvl2pPr>
              <a:defRPr sz="1200" b="0">
                <a:solidFill>
                  <a:srgbClr val="58718B"/>
                </a:solidFill>
              </a:defRPr>
            </a:lvl2pPr>
            <a:lvl3pPr>
              <a:defRPr sz="1200" b="0">
                <a:solidFill>
                  <a:srgbClr val="58718B"/>
                </a:solidFill>
              </a:defRPr>
            </a:lvl3pPr>
            <a:lvl4pPr>
              <a:defRPr sz="1200" b="0">
                <a:solidFill>
                  <a:srgbClr val="58718B"/>
                </a:solidFill>
              </a:defRPr>
            </a:lvl4pPr>
            <a:lvl5pPr>
              <a:defRPr sz="1200" b="0">
                <a:solidFill>
                  <a:srgbClr val="58718B"/>
                </a:solidFill>
              </a:defRPr>
            </a:lvl5pPr>
            <a:lvl6pPr>
              <a:defRPr sz="1200" b="0">
                <a:solidFill>
                  <a:srgbClr val="58718B"/>
                </a:solidFill>
              </a:defRPr>
            </a:lvl6pPr>
            <a:lvl7pPr>
              <a:defRPr sz="1200" b="0">
                <a:solidFill>
                  <a:srgbClr val="58718B"/>
                </a:solidFill>
              </a:defRPr>
            </a:lvl7pPr>
            <a:lvl8pPr>
              <a:defRPr sz="1200" b="0">
                <a:solidFill>
                  <a:srgbClr val="58718B"/>
                </a:solidFill>
              </a:defRPr>
            </a:lvl8pPr>
            <a:lvl9pPr>
              <a:defRPr sz="120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ผู้ใช้ต้องกำหนดคำสั่งด้วยเครื่องมือของหุ่นยนต์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ไม่เห็นคิวงานและสถานะของภารกิจในที่เดียว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ตรวจสอบย้อนหลังได้ยากเมื่อภารกิจล้มเหลว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F6B5A-EAF8-488A-BC92-8BA7EDED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58674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6D556-ADC5-4934-959D-C4522EFE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แนวคิดของโครงงาน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17978-5591-4E89-B6CB-9A0BAFFC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สร้างฐานหุ่นยนต์ที่รับภารกิจจากเว็บ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เดินทางไปยังสถานีรับของและสถานีปลายทาง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ส่งสถานะกลับให้ผู้ใช้ติดตามได้ตลอดกระบวนการ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4F1DC-95F8-4F5F-9D56-E9FF152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0C1F0-D11D-4C00-A6DB-FBDB31B5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ผลที่ต้องการ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21C81-BF15-4EE5-959A-DC62F70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ผู้ใช้สร้างภารกิจ ติดตามสถานะ และดูประวัติได้จากเว็บ 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643957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E689C-08A0-4B3D-9BAD-7602A882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ED89D-F840-4A71-A292-F6D0C666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4ACC2-23DE-4F0F-8164-75D30BEC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แนวคิดการทำงานของต้นแบบ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059EA-F787-47F3-915D-5371B18A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3648E-24A9-427A-8F23-0798D8C7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หนึ่งภารกิจเชื่อมผู้ใช้งาน เว็บ ระบบนำทาง และหุ่นยนต์เข้าด้วยกัน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8783C-B383-4C9F-AED3-6944A0C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2E0D9-BDAB-4B18-8542-36F8F2A0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87E83-6A11-4950-BEFB-0764272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FD8B6-635C-4BF4-8F37-C279B45E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ผู้ใช้เลือกสถานีรับของและปลายทาง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37D29-5673-4F2D-AACB-F3A1E274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0E2CC-00AF-4267-B3A9-5248575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DE186-F258-4914-ACDF-D6FBB731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146D0-E722-46E5-8724-76D1F9B5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555C4-BBBA-4310-A2EE-88E05291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เว็บส่งภารกิจผ่าน 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EBF3A-B579-4758-AD92-F8470E5B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70C96-80A2-44F7-B753-E1BBD6F9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53A7A-3715-4B2C-BDCC-4130765B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AF402-8B62-4469-9056-59D6ED0D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87CAD-5B33-4788-8F59-F37747E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และ Nav2 พาหุ่นยนต์เคลื่อนที่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E8366-D56D-439A-99E7-1FA0342A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18422-40F1-4955-8CA2-17BA45E9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4FC25-2E7D-46A6-A1D6-10950EA4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DC49C-08AA-4617-8E65-7E604724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69BE7-86A7-416A-9090-6675FB4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สถานะและเหตุการณ์ส่งกลับสู่หน้าเว็บ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70CDD-88E7-41FE-9505-E1FBE68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ต้นแบบนี้มุ่งพิสูจน์การทำงานร่วมกันของทั้งระบบ มากกว่าการทดสอบการบรรทุกสิ่งของจริง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FB237-49FE-4743-B2CA-9BDF2DA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การวางและรับสิ่งของยังยืนยันผ่านเว็บ และฐานหุ่นยนต์ยังไม่มีโครงสร้างบรรทุกเฉพาะ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1150586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8E2ED-91CA-4532-B9A8-E6AB25F2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B36B4-3C47-4B7F-8563-1B8BCA4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C22A0-70FB-40F5-828F-A50F9442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DFF84-EB02-4F29-B62D-5FC613C4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77E0B-34DE-48C6-B672-53E3E6FB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สิ่งที่โครงงานตั้งใจออกแบบ พัฒนา และทดสอบ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D2F78-B086-4806-A8B8-CC8CBF6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47F96-77C7-45DC-8963-614754D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พัฒนาฐานหุ่นยนต์ Differential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8D7FD-CDC2-4A99-B3F8-1C85234F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ใช้มอเตอร์ ชุดควบคุม และเซนเซอร์สำหรับตรวจวัดการเคลื่อนที่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C0DEF-0986-452E-9305-13FA0AAD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16BF1-DF58-4DCF-99D9-7C84651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พัฒนาระบบนำทางด้วย ROS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D9521-59C7-42A4-987B-7188C4F2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 SLAM Toolbox, AMCL และ Nav2 สำหรับพื้นที่ทดลองภายในอาคาร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4A547-F004-464F-97F3-50598860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9C3E9-90AA-43FE-8C6E-06EB4D0A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พัฒนาเว็บแอปพลิเคชัน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6812F-B08A-4C68-9938-E19565B7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สร้างภารกิจ จัดการคิว ติดตามสถานะ และดูประวัติตามสิทธิ์ผู้ใช้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00684-0DF3-4825-8C8B-43A2D2F6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2DA47-000C-4DD5-8FF5-A6A2566B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 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E97C8-8ABC-45CF-BB0E-77BCE0DA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รับส่งคำสั่ง ตำแหน่ง และสถานะระหว่างเว็บกับระบบหุ่นยนต์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B0547-0524-4185-A04D-A1001F90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89E6D-05F1-4FFD-81A4-0ED64B51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ทดสอบการทำงานร่วมกัน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408CE-45B1-41F0-984D-6E2C91EC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ตรวจฟังก์ชันเว็บ การเคลื่อนที่จริง และลำดับการรับส่งสิ่งของจำลอง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F82DD-4FA7-4C9B-9F88-3F7241DD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9816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05ECE-739B-4DBF-9B75-17200336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0BF65-66AE-48BF-9DD4-C0EDCFE3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DE16B-2148-4452-A798-97AA1C03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ขอบเขตของโครงงาน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050C4-1C5F-410F-A585-13BC5CD1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24081-49EE-48C8-8C81-C0B24E74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แยกสิ่งที่ทดสอบในต้นแบบออกจากสิ่งที่ยังไม่ได้นำมาประเมิน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028ED-9DB2-4641-9C98-3B748EE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13940-3AA2-42B6-98EE-A1A2E50B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12D01-F717-431F-B898-E22917F8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6B0EE-2D05-4865-B37F-8FADF4E0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หุ่นยนต์จริง 1 คันในพื้นที่ทดลองภายในห้อง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42A3C-C542-4BE2-A704-461D40BA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600B0-37E5-40D6-BC9B-79708E7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สถานีบนแผนที่ประมาณ 2 ถึง 4 จุด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B034D-9812-4328-8D1B-E4747AC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D2E1D-97D0-42AF-A3A2-DE0918E0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4CFD3-7383-49C0-BB29-45664A7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1281C-5D91-4D6A-A774-9817D0A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เว็บจัดการผู้ใช้ สถานี ภารกิจ คิว และประวัติ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75D7F-C9E7-4FEA-81F1-BCFB64B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9CA92-8EE6-4C40-AF7C-F0B4DCC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ยืนยันการวางและรับสิ่งของผ่านเว็บ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20EE8-8E49-4FFE-AE71-DD74FC65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4FADA-8E34-43CF-B0D4-ED30E591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ยังไม่ครอบคลุม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EE8D1-D5CB-41BE-8BBC-6C59BE2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83A51-88A4-4E77-BE27-4AF07CB7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โครงสร้างบรรทุกสิ่งของโดยเฉพาะ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FAE50-5466-429D-BCCF-FA784DFC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E16BC5-FA88-463A-8506-7CFB0E2F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การประเมินน้ำหนักบรรทุกและการขนส่งจริง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9E563-B1EB-40D5-91EF-B257E6FB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A2156-6EC9-45E6-BFE4-0D65CBEB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ระบบตรวจจับว่าสิ่งของถูกวางหรือรับแล้ว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66A660-F880-4B16-9BC3-43E72613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69A9F-4A69-4BEC-9762-C41F1C45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การรับรองความปลอดภัยสำหรับพื้นที่ทั่วไป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F7EF2-1B12-4CE3-8DC8-7F044756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2A712-1F54-48AB-9FCD-97497087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ความเสถียรและประสิทธิภาพระยะยาว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583500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450AB-4F1C-43F6-BC56-279C55C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0A882-74BA-44F2-ACBD-4EFAF8B8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62605-46B1-45B7-AE95-2512377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2A3EB-DB03-47DD-890A-DCA115C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CCC07-4DC3-41A6-A0C8-6BB17589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สามส่วนหลักแลกเปลี่ยนคำสั่งและสถานะผ่าน Robot Agent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A61DB-404E-490C-ACDB-197E99E8F3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916c00a164772"/>
          <a:stretch xmlns:a="http://schemas.openxmlformats.org/drawingml/2006/main"/>
        </p:blipFill>
        <p:spPr>
          <a:xfrm xmlns:a="http://schemas.openxmlformats.org/drawingml/2006/main">
            <a:off x="2373480" y="1504950"/>
            <a:ext cx="7445039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233CB-3400-4905-9197-BA1F763F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เว็บไม่เชื่อมต่อ ROS 2 โดยตรง  Robot Agent เป็นตัวกลางระหว่างระบบจัดการภารกิจกับหุ่นยนต์</a:t>
            </a:r>
          </a:p>
        </p:txBody>
      </p:sp>
    </p:spTree>
    <p:extLst>
      <p:ext uri="{BB962C8B-B14F-4D97-AF65-F5344CB8AC3E}">
        <p14:creationId xmlns:p14="http://schemas.microsoft.com/office/powerpoint/2010/main" val="80474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AD6B3-2F86-4AA4-A501-D14570A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CE766-D6C0-4D6D-8A22-9AD30E0E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862EF-E6EE-4343-85F3-F9F96FB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ฐานหุ่นยนต์และ Differential 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DAC82-2188-49D5-AD59-9C5910CE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C3AF2-248C-45E4-B988-E283F112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ควบคุมทิศทางจากความเร็วล้อซ้ายและขวา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5CBC7-4AF9-4682-A4DE-94C35707C9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b09a9c547478b"/>
          <a:stretch xmlns:a="http://schemas.openxmlformats.org/drawingml/2006/main"/>
        </p:blipFill>
        <p:spPr>
          <a:xfrm xmlns:a="http://schemas.openxmlformats.org/drawingml/2006/main">
            <a:off x="534226" y="1581150"/>
            <a:ext cx="7218298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498A5-EBCF-4791-8A20-FB49A4F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ฮาร์ดแวร์หลัก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3AB64-F210-43E2-A7D3-454B4D1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E4C17-C963-4601-9607-1F9F43E7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ODROID-C4 ประมวลผล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347F6-49B9-49B2-8024-1F429AD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EEF79-9ED8-46A5-98E0-BB89C362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ESP32 ควบคุมฐานและอ่าน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37D7B-F8FD-4F2E-85F7-C1EEC3C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8C861-6DCD-49E1-A636-967EE677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TB6612FNG ขับมอเตอร์ 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2DEDB-ADE5-49B1-8A09-26F536F4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92D0A-CC9B-4FB3-924F-DCB0F2B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14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MPU6050 วัดการเคลื่อนที่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1B596-D9D5-47F3-AB8B-4BAFD18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F956A-7BF6-4914-AAD6-5F80C507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YDLIDAR X3 สแกนพื้นที่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ECFED-79D7-4ACB-A727-80ACEAE1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A4EB2-1359-434C-A97A-DAA903C7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9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USB Camera ส่งภาพสด</a:t>
            </a:r>
          </a:p>
        </p:txBody>
      </p:sp>
    </p:spTree>
    <p:extLst>
      <p:ext uri="{BB962C8B-B14F-4D97-AF65-F5344CB8AC3E}">
        <p14:creationId xmlns:p14="http://schemas.microsoft.com/office/powerpoint/2010/main" val="209563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A6814-58C4-44B1-BA09-FF4728B4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B17F3-688F-4890-9FD1-AED9DE8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8D1D2-D1DC-44DC-A3CF-CB7C138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การควบคุมความเร็วล้อแบบป้อนกลับ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775E2-1C0F-4B45-93F2-70A018BD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CE87C-50BF-45F3-A68F-0DAD1489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Encoder ช่วยให้คำสั่งความเร็วสัมพันธ์กับการเคลื่อนที่จริงของล้อ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47098-3DB9-4BF0-B60D-2743030F3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3896272c24a25"/>
          <a:stretch xmlns:a="http://schemas.openxmlformats.org/drawingml/2006/main"/>
        </p:blipFill>
        <p:spPr>
          <a:xfrm xmlns:a="http://schemas.openxmlformats.org/drawingml/2006/main">
            <a:off x="2869598" y="1619250"/>
            <a:ext cx="6452803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26531-A185-4EF0-B7B3-7E8229DE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F9CD9-E5C1-490E-9D69-234C0ADA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TARGET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B7C97-70A9-4F03-A432-ECA0FDA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FD14E-1FFC-4D85-8F35-035FDFF1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6FEE8-9D73-4A33-A357-6882953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PI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56467-A2B9-4A21-A038-06099AB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748FE-6D7D-4328-B9A4-3716A323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74E19-9CF0-4FD6-9490-C5D5C514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MOTOR + WHEEL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7BCB7-8E6A-4FEA-A842-2892D72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94AE2-7933-4F65-A7AA-7660FC6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293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32318-E677-4DC1-BE00-26402DD3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95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ENCODER FEEDBACK</a:t>
            </a:r>
          </a:p>
        </p:txBody>
      </p:sp>
    </p:spTree>
    <p:extLst>
      <p:ext uri="{BB962C8B-B14F-4D97-AF65-F5344CB8AC3E}">
        <p14:creationId xmlns:p14="http://schemas.microsoft.com/office/powerpoint/2010/main" val="208517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01614-FEA6-43F5-B459-7A6DCB87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D0446-6388-476A-B35E-7F885CD0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B5585-1E95-46A2-9816-95C3907C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Mapping, Localization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74CC3-4EAE-4F77-A5F2-E00677A9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BAE8F-59A1-4C93-B942-74288940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สร้างแผนที่ก่อน ระบุตำแหน่งบนแผนที่ แล้วจึงส่งเป้าหมายให้ Nav2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63142-3291-48ED-BAD6-4755FE143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0ab5d0cca48ad"/>
          <a:stretch xmlns:a="http://schemas.openxmlformats.org/drawingml/2006/main"/>
        </p:blipFill>
        <p:spPr>
          <a:xfrm xmlns:a="http://schemas.openxmlformats.org/drawingml/2006/main">
            <a:off x="2288881" y="1524000"/>
            <a:ext cx="761423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9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38C586-E895-4C68-B2CB-D253113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988C3-700B-4D2A-92E3-8A84EEF3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82402-7EDD-4380-9762-16B2797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DD9F6-29E8-4350-A9E1-D119F041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F9541-9B4C-4D5E-BECD-7AB82EE7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Robot Agent เชื่อมระบบจัดการภารกิจกับระบบนำทางของหุ่นยนต์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0ED53-2F4C-481C-A83D-0C97DB0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10028-2A5F-42DE-B15C-730F7F65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7A52D-4ADB-4925-8AE1-DF2A7CB0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ผู้ใช้งาน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49E8A-86FF-4D08-94F2-552FC900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เลือกสถานี สร้างภารกิจ และยืนยันการรับส่ง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AB03B-F1A3-4F17-95F3-B4AE94A3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63359-D568-4CE8-8015-7DD0E40B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31FE3-E23D-45D1-AF66-2A9D3E98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แสดงคิว สถานะ ตำแหน่ง และประวัติ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60D2B-1686-409B-A1EA-505DD5B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Backend +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4CCC3-C5DD-42D4-B5A2-4107C35A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ตรวจสอบและบันทึกภารกิจ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5671E-D1BF-4CE9-9241-DFAB3B0C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857500" cy="38481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CDB6C-1501-49CB-BE45-2BE5920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E4E11-4D05-4C82-AFD3-3C74A057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7EAF3"/>
                </a:solidFill>
              </a:defRPr>
            </a:defPPr>
            <a:lvl1pPr>
              <a:defRPr sz="1050" b="0">
                <a:solidFill>
                  <a:srgbClr val="C7EAF3"/>
                </a:solidFill>
              </a:defRPr>
            </a:lvl1pPr>
            <a:lvl2pPr>
              <a:defRPr sz="1050" b="0">
                <a:solidFill>
                  <a:srgbClr val="C7EAF3"/>
                </a:solidFill>
              </a:defRPr>
            </a:lvl2pPr>
            <a:lvl3pPr>
              <a:defRPr sz="1050" b="0">
                <a:solidFill>
                  <a:srgbClr val="C7EAF3"/>
                </a:solidFill>
              </a:defRPr>
            </a:lvl3pPr>
            <a:lvl4pPr>
              <a:defRPr sz="1050" b="0">
                <a:solidFill>
                  <a:srgbClr val="C7EAF3"/>
                </a:solidFill>
              </a:defRPr>
            </a:lvl4pPr>
            <a:lvl5pPr>
              <a:defRPr sz="1050" b="0">
                <a:solidFill>
                  <a:srgbClr val="C7EAF3"/>
                </a:solidFill>
              </a:defRPr>
            </a:lvl5pPr>
            <a:lvl6pPr>
              <a:defRPr sz="1050" b="0">
                <a:solidFill>
                  <a:srgbClr val="C7EAF3"/>
                </a:solidFill>
              </a:defRPr>
            </a:lvl6pPr>
            <a:lvl7pPr>
              <a:defRPr sz="1050" b="0">
                <a:solidFill>
                  <a:srgbClr val="C7EAF3"/>
                </a:solidFill>
              </a:defRPr>
            </a:lvl7pPr>
            <a:lvl8pPr>
              <a:defRPr sz="1050" b="0">
                <a:solidFill>
                  <a:srgbClr val="C7EAF3"/>
                </a:solidFill>
              </a:defRPr>
            </a:lvl8pPr>
            <a:lvl9pPr>
              <a:defRPr sz="1050" b="0">
                <a:solidFill>
                  <a:srgbClr val="C7EAF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7EAF3"/>
                </a:solidFill>
              </a:defRPr>
            </a:pPr>
            <a:r>
              <a:rPr sz="1050" b="0">
                <a:solidFill>
                  <a:srgbClr val="C7EAF3"/>
                </a:solidFill>
              </a:rPr>
              <a:t>ตัวกลางระหว่างเว็บกับ ROS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6F844-BE7D-44C6-8D63-BF18213D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C5337-D824-424D-9D84-AC54FE0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622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รับภารกิจจาก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3B7F7-40A4-4A76-86FC-92E15251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DC310-795E-448B-BE9C-DBB0FDA1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เรียก Nav2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50B49-78B3-4D9D-AA87-15208211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82D5F-E901-4257-8550-C140835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909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ติดตามผลการนำทาง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6EE07-88BF-4FDE-81CA-4BEBA3A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52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1608A-8819-4F3A-878E-3D99E08D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053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ส่งสถานะกลับสู่เว็บ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A2E3B-FC2D-4F53-AB2D-ECD6C3D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7A1A12-FA21-4AC8-ABF9-676571AD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B5EBE-283A-4888-9A70-E368C92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ROS 2 + Nav2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18F36-A085-4EB1-8C05-8F696AB0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รับเป้าหมาย วางแผนเส้นทาง และส่ง cmd_vel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14FF0-E77C-4F7A-A0DA-7C5DEE0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423C1-5369-45CF-904A-86265D18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Base Driver + ESP32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B5941-6F4C-4C31-A0AD-4392BE13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ขับมอเตอร์และอ่าน Encoder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F80B95-163C-4BDF-A6FA-0279A45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Telemetry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FF32BC-F56E-45B7-AF81-A5E946D2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ส่ง Odometry ตำแหน่ง และสถานะกลับ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384D9C-A466-4E58-A914-DC6B7AF3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MISSION COMMAND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55A375-621C-419D-B0AB-5FD9448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23717C-F106-4FE0-A925-ABC6C278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NAV2 GOAL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978C1D-8E2A-4B5D-A2DD-9073D2B0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9F7F37-1FAC-4B44-A620-D606354C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STATUS + EVENT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E4BE85-0099-4271-B416-44939ADA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D1A89F-78E2-45AB-B418-FA56BE14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POSE +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F61397-4BF8-49B0-9F13-AF573132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FECBAE-9EB7-4BA3-8493-6F93A5E0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7215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ผู้ใช้สั่งงานและติดตามภารกิจจากเว็บ โดยไม่ต้องติดต่อ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0980248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82B4B-409A-42BD-87EB-C0DF13D5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MISSION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ACB11-5214-4A20-B552-3EE25575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21454-CE8D-4FA2-BE4B-88496973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Mission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55A31-147D-492A-8856-1B3715B5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005DC-B930-4036-8AE8-1C9549FC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A delivery is a sequence of states, not only a navigation goal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60779-DB35-47F5-916E-4423073949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95982a5b74293"/>
          <a:stretch xmlns:a="http://schemas.openxmlformats.org/drawingml/2006/main"/>
        </p:blipFill>
        <p:spPr>
          <a:xfrm xmlns:a="http://schemas.openxmlformats.org/drawingml/2006/main">
            <a:off x="1857375" y="1485900"/>
            <a:ext cx="3238500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E7BC2-E57A-44FC-B992-03AA5CB5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NORMAL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69264-BDDF-4F05-B6C5-83FB862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3FC7A-43FB-4B9E-9E5D-236F3156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193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QUEUED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0836D-76AB-46B6-A76D-0040009B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24F4B-52E7-4F5D-A74D-A35C9F0B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336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GOING TO PICKUP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89D42-4B5B-4D79-935A-8FA63EF4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096AF-2B54-43A2-A4C5-C02311C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LOADING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7BF02-A780-4C2B-9C19-0CE34C84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A0512-D2AE-4533-8AB1-0F9A2BF0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DELIVERING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FDC02-450D-4D4A-B6CC-DFABB08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799A4-BBD5-40F8-9CDE-1C32A9C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RECEIVER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22BDA-B7FE-4FB2-9A54-985247C5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D2693-F09F-4605-A61F-FC9E062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910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78C14-E329-46BF-8F12-F8C54FB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5362"/>
                </a:solidFill>
              </a:defRPr>
            </a:defPPr>
            <a:lvl1pPr>
              <a:defRPr sz="1125" b="1">
                <a:solidFill>
                  <a:srgbClr val="D95362"/>
                </a:solidFill>
              </a:defRPr>
            </a:lvl1pPr>
            <a:lvl2pPr>
              <a:defRPr sz="1125" b="1">
                <a:solidFill>
                  <a:srgbClr val="D95362"/>
                </a:solidFill>
              </a:defRPr>
            </a:lvl2pPr>
            <a:lvl3pPr>
              <a:defRPr sz="1125" b="1">
                <a:solidFill>
                  <a:srgbClr val="D95362"/>
                </a:solidFill>
              </a:defRPr>
            </a:lvl3pPr>
            <a:lvl4pPr>
              <a:defRPr sz="1125" b="1">
                <a:solidFill>
                  <a:srgbClr val="D95362"/>
                </a:solidFill>
              </a:defRPr>
            </a:lvl4pPr>
            <a:lvl5pPr>
              <a:defRPr sz="1125" b="1">
                <a:solidFill>
                  <a:srgbClr val="D95362"/>
                </a:solidFill>
              </a:defRPr>
            </a:lvl5pPr>
            <a:lvl6pPr>
              <a:defRPr sz="1125" b="1">
                <a:solidFill>
                  <a:srgbClr val="D95362"/>
                </a:solidFill>
              </a:defRPr>
            </a:lvl6pPr>
            <a:lvl7pPr>
              <a:defRPr sz="1125" b="1">
                <a:solidFill>
                  <a:srgbClr val="D95362"/>
                </a:solidFill>
              </a:defRPr>
            </a:lvl7pPr>
            <a:lvl8pPr>
              <a:defRPr sz="1125" b="1">
                <a:solidFill>
                  <a:srgbClr val="D95362"/>
                </a:solidFill>
              </a:defRPr>
            </a:lvl8pPr>
            <a:lvl9pPr>
              <a:defRPr sz="112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5362"/>
                </a:solidFill>
              </a:defRPr>
            </a:pPr>
            <a:r>
              <a:rPr sz="1125" b="1">
                <a:solidFill>
                  <a:srgbClr val="D95362"/>
                </a:solidFill>
              </a:rPr>
              <a:t>EXCEPTION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B1B8D-53A7-4516-B76D-235D0B79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15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FAILED records navigation problems.  CANCELLED records an operator decision.</a:t>
            </a:r>
          </a:p>
        </p:txBody>
      </p:sp>
    </p:spTree>
    <p:extLst>
      <p:ext uri="{BB962C8B-B14F-4D97-AF65-F5344CB8AC3E}">
        <p14:creationId xmlns:p14="http://schemas.microsoft.com/office/powerpoint/2010/main" val="17556631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E65E0-B8C6-4895-B999-A609241A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698FA-2083-4545-95BB-51147EF6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103BE-B02F-431F-AB81-2A5CF56E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การทดสอบแบ่งเป็น 3 ส่วน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AD6F2-A73D-49A6-94F9-3FF0BEC2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7411A-4D5F-4FCA-8FF9-2B835F97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แต่ละส่วนตรวจคนละระดับ ก่อนนำผลมาพิจารณาร่วมกัน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4330C-59B6-4969-89C8-AADE3065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3A7CA-2728-4DAA-828C-045212CC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F2873-02D2-4C3F-B9EB-3DA130B6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APPLICATION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8E393-C81B-486F-84F1-15A09B4A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41DA4-0BB4-4CA0-B145-875A445F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ตรวจสิทธิ์ผู้ใช้ หน้าจอภารกิจ คิว สถานะ และ Event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C6D24-7500-48E8-A058-4C76DBF6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13 และ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02461-6826-40FE-8EB6-3356CB9D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506E5-A8A5-45D0-B718-83B7DF0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4BEE1-16A2-4521-A3F3-507EE203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2DECF-052D-4BAA-88FE-C2C4890E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27FCF-E4C5-4C6F-9316-720303D9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ตรวจการสร้างแผนที่ การเลือกแผนที่ และ Localization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1D668-320A-45AB-B5AA-515075CA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81D36-ACAE-4B93-A0B4-B58B59B5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7437F-23E0-47A6-B100-51E99E7C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856CC-F4B3-4453-9338-C22472F2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INTEGRATION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F42BD-634D-4F82-BB42-07BC10EE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57DCD-205D-49F2-8267-4557A986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ตรวจการส่งภารกิจผ่าน Robot Agent และการส่งสถานะกลับ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41FC2-5944-49D9-B049-2BDC1A00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348FC-7926-480C-B8D1-3F65E9BA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ผลทดสอบต่อไปนี้ยืนยันเฉพาะกรณีที่บันทึกไว้ ไม่ใช้แทนอัตราความสำเร็จรวมของระบบ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1837812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B52F7-59E0-43AF-93B3-D1F54D1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7A983-763E-439E-B29D-D7B1EF90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BC082-0C0D-47A4-865B-811154B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สิทธิ์และหน้าจอผู้ใช้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C66B3-5BC8-48A3-AFA8-B1D8CACE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EED07-A853-472E-A4AA-FDC34BB2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ตรวจว่าผู้ดูแลระบบและผู้ใช้งานทั่วไปเห็นข้อมูลตามบทบาทที่กำหนด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757C8-D108-4DD0-B9AF-1CDB517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2C98E-DB9F-481D-83E9-51E067DF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เข้าสู่ระบบด้วยบัญชีต่างบทบาท แล้วตรวจเมนู แดชบอร์ด แผนที่ และข้อมูลภารกิจที่แต่ละบทบาทเข้าถึงได้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0A684-A75B-45D2-95CC-0DF21DB82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42645fc55460f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71EFA-B199-492A-A9BD-1BC80F7E63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bfcfb9f9d4d7f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7B7B1-306D-426B-9036-041756F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ADMIN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E8E30-0536-4FE9-9526-9F75A28A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ผู้ดูแลตรวจสถานะระบบและจัดการข้อมูลส่วนกลาง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EC93D-386E-4197-B287-28127973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USER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C921C-A11A-4F0E-871E-0EFFD29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ผู้ใช้ติดตามภารกิจและข้อมูลของตนเอง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1443978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5DE93-CC76-4DA6-8D09-948E3761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D5E57-24E2-44EF-90A8-2BBC8198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CBF9C-8FBF-4030-8EF2-E25FBFE0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คิว สถานะ และประวัติ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314C7-0290-427B-B6FF-24776976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95AB1-EB1F-46C9-BDEB-ADFA694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ตรวจการบันทึกสถานะของภารกิจตั้งแต่สร้างงานจนสิ้นสุด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1F228-C3AA-49FB-BA51-CA6C457D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DA4E9-FBE7-41C9-8BF1-804AC02D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 ตรวจลำดับคิว และเปิด Event History เพื่อดูเวลา ผู้ก่อเหตุ และการเปลี่ยนสถานะของแต่ละขั้น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46DBE-B058-40BE-BF66-5D20BBC18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f94507807464e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A60EA-74A0-4258-86CD-7013D47B10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ae2e909464f2f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B3FC3-ED8E-49B0-A180-DED5547A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TASK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A03A9-EB8C-4AFD-9237-1D13868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หน้ารวมแสดงคิว เส้นทาง เจ้าของงาน และสถานะล่าสุด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526D7-C88A-4884-A22B-9B886E9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4F4E6-410F-4F95-9397-E4F4C9D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ประวัติบันทึกเวลา แหล่งที่มา และการเปลี่ยนสถานะ</a:t>
            </a:r>
          </a:p>
        </p:txBody>
      </p:sp>
    </p:spTree>
    <p:extLst>
      <p:ext uri="{BB962C8B-B14F-4D97-AF65-F5344CB8AC3E}">
        <p14:creationId xmlns:p14="http://schemas.microsoft.com/office/powerpoint/2010/main" val="14638869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60B63-711E-415C-A1B1-165492D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9C940-8160-4CC0-84B9-936D3CC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81EF7-9C77-4DC6-9203-FC6F7E23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Robot Test: SLAM and 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EE99E-9F18-45F0-9314-FB5A7D6F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4957D-E062-42B1-978D-A03E154F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ตรวจการสร้าง Map-Test-01 และการกำหนด Initial Pose บนหุ่นยนต์จริง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81056-5AC4-4CB7-8BF7-33B071E7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C5D03-52A3-4483-82E8-E29B0D3A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ควบคุมฐานระหว่างสร้างแผนที่ บันทึกแผนที่ แล้วเลือกแผนที่เพื่อกำหนดตำแหน่งเริ่มต้นด้วย AMCL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AE91C-15CF-4B44-8BBB-CBA2D2DBD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139a2ddc54819"/>
          <a:srcRect xmlns:a="http://schemas.openxmlformats.org/drawingml/2006/main" l="8209" t="0" r="8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000250"/>
            <a:ext cx="5334000" cy="3371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4CF65-561C-4102-8656-270F6A4FD6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7ca6e92b649c6"/>
          <a:srcRect xmlns:a="http://schemas.openxmlformats.org/drawingml/2006/main" l="5508" t="0" r="55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00250"/>
            <a:ext cx="5334000" cy="3371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26191-653A-4B58-8E06-843DAE88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WEB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E2BA9-2AC4-4ECA-A334-3E02AC14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หน้าเว็บรับ occupancy map จาก ROS 2 ระหว่างควบคุมฐาน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4C84B-7A3F-4277-9B98-8535209B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LOCALIZATION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31267-7724-46AC-B60C-075191D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ระบบยอมรับ Initial Pose และรายงานสถานะ Localized</a:t>
            </a:r>
          </a:p>
        </p:txBody>
      </p:sp>
    </p:spTree>
    <p:extLst>
      <p:ext uri="{BB962C8B-B14F-4D97-AF65-F5344CB8AC3E}">
        <p14:creationId xmlns:p14="http://schemas.microsoft.com/office/powerpoint/2010/main" val="5593436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22CD06-E791-437E-A3D6-F2D7CBD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INTEGRATION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A6F2A-0315-49F0-A000-28D6D10B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8A0B1-7F8A-4720-A434-E85289F0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Integration Test: TASK-288 จากสถานี C ไปสถานี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0A498-498B-4715-9E34-EBFDF1FF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69511-33B7-40C5-B016-AE48B44D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ตรวจการส่งภารกิจจากเว็บไปยัง Robot Agent และการส่งสถานะกลับ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80594-88A7-454A-8FD0-8AF56A92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0593D-595F-4EF1-A477-DF4F0854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สร้างภารกิจผ่านเว็บ ให้หุ่นยนต์เดินทางไปจุดรับและปลายทาง แล้วตรวจลำดับเหตุการณ์ที่ระบบบันทึก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8BBDC-202D-49BE-90F2-997FD07B90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6557374604c79"/>
          <a:srcRect xmlns:a="http://schemas.openxmlformats.org/drawingml/2006/main" l="3070" t="0" r="3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943100"/>
            <a:ext cx="6076950" cy="3543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E7CC3-186B-4980-A9BC-F71E38F4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EVENT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1297C-AF4E-45B8-B666-4F96E09C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94C7A-E26C-4AC9-B943-67C62CB4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E07D8-05C8-4256-BC03-DFBB69DE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23:13:10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A4D73-EB06-496F-BBDE-C4C984C6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and assigned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C4F3A-1FA2-4565-9F2A-92E3C20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A8690-8BD6-40FB-B8A3-21F7B677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0D620-F1F9-4666-94AC-0FB230D7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AC5CA-3926-4616-916E-5FA37975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BBB41-D32E-4158-96B8-8CBF270D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A2F72-3D8E-4848-93CE-34006EF7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AE3CE-5F39-41E7-A4D5-DD8A18D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B7D26-247A-47D3-AC6F-305DBD5D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2EDA8-98A0-4869-ABEC-8D75C4B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C2E14-B106-4E6E-8E1B-F6698F6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E01EE-F5BC-479E-8B41-09CB9170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23:15:58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86629-F430-4566-905E-DFDCEA3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BF108-526F-4EA3-A546-4403453D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047436-88A4-4430-80CA-75B48140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23:16:04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C58B7-8743-49B5-BE78-1715F223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and completed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84250-0ABF-4DCC-B110-0CBBF5A6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76850"/>
            <a:ext cx="44958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07D173-9995-4801-9A66-685C6EFA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TOTAL ELAPSED  2 min 53 sec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BE002-50B6-4FE8-83BF-743AB1E8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ผลนี้ยืนยันเฉพาะกรณี TASK-288 ไม่ใช่อัตราความสำเร็จรวม</a:t>
            </a:r>
          </a:p>
        </p:txBody>
      </p:sp>
    </p:spTree>
    <p:extLst>
      <p:ext uri="{BB962C8B-B14F-4D97-AF65-F5344CB8AC3E}">
        <p14:creationId xmlns:p14="http://schemas.microsoft.com/office/powerpoint/2010/main" val="2182119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C14F4-09B0-4912-BCD4-4F635E03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2CD0A-C800-4B9B-B104-646E1190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321F7-841F-4C07-81AF-040C65F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12.1 สรุปผลการดำเนินโครงงาน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8DE95-EBD4-4AE2-A59B-6A1CD31E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7DDED-CBF3-47DE-B228-DA15F649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ต้นแบบเชื่อมการเคลื่อนที่อัตโนมัติกับการจัดการภารกิจผ่านเว็บได้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C7EFB-8BDC-47BD-A345-5157001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92D24-4162-4610-90D7-DBAFE3EF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สิ่งที่พัฒนา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F7B28-AE6A-4312-A9F5-BC7D0881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591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ฐานหุ่นยนต์ใช้ ODROID-C4 และ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จัดการระบบหุ่นยนต์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SLAM Toolbox สร้างแผนที่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AMCL ระบุตำแหน่ง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Nav2 นำทางไปยังสถานี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Next.js, FastAPI และ PostgreSQL จัดการภารกิจ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Robot Agent เชื่อมเว็บไซต์กับหุ่นยนต์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2A024-4B47-4EDF-A45F-B6EE2C6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7818E-CBE9-4379-A358-345EBB87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ผลการทดสอบเบื้องต้น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0D8DA-4105-4550-88EC-AED9F6C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5910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ระบบสร้างภารกิจและส่งเป้าหมายให้หุ่นยนต์ได้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ผู้ใช้ติดตามสถานะและดูประวัติเหตุการณ์ได้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การสร้างแผนที่และ Localization ทำงานในพื้นที่ทดลอง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ต้นแบบยังไม่มีโครงสร้างบรรทุกสิ่งของจริง</a:t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การวางและรับสิ่งของยังยืนยันผ่านเว็บไซต์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18463-33A1-4289-9119-8FB1762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667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26DB9-13D2-4E84-B718-A1B2460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6252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5362"/>
                </a:solidFill>
              </a:defRPr>
            </a:defPPr>
            <a:lvl1pPr>
              <a:defRPr sz="975" b="1">
                <a:solidFill>
                  <a:srgbClr val="D95362"/>
                </a:solidFill>
              </a:defRPr>
            </a:lvl1pPr>
            <a:lvl2pPr>
              <a:defRPr sz="975" b="1">
                <a:solidFill>
                  <a:srgbClr val="D95362"/>
                </a:solidFill>
              </a:defRPr>
            </a:lvl2pPr>
            <a:lvl3pPr>
              <a:defRPr sz="975" b="1">
                <a:solidFill>
                  <a:srgbClr val="D95362"/>
                </a:solidFill>
              </a:defRPr>
            </a:lvl3pPr>
            <a:lvl4pPr>
              <a:defRPr sz="975" b="1">
                <a:solidFill>
                  <a:srgbClr val="D95362"/>
                </a:solidFill>
              </a:defRPr>
            </a:lvl4pPr>
            <a:lvl5pPr>
              <a:defRPr sz="975" b="1">
                <a:solidFill>
                  <a:srgbClr val="D95362"/>
                </a:solidFill>
              </a:defRPr>
            </a:lvl5pPr>
            <a:lvl6pPr>
              <a:defRPr sz="975" b="1">
                <a:solidFill>
                  <a:srgbClr val="D95362"/>
                </a:solidFill>
              </a:defRPr>
            </a:lvl6pPr>
            <a:lvl7pPr>
              <a:defRPr sz="975" b="1">
                <a:solidFill>
                  <a:srgbClr val="D95362"/>
                </a:solidFill>
              </a:defRPr>
            </a:lvl7pPr>
            <a:lvl8pPr>
              <a:defRPr sz="975" b="1">
                <a:solidFill>
                  <a:srgbClr val="D95362"/>
                </a:solidFill>
              </a:defRPr>
            </a:lvl8pPr>
            <a:lvl9pPr>
              <a:defRPr sz="97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5362"/>
                </a:solidFill>
              </a:defRPr>
            </a:pPr>
            <a:r>
              <a:rPr sz="975" b="1">
                <a:solidFill>
                  <a:srgbClr val="D95362"/>
                </a:solidFill>
              </a:rPr>
              <a:t>จึงยังไม่สรุปความเสถียรหรือความพร้อมใช้งานระยะยาว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7241158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03B4A-54FE-4353-BA8F-C478D3E1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CDF87-7674-4BA1-B373-8A41F76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B55DC-B8D1-42CB-8C2A-D60E1284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12.2 แนวทางการดำเนินโครงงานในสถานประกอบการ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F1EC9-DEA6-46FE-9C07-21A721AC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59B3D-C4E8-47CA-BCFA-A496EA32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นำประสบการณ์จากต้นแบบไปต่อยอดกับงานซอฟต์แวร์และระบบสมองกลฝังตัว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6B5C-F7FF-4EAD-9768-5673255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38100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138AC-71DC-48EB-A3E2-D3F344AF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8BE"/>
                </a:solidFill>
              </a:defRPr>
            </a:defPPr>
            <a:lvl1pPr>
              <a:defRPr sz="1350" b="1">
                <a:solidFill>
                  <a:srgbClr val="1678BE"/>
                </a:solidFill>
              </a:defRPr>
            </a:lvl1pPr>
            <a:lvl2pPr>
              <a:defRPr sz="1350" b="1">
                <a:solidFill>
                  <a:srgbClr val="1678BE"/>
                </a:solidFill>
              </a:defRPr>
            </a:lvl2pPr>
            <a:lvl3pPr>
              <a:defRPr sz="1350" b="1">
                <a:solidFill>
                  <a:srgbClr val="1678BE"/>
                </a:solidFill>
              </a:defRPr>
            </a:lvl3pPr>
            <a:lvl4pPr>
              <a:defRPr sz="1350" b="1">
                <a:solidFill>
                  <a:srgbClr val="1678BE"/>
                </a:solidFill>
              </a:defRPr>
            </a:lvl4pPr>
            <a:lvl5pPr>
              <a:defRPr sz="1350" b="1">
                <a:solidFill>
                  <a:srgbClr val="1678BE"/>
                </a:solidFill>
              </a:defRPr>
            </a:lvl5pPr>
            <a:lvl6pPr>
              <a:defRPr sz="1350" b="1">
                <a:solidFill>
                  <a:srgbClr val="1678BE"/>
                </a:solidFill>
              </a:defRPr>
            </a:lvl6pPr>
            <a:lvl7pPr>
              <a:defRPr sz="1350" b="1">
                <a:solidFill>
                  <a:srgbClr val="1678BE"/>
                </a:solidFill>
              </a:defRPr>
            </a:lvl7pPr>
            <a:lvl8pPr>
              <a:defRPr sz="1350" b="1">
                <a:solidFill>
                  <a:srgbClr val="1678BE"/>
                </a:solidFill>
              </a:defRPr>
            </a:lvl8pPr>
            <a:lvl9pPr>
              <a:defRPr sz="13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78BE"/>
                </a:solidFill>
              </a:defRPr>
            </a:pPr>
            <a:r>
              <a:rPr sz="1350" b="1">
                <a:solidFill>
                  <a:srgbClr val="1678BE"/>
                </a:solidFill>
              </a:rPr>
              <a:t>สถานประกอบการ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84B99-D95B-43E1-9E90-2692168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APITechSmart Lab</a:t>
            </a:r>
          </a:p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บริษัท เอ.พี.ไอ.เทค จำกัด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6D465-DE07-4FA1-8BE6-30C57AA0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ตำแหน่ง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AE41B-9F69-4AFD-A17D-8AC3E170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Programmer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2A2A6-7F12-470E-9101-51D88A1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ลักษณะธุรกิจ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08C88-6C73-42B6-BBF3-6F989EA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เทคโนโลยีอิเล็กทรอนิกส์ยานยนต์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ระบบควบคุมและการวิเคราะห์ข้อมูลยานยนต์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55365-1130-47E6-8281-D764342A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แนวทางที่คาดว่าจะเกี่ยวข้อง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2B622-636C-4569-89BB-2EEEC46A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899A0-26B0-4906-9082-9ADBEFC0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Automotive and IoT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DBF04-4154-4230-B827-9DEBF9CD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พัฒนาโปรแกรมที่สื่อสารกับอุปกรณ์อิเล็กทรอนิกส์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1FF0D-BCCC-4EA2-B1B9-CF87CCBC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349D-9E58-45B3-8C09-036518E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Sensor data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0E9FE-6914-4BE0-9581-43ECFBE9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957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 ประมวลผล และแสดงข้อมูลจากเซนเซอร์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8DF52-7D5C-4B79-A927-74ACD66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F2A95-919E-4523-B8C7-40A59B4A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Monitoring and control 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8B251-4D3A-47BE-BE45-5F6EED05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สร้างแอปพลิเคชันเพื่อสนับสนุนการตรวจสอบหรือควบคุมอุปกรณ์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C9436-9BB7-4E81-AA50-0A1D2FB1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57225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29782-673E-42EA-8EE8-07EC925C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สถานะปัจจุบัน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38C80-CD73-49D6-A41E-55A38FD9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ยังไม่ได้รับหัวข้อโครงงานอย่างเป็นทางการ และจะกำหนดร่วมกับพนักงานที่ปรึกษา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50D5F-D0C4-4621-B542-0ECE3B07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1027041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2026-10-20T21:30:41.6760000Z</dcterms:created>
  <dcterms:modified xsi:type="dcterms:W3CDTF">2026-10-20T21:30:41.6760000Z</dcterms:modified>
</coreProperties>
</file>