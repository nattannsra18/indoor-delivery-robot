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f0d6fcd88c43a9" /><Relationship Type="http://schemas.openxmlformats.org/officeDocument/2006/relationships/extended-properties" Target="/docProps/app.xml" Id="R9582d8b03e924381" /><Relationship Type="http://schemas.openxmlformats.org/officeDocument/2006/relationships/officeDocument" Target="/ppt/presentation.xml" Id="R9e76bfecd551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942d742964aa1"/>
  </p:sldMasterIdLst>
  <p:notesMasterIdLst>
    <p:notesMasterId xmlns:r="http://schemas.openxmlformats.org/officeDocument/2006/relationships" r:id="R7339847cf4b1428a"/>
  </p:notesMasterIdLst>
  <p:sldIdLst>
    <p:sldId xmlns:r="http://schemas.openxmlformats.org/officeDocument/2006/relationships" id="256" r:id="R5796a7abe08a4899"/>
    <p:sldId xmlns:r="http://schemas.openxmlformats.org/officeDocument/2006/relationships" id="257" r:id="Radb511523fa74d4c"/>
    <p:sldId xmlns:r="http://schemas.openxmlformats.org/officeDocument/2006/relationships" id="258" r:id="R52c6c9b864274ddb"/>
    <p:sldId xmlns:r="http://schemas.openxmlformats.org/officeDocument/2006/relationships" id="259" r:id="Rfa9fcd7a07ad4b8e"/>
    <p:sldId xmlns:r="http://schemas.openxmlformats.org/officeDocument/2006/relationships" id="260" r:id="Rdaa1dddc9e0b4645"/>
    <p:sldId xmlns:r="http://schemas.openxmlformats.org/officeDocument/2006/relationships" id="261" r:id="R5664a44fdb894a3c"/>
    <p:sldId xmlns:r="http://schemas.openxmlformats.org/officeDocument/2006/relationships" id="262" r:id="R43cd9033b4e342d3"/>
    <p:sldId xmlns:r="http://schemas.openxmlformats.org/officeDocument/2006/relationships" id="263" r:id="Rb1955ce2b0d84d24"/>
    <p:sldId xmlns:r="http://schemas.openxmlformats.org/officeDocument/2006/relationships" id="264" r:id="R89eb1ee13e444173"/>
    <p:sldId xmlns:r="http://schemas.openxmlformats.org/officeDocument/2006/relationships" id="265" r:id="R53d79daa600e4da7"/>
    <p:sldId xmlns:r="http://schemas.openxmlformats.org/officeDocument/2006/relationships" id="266" r:id="Rd5b6d47934b1428b"/>
    <p:sldId xmlns:r="http://schemas.openxmlformats.org/officeDocument/2006/relationships" id="267" r:id="R2de781e183f04006"/>
    <p:sldId xmlns:r="http://schemas.openxmlformats.org/officeDocument/2006/relationships" id="268" r:id="R345f963d75714fa6"/>
    <p:sldId xmlns:r="http://schemas.openxmlformats.org/officeDocument/2006/relationships" id="269" r:id="Re945645861504aad"/>
    <p:sldId xmlns:r="http://schemas.openxmlformats.org/officeDocument/2006/relationships" id="270" r:id="R7ce3fbfd4bdc4027"/>
    <p:sldId xmlns:r="http://schemas.openxmlformats.org/officeDocument/2006/relationships" id="271" r:id="R9e6d5b5ca8504445"/>
    <p:sldId xmlns:r="http://schemas.openxmlformats.org/officeDocument/2006/relationships" id="272" r:id="R4bfdef266e3f4dde"/>
    <p:sldId xmlns:r="http://schemas.openxmlformats.org/officeDocument/2006/relationships" id="273" r:id="Rd314aea1b9d143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207d69c1dd4df2" /><Relationship Type="http://schemas.openxmlformats.org/officeDocument/2006/relationships/slideMaster" Target="/ppt/slideMasters/slideMaster1.xml" Id="R4a5942d742964aa1" /><Relationship Type="http://schemas.openxmlformats.org/officeDocument/2006/relationships/notesMaster" Target="/ppt/notesMasters/notesMaster1.xml" Id="R7339847cf4b1428a" /><Relationship Type="http://schemas.openxmlformats.org/officeDocument/2006/relationships/presProps" Target="/ppt/presProps.xml" Id="Rec940168f1204e7d" /><Relationship Type="http://schemas.openxmlformats.org/officeDocument/2006/relationships/tableStyles" Target="/ppt/tableStyles.xml" Id="R5efc4b244c2a4e78" /><Relationship Type="http://schemas.openxmlformats.org/officeDocument/2006/relationships/slide" Target="/ppt/slides/slide1.xml" Id="R5796a7abe08a4899" /><Relationship Type="http://schemas.openxmlformats.org/officeDocument/2006/relationships/slide" Target="/ppt/slides/slide2.xml" Id="Radb511523fa74d4c" /><Relationship Type="http://schemas.openxmlformats.org/officeDocument/2006/relationships/slide" Target="/ppt/slides/slide3.xml" Id="R52c6c9b864274ddb" /><Relationship Type="http://schemas.openxmlformats.org/officeDocument/2006/relationships/slide" Target="/ppt/slides/slide4.xml" Id="Rfa9fcd7a07ad4b8e" /><Relationship Type="http://schemas.openxmlformats.org/officeDocument/2006/relationships/slide" Target="/ppt/slides/slide5.xml" Id="Rdaa1dddc9e0b4645" /><Relationship Type="http://schemas.openxmlformats.org/officeDocument/2006/relationships/slide" Target="/ppt/slides/slide6.xml" Id="R5664a44fdb894a3c" /><Relationship Type="http://schemas.openxmlformats.org/officeDocument/2006/relationships/slide" Target="/ppt/slides/slide7.xml" Id="R43cd9033b4e342d3" /><Relationship Type="http://schemas.openxmlformats.org/officeDocument/2006/relationships/slide" Target="/ppt/slides/slide8.xml" Id="Rb1955ce2b0d84d24" /><Relationship Type="http://schemas.openxmlformats.org/officeDocument/2006/relationships/slide" Target="/ppt/slides/slide9.xml" Id="R89eb1ee13e444173" /><Relationship Type="http://schemas.openxmlformats.org/officeDocument/2006/relationships/slide" Target="/ppt/slides/slide10.xml" Id="R53d79daa600e4da7" /><Relationship Type="http://schemas.openxmlformats.org/officeDocument/2006/relationships/slide" Target="/ppt/slides/slide11.xml" Id="Rd5b6d47934b1428b" /><Relationship Type="http://schemas.openxmlformats.org/officeDocument/2006/relationships/slide" Target="/ppt/slides/slide12.xml" Id="R2de781e183f04006" /><Relationship Type="http://schemas.openxmlformats.org/officeDocument/2006/relationships/slide" Target="/ppt/slides/slide13.xml" Id="R345f963d75714fa6" /><Relationship Type="http://schemas.openxmlformats.org/officeDocument/2006/relationships/slide" Target="/ppt/slides/slide14.xml" Id="Re945645861504aad" /><Relationship Type="http://schemas.openxmlformats.org/officeDocument/2006/relationships/slide" Target="/ppt/slides/slide15.xml" Id="R7ce3fbfd4bdc4027" /><Relationship Type="http://schemas.openxmlformats.org/officeDocument/2006/relationships/slide" Target="/ppt/slides/slide16.xml" Id="R9e6d5b5ca8504445" /><Relationship Type="http://schemas.openxmlformats.org/officeDocument/2006/relationships/slide" Target="/ppt/slides/slide17.xml" Id="R4bfdef266e3f4dde" /><Relationship Type="http://schemas.openxmlformats.org/officeDocument/2006/relationships/slide" Target="/ppt/slides/slide18.xml" Id="Rd314aea1b9d1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75d8333e5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bc5f6b53941ba" /><Relationship Type="http://schemas.openxmlformats.org/officeDocument/2006/relationships/notesMaster" Target="/ppt/notesMasters/notesMaster1.xml" Id="Rdca625e2a4ad43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5997997a194d9e" /><Relationship Type="http://schemas.openxmlformats.org/officeDocument/2006/relationships/notesMaster" Target="/ppt/notesMasters/notesMaster1.xml" Id="R7864e14b929e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3db8f5749f47a6" /><Relationship Type="http://schemas.openxmlformats.org/officeDocument/2006/relationships/notesMaster" Target="/ppt/notesMasters/notesMaster1.xml" Id="R460ae09d8cd045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3928b560f04934" /><Relationship Type="http://schemas.openxmlformats.org/officeDocument/2006/relationships/notesMaster" Target="/ppt/notesMasters/notesMaster1.xml" Id="R5a6e5570f7d4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0f9ff64e004f24" /><Relationship Type="http://schemas.openxmlformats.org/officeDocument/2006/relationships/notesMaster" Target="/ppt/notesMasters/notesMaster1.xml" Id="R029b84a303b246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1519a018f4f0e" /><Relationship Type="http://schemas.openxmlformats.org/officeDocument/2006/relationships/notesMaster" Target="/ppt/notesMasters/notesMaster1.xml" Id="R1939d7e670e743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ee73a26ab4831" /><Relationship Type="http://schemas.openxmlformats.org/officeDocument/2006/relationships/notesMaster" Target="/ppt/notesMasters/notesMaster1.xml" Id="R076c73ceca2641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a5adda493492e" /><Relationship Type="http://schemas.openxmlformats.org/officeDocument/2006/relationships/notesMaster" Target="/ppt/notesMasters/notesMaster1.xml" Id="R8d0d841eb64743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c859a1c10c4b86" /><Relationship Type="http://schemas.openxmlformats.org/officeDocument/2006/relationships/notesMaster" Target="/ppt/notesMasters/notesMaster1.xml" Id="Ref3a8ed145434b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fa6e0f46934dab" /><Relationship Type="http://schemas.openxmlformats.org/officeDocument/2006/relationships/notesMaster" Target="/ppt/notesMasters/notesMaster1.xml" Id="R749aef5f396f45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4bf1c8632f4f57" /><Relationship Type="http://schemas.openxmlformats.org/officeDocument/2006/relationships/notesMaster" Target="/ppt/notesMasters/notesMaster1.xml" Id="R8b9fdc4300824f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b98880f1fa40fb" /><Relationship Type="http://schemas.openxmlformats.org/officeDocument/2006/relationships/notesMaster" Target="/ppt/notesMasters/notesMaster1.xml" Id="R5c75431872274c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a8f5c763ad490e" /><Relationship Type="http://schemas.openxmlformats.org/officeDocument/2006/relationships/notesMaster" Target="/ppt/notesMasters/notesMaster1.xml" Id="R661a43a1251447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74d8a0e9b045b9" /><Relationship Type="http://schemas.openxmlformats.org/officeDocument/2006/relationships/notesMaster" Target="/ppt/notesMasters/notesMaster1.xml" Id="R4deb39aedbf04a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763e5893724158" /><Relationship Type="http://schemas.openxmlformats.org/officeDocument/2006/relationships/notesMaster" Target="/ppt/notesMasters/notesMaster1.xml" Id="R5dd74773040a47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cb0ed384954893" /><Relationship Type="http://schemas.openxmlformats.org/officeDocument/2006/relationships/notesMaster" Target="/ppt/notesMasters/notesMaster1.xml" Id="Rcd6f211fbbee4c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8a3a7fbda234a29" /><Relationship Type="http://schemas.openxmlformats.org/officeDocument/2006/relationships/notesMaster" Target="/ppt/notesMasters/notesMaster1.xml" Id="R02f64a1e487045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4a9b64b90c43d3" /><Relationship Type="http://schemas.openxmlformats.org/officeDocument/2006/relationships/notesMaster" Target="/ppt/notesMasters/notesMaster1.xml" Id="Rcc00e8e1dba64e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fefa0a5214a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dd425946c45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8733c572c4a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9dc19741b4e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949f5170b43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fabe1cae147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0C9367-1B97-41D7-8A34-E92F3D61F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114449-F905-4CAB-A208-800A90B6FB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A43ACC-6AEB-4742-892B-E95EDA5B45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93B0BE-2282-4CC8-9932-FF4AB546A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DD3AA1-48D3-4B86-A228-BFC17F600E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02D205-DA53-4CD4-A28B-ED5B402A2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F297D5-DCEF-4591-A4F7-0EBB8EE62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0DEE9F-F2BF-4D14-BE8F-28D5D634CE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A998A5-0DA5-417A-B17B-8030003A9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EC960E-D458-4923-83DB-1937E119EA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0ec2d082b46a8" /><Relationship Type="http://schemas.openxmlformats.org/officeDocument/2006/relationships/slideLayout" Target="/ppt/slideLayouts/slideLayout1.xml" Id="Rcb19a4afbb7a49d5" /><Relationship Type="http://schemas.openxmlformats.org/officeDocument/2006/relationships/slideLayout" Target="/ppt/slideLayouts/slideLayout2.xml" Id="Rf17fd1e5ee924bb5" /><Relationship Type="http://schemas.openxmlformats.org/officeDocument/2006/relationships/slideLayout" Target="/ppt/slideLayouts/slideLayout3.xml" Id="R7beffc7029bb4faa" /><Relationship Type="http://schemas.openxmlformats.org/officeDocument/2006/relationships/slideLayout" Target="/ppt/slideLayouts/slideLayout4.xml" Id="Rf000d42bc25b4adb" /><Relationship Type="http://schemas.openxmlformats.org/officeDocument/2006/relationships/slideLayout" Target="/ppt/slideLayouts/slideLayout5.xml" Id="R3a2917a0bd574b23" /><Relationship Type="http://schemas.openxmlformats.org/officeDocument/2006/relationships/slideLayout" Target="/ppt/slideLayouts/slideLayout6.xml" Id="Rc1c128ce554c4a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19a4afbb7a49d5"/>
    <p:sldLayoutId xmlns:r="http://schemas.openxmlformats.org/officeDocument/2006/relationships" id="2147483650" r:id="Rf17fd1e5ee924bb5"/>
    <p:sldLayoutId xmlns:r="http://schemas.openxmlformats.org/officeDocument/2006/relationships" id="2147483651" r:id="R7beffc7029bb4faa"/>
    <p:sldLayoutId xmlns:r="http://schemas.openxmlformats.org/officeDocument/2006/relationships" id="2147483652" r:id="Rf000d42bc25b4adb"/>
    <p:sldLayoutId xmlns:r="http://schemas.openxmlformats.org/officeDocument/2006/relationships" id="2147483653" r:id="R3a2917a0bd574b23"/>
    <p:sldLayoutId xmlns:r="http://schemas.openxmlformats.org/officeDocument/2006/relationships" id="2147483654" r:id="Rc1c128ce554c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e00395236462e" /><Relationship Type="http://schemas.openxmlformats.org/officeDocument/2006/relationships/notesSlide" Target="/ppt/notesSlides/notesSlide1.xml" Id="Rb380420beb6444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798a16bf24a43" /><Relationship Type="http://schemas.openxmlformats.org/officeDocument/2006/relationships/notesSlide" Target="/ppt/notesSlides/notesSlide2.xml" Id="R1cdc87226a5941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7c21077ee4f8a" /><Relationship Type="http://schemas.openxmlformats.org/officeDocument/2006/relationships/notesSlide" Target="/ppt/notesSlides/notesSlide3.xml" Id="Rc5b5777bf8ff49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7da7a04fe44f5" /><Relationship Type="http://schemas.openxmlformats.org/officeDocument/2006/relationships/notesSlide" Target="/ppt/notesSlides/notesSlide4.xml" Id="Rd82167df3148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d7e7e2a654fd1" /><Relationship Type="http://schemas.openxmlformats.org/officeDocument/2006/relationships/notesSlide" Target="/ppt/notesSlides/notesSlide5.xml" Id="R4cf90d1d2fae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ad2202a424322" /><Relationship Type="http://schemas.openxmlformats.org/officeDocument/2006/relationships/image" Target="/ppt/media/image.png" Id="R593011422c914504" /><Relationship Type="http://schemas.openxmlformats.org/officeDocument/2006/relationships/notesSlide" Target="/ppt/notesSlides/notesSlide6.xml" Id="R597b8c405998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a5d83055b41e7" /><Relationship Type="http://schemas.openxmlformats.org/officeDocument/2006/relationships/image" Target="/ppt/media/image2.png" Id="R1d36976f683847ac" /><Relationship Type="http://schemas.openxmlformats.org/officeDocument/2006/relationships/notesSlide" Target="/ppt/notesSlides/notesSlide7.xml" Id="R690d2bc84cf440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e07162d744a88" /><Relationship Type="http://schemas.openxmlformats.org/officeDocument/2006/relationships/notesSlide" Target="/ppt/notesSlides/notesSlide8.xml" Id="Rc83e654ea03f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da68105fb436b" /><Relationship Type="http://schemas.openxmlformats.org/officeDocument/2006/relationships/image" Target="/ppt/media/image3.png" Id="R4626c404f6a849dd" /><Relationship Type="http://schemas.openxmlformats.org/officeDocument/2006/relationships/notesSlide" Target="/ppt/notesSlides/notesSlide9.xml" Id="R81463fb0c93749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ecff1ddb74d05" /><Relationship Type="http://schemas.openxmlformats.org/officeDocument/2006/relationships/notesSlide" Target="/ppt/notesSlides/notesSlide10.xml" Id="R36b41ff8141f4a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51b15465c4272" /><Relationship Type="http://schemas.openxmlformats.org/officeDocument/2006/relationships/notesSlide" Target="/ppt/notesSlides/notesSlide11.xml" Id="Rd1a094a4b9a241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c7e4ca5434508" /><Relationship Type="http://schemas.openxmlformats.org/officeDocument/2006/relationships/notesSlide" Target="/ppt/notesSlides/notesSlide12.xml" Id="R71472d204a8242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5fde122664b5d" /><Relationship Type="http://schemas.openxmlformats.org/officeDocument/2006/relationships/image" Target="/ppt/media/image4.png" Id="R7378389d703b4a69" /><Relationship Type="http://schemas.openxmlformats.org/officeDocument/2006/relationships/image" Target="/ppt/media/image5.png" Id="Rcc6d0e12314f4a25" /><Relationship Type="http://schemas.openxmlformats.org/officeDocument/2006/relationships/notesSlide" Target="/ppt/notesSlides/notesSlide13.xml" Id="Ra922b60d1dec4a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ecf0dbd214534" /><Relationship Type="http://schemas.openxmlformats.org/officeDocument/2006/relationships/image" Target="/ppt/media/image6.png" Id="Rcc26bd6d6348413e" /><Relationship Type="http://schemas.openxmlformats.org/officeDocument/2006/relationships/image" Target="/ppt/media/image7.png" Id="Ra50da420deb84e47" /><Relationship Type="http://schemas.openxmlformats.org/officeDocument/2006/relationships/notesSlide" Target="/ppt/notesSlides/notesSlide14.xml" Id="Rc9d7eaac260c41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79e50f0ba46c7" /><Relationship Type="http://schemas.openxmlformats.org/officeDocument/2006/relationships/image" Target="/ppt/media/image8.png" Id="R53345e8a24d44fac" /><Relationship Type="http://schemas.openxmlformats.org/officeDocument/2006/relationships/image" Target="/ppt/media/image9.png" Id="R90b9209cba194865" /><Relationship Type="http://schemas.openxmlformats.org/officeDocument/2006/relationships/notesSlide" Target="/ppt/notesSlides/notesSlide15.xml" Id="R676859b7cb7f44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e8002e99e48cf" /><Relationship Type="http://schemas.openxmlformats.org/officeDocument/2006/relationships/image" Target="/ppt/media/image10.png" Id="R3a7325c028b84a2e" /><Relationship Type="http://schemas.openxmlformats.org/officeDocument/2006/relationships/notesSlide" Target="/ppt/notesSlides/notesSlide16.xml" Id="Re801b6f326034a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43e9ec6af406c" /><Relationship Type="http://schemas.openxmlformats.org/officeDocument/2006/relationships/notesSlide" Target="/ppt/notesSlides/notesSlide17.xml" Id="R224145e0ce9242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4a5e74f0140d2" /><Relationship Type="http://schemas.openxmlformats.org/officeDocument/2006/relationships/notesSlide" Target="/ppt/notesSlides/notesSlide18.xml" Id="Rcc4016da6ade43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B1DEF-CF58-4998-8F80-8527F65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586F7-A637-467D-8007-2F6D286B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โครงงานเตรียมสหกิจศึกษา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494D8-D539-4987-9CBD-C0C12F56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A3B82"/>
                </a:solidFill>
              </a:defRPr>
            </a:defPPr>
            <a:lvl1pPr>
              <a:defRPr sz="3000" b="1">
                <a:solidFill>
                  <a:srgbClr val="0A3B82"/>
                </a:solidFill>
              </a:defRPr>
            </a:lvl1pPr>
            <a:lvl2pPr>
              <a:defRPr sz="3000" b="1">
                <a:solidFill>
                  <a:srgbClr val="0A3B82"/>
                </a:solidFill>
              </a:defRPr>
            </a:lvl2pPr>
            <a:lvl3pPr>
              <a:defRPr sz="3000" b="1">
                <a:solidFill>
                  <a:srgbClr val="0A3B82"/>
                </a:solidFill>
              </a:defRPr>
            </a:lvl3pPr>
            <a:lvl4pPr>
              <a:defRPr sz="3000" b="1">
                <a:solidFill>
                  <a:srgbClr val="0A3B82"/>
                </a:solidFill>
              </a:defRPr>
            </a:lvl4pPr>
            <a:lvl5pPr>
              <a:defRPr sz="3000" b="1">
                <a:solidFill>
                  <a:srgbClr val="0A3B82"/>
                </a:solidFill>
              </a:defRPr>
            </a:lvl5pPr>
            <a:lvl6pPr>
              <a:defRPr sz="3000" b="1">
                <a:solidFill>
                  <a:srgbClr val="0A3B82"/>
                </a:solidFill>
              </a:defRPr>
            </a:lvl6pPr>
            <a:lvl7pPr>
              <a:defRPr sz="3000" b="1">
                <a:solidFill>
                  <a:srgbClr val="0A3B82"/>
                </a:solidFill>
              </a:defRPr>
            </a:lvl7pPr>
            <a:lvl8pPr>
              <a:defRPr sz="3000" b="1">
                <a:solidFill>
                  <a:srgbClr val="0A3B82"/>
                </a:solidFill>
              </a:defRPr>
            </a:lvl8pPr>
            <a:lvl9pPr>
              <a:defRPr sz="30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000" b="1">
                <a:solidFill>
                  <a:srgbClr val="0A3B82"/>
                </a:solidFill>
              </a:defRPr>
            </a:pPr>
            <a:r>
              <a:rPr sz="3000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437A9-AE0D-4FD0-AB4D-03F1F53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0487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F9C25-4706-464E-AE49-FAD8D64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DD54E-C016-4F75-AE22-CE24AC4A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3A967-74BC-4AD4-9299-9216EC2D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6610110087   วิศวกรรมคอมพิวเตอร์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082FC-8BE8-4932-99FC-5FBD90E7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EEBC4-87E6-4623-B322-F9921B75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115C5-EE01-4242-9A5A-65BA223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478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9CA44-F573-4740-81AD-FFBD67C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73E7A-F6EE-4869-B237-09F5C3D7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29200"/>
            <a:ext cx="2076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969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CDCA5-A9D1-46E7-8E6A-51F111F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F5CBB-A3DE-4B36-BCDC-BCE79DF1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B557B-D16A-4AAC-8048-62966A0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B81A2-AAFA-46EE-B994-DC435567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FC15F-2040-4990-A81A-6A6FE8F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แนวคิดเริ่มจากงานรับส่งภายในอาคารที่ต้องทำซ้ำ และต้องติดตามได้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CBAF0-4303-4EBB-A55B-3B741E3C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เราต้องการให้หุ่นยนต์รับงานจากผู้ใช้ แล้วเดินทางระหว่างสถานีได้ด้วยตนเอง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CFA5E-88EF-4B6F-8085-A300A07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18B"/>
                </a:solidFill>
              </a:defRPr>
            </a:defPPr>
            <a:lvl1pPr>
              <a:defRPr sz="1275" b="0">
                <a:solidFill>
                  <a:srgbClr val="58718B"/>
                </a:solidFill>
              </a:defRPr>
            </a:lvl1pPr>
            <a:lvl2pPr>
              <a:defRPr sz="1275" b="0">
                <a:solidFill>
                  <a:srgbClr val="58718B"/>
                </a:solidFill>
              </a:defRPr>
            </a:lvl2pPr>
            <a:lvl3pPr>
              <a:defRPr sz="1275" b="0">
                <a:solidFill>
                  <a:srgbClr val="58718B"/>
                </a:solidFill>
              </a:defRPr>
            </a:lvl3pPr>
            <a:lvl4pPr>
              <a:defRPr sz="1275" b="0">
                <a:solidFill>
                  <a:srgbClr val="58718B"/>
                </a:solidFill>
              </a:defRPr>
            </a:lvl4pPr>
            <a:lvl5pPr>
              <a:defRPr sz="1275" b="0">
                <a:solidFill>
                  <a:srgbClr val="58718B"/>
                </a:solidFill>
              </a:defRPr>
            </a:lvl5pPr>
            <a:lvl6pPr>
              <a:defRPr sz="1275" b="0">
                <a:solidFill>
                  <a:srgbClr val="58718B"/>
                </a:solidFill>
              </a:defRPr>
            </a:lvl6pPr>
            <a:lvl7pPr>
              <a:defRPr sz="1275" b="0">
                <a:solidFill>
                  <a:srgbClr val="58718B"/>
                </a:solidFill>
              </a:defRPr>
            </a:lvl7pPr>
            <a:lvl8pPr>
              <a:defRPr sz="1275" b="0">
                <a:solidFill>
                  <a:srgbClr val="58718B"/>
                </a:solidFill>
              </a:defRPr>
            </a:lvl8pPr>
            <a:lvl9pPr>
              <a:defRPr sz="12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18B"/>
                </a:solidFill>
              </a:defRPr>
            </a:pPr>
            <a:r>
              <a:rPr sz="1275" b="0">
                <a:solidFill>
                  <a:srgbClr val="58718B"/>
                </a:solidFill>
              </a:rPr>
              <a:t>แทนที่ผู้ใช้งานจะต้องเดินไปส่งสิ่งของทุกครั้ง หรือต้องเปิดเครื่องมือ ROS เพื่อสั่งหุ่นยนต์โดยตรง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C8387-A13B-4B03-8C5A-8CD986D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49530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9BC7B-7BAC-43BB-8A46-46FEE01E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ก่อนมีระบบนี้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37647-D378-4136-A851-5015E5DD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8718B"/>
                </a:solidFill>
              </a:defRPr>
            </a:defPPr>
            <a:lvl1pPr>
              <a:defRPr sz="1200" b="0">
                <a:solidFill>
                  <a:srgbClr val="58718B"/>
                </a:solidFill>
              </a:defRPr>
            </a:lvl1pPr>
            <a:lvl2pPr>
              <a:defRPr sz="1200" b="0">
                <a:solidFill>
                  <a:srgbClr val="58718B"/>
                </a:solidFill>
              </a:defRPr>
            </a:lvl2pPr>
            <a:lvl3pPr>
              <a:defRPr sz="1200" b="0">
                <a:solidFill>
                  <a:srgbClr val="58718B"/>
                </a:solidFill>
              </a:defRPr>
            </a:lvl3pPr>
            <a:lvl4pPr>
              <a:defRPr sz="1200" b="0">
                <a:solidFill>
                  <a:srgbClr val="58718B"/>
                </a:solidFill>
              </a:defRPr>
            </a:lvl4pPr>
            <a:lvl5pPr>
              <a:defRPr sz="1200" b="0">
                <a:solidFill>
                  <a:srgbClr val="58718B"/>
                </a:solidFill>
              </a:defRPr>
            </a:lvl5pPr>
            <a:lvl6pPr>
              <a:defRPr sz="1200" b="0">
                <a:solidFill>
                  <a:srgbClr val="58718B"/>
                </a:solidFill>
              </a:defRPr>
            </a:lvl6pPr>
            <a:lvl7pPr>
              <a:defRPr sz="1200" b="0">
                <a:solidFill>
                  <a:srgbClr val="58718B"/>
                </a:solidFill>
              </a:defRPr>
            </a:lvl7pPr>
            <a:lvl8pPr>
              <a:defRPr sz="1200" b="0">
                <a:solidFill>
                  <a:srgbClr val="58718B"/>
                </a:solidFill>
              </a:defRPr>
            </a:lvl8pPr>
            <a:lvl9pPr>
              <a:defRPr sz="120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ผู้ใช้ต้องกำหนดคำสั่งด้วยเครื่องมือของหุ่นยนต์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ไม่เห็นคิวงานและสถานะของภารกิจในที่เดียว</a:t>
            </a:r>
          </a:p>
          <a:p xmlns:a="http://schemas.openxmlformats.org/drawingml/2006/main">
            <a:pPr>
              <a:defRPr sz="1200" b="0">
                <a:solidFill>
                  <a:srgbClr val="58718B"/>
                </a:solidFill>
              </a:defRPr>
            </a:pPr>
            <a:r>
              <a:rPr sz="1200" b="0">
                <a:solidFill>
                  <a:srgbClr val="58718B"/>
                </a:solidFill>
              </a:rPr>
              <a:t>ตรวจสอบย้อนหลังได้ยากเมื่อภารกิจล้มเหลว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0AFBF-B0EF-4159-811C-CFAE56B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5867400" cy="1924050"/>
          </a:xfrm>
          <a:prstGeom xmlns:a="http://schemas.openxmlformats.org/drawingml/2006/main" prst="roundRect">
            <a:avLst>
              <a:gd name="adj" fmla="val 1089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4AF16-7CA9-4975-9B38-C1B8202D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แนวคิดของโครงงาน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F9077-289D-4DA4-883B-F47BC7D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สร้างฐานหุ่นยนต์ที่รับภารกิจจากเว็บ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เดินทางไปยังสถานีรับของและสถานีปลายทาง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ส่งสถานะกลับให้ผู้ใช้ติดตามได้ตลอดกระบวนการ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55314-5368-4863-BB7D-1A07DF5C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3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E50BE-9355-4814-A960-06F22683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ผลที่ต้องการ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93FC8-7444-4A09-A031-07DA5FBC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ผู้ใช้สร้างภารกิจ ติดตามสถานะ และดูประวัติได้จากเว็บ 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654018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4F4CE-608C-40D2-BE93-7675CB3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484C9-B4AA-4A52-8FA4-7D728A1A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F7A1E-5876-4EEF-BEFC-A1F6D5FC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แนวคิดการทำงานของต้นแบบ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F82A0-BE01-4FC8-A31B-25BF460D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A5E6B-170C-4665-933F-10E4BD13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หนึ่งภารกิจเชื่อมผู้ใช้งาน เว็บ ระบบนำทาง และหุ่นยนต์เข้าด้วยกัน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0DB3A-C675-4E25-8D4B-E6EC250C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ADE80-96C0-40FC-A3EE-C3507F9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AB226-4BE5-43DE-8900-78DAAE1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CREATE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7E904-826A-4E5F-BCFD-49763B30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ผู้ใช้เลือกสถานีรับของและปลายทาง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346D7-C729-49BA-9B07-850496E3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B4252-4F03-4FBB-AF2B-4C49098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16898-A88E-4A8B-9AC8-C9E02F42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CCA84-D0C4-46DB-9224-C743F70D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ASSIGN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4FF7F-1133-403D-B826-7CEF1DBE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เว็บส่งภารกิจผ่าน 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979D0-B906-4E49-9153-DB1670F9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60A35-5F72-4824-8705-CBEE5919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E50A2-0851-44A5-A485-C0A227A8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594B5-2A13-4C3D-98E1-871EE6A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NAVIGATE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BCB35-8666-4965-85DD-2C77F09C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ROS 2 และ Nav2 พาหุ่นยนต์เคลื่อนที่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38122-1474-4498-BCFF-0E889FA7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5B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BC99C-EFFD-4ED1-B85C-8D3790B8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81200"/>
            <a:ext cx="24003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F3CCA-D8DA-4136-8F19-F28715D7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439C0-B353-435E-8EE0-8EEB8947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B1AA4-885F-4E4B-8CDC-6366615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สถานะและเหตุการณ์ส่งกลับสู่หน้าเว็บ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AE1C2-2B4B-46AA-B9EB-4F853CFC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ต้นแบบนี้มุ่งพิสูจน์การทำงานร่วมกันของทั้งระบบ มากกว่าการทดสอบการบรรทุกสิ่งของจริง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66B71-9289-4047-9A6A-536F55A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102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การวางและรับสิ่งของยังยืนยันผ่านเว็บ และฐานหุ่นยนต์ยังไม่มีโครงสร้างบรรทุกเฉพาะ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610061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D7381-0F04-4866-8F9A-461BB74C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BD50A-EF1F-451E-B6E8-B7D9A288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BC366-7D9E-45BD-BFDE-DC900CC4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วัตถุประสงค์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FF051-140C-434C-9ECC-A8F81D4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A26F8-BB50-4758-A889-77B4BAD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สิ่งที่โครงงานตั้งใจออกแบบ พัฒนา และทดสอบ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0F8C-C487-4E05-A518-8F9C785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5386F-C182-4A66-B140-C1BB7640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พัฒนาฐานหุ่นยนต์ Differential Drive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2300F-9538-4C54-8628-87E1629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ใช้มอเตอร์ ชุดควบคุม และเซนเซอร์สำหรับตรวจวัดการเคลื่อนที่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F39AE-BE4C-424A-953A-5EB5A5C4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A466F-B5A5-4C45-80CD-2C30B2CA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พัฒนาระบบนำทางด้วย ROS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CD5E6-209E-4BE8-91D6-15C702A7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ใช้ SLAM Toolbox, AMCL และ Nav2 สำหรับพื้นที่ทดลองภายในอาคาร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CF0A3-7798-4D48-9F70-57D0E6DB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0568B-F0F1-460A-A692-C3D0C02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พัฒนาเว็บแอปพลิเคชัน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0E473-925D-479D-B85F-A1F3887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สร้างภารกิจ จัดการคิว ติดตามสถานะ และดูประวัติตามสิทธิ์ผู้ใช้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ABC0B-9689-4938-90E0-73E4B074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0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0E0D3-A333-46A1-8499-EEAEA1D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621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พัฒนา 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B1CCB-5E55-4D26-942F-4D97B59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รับส่งคำสั่ง ตำแหน่ง และสถานะระหว่างเว็บกับระบบหุ่นยนต์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562F4-370B-4974-9983-7B92005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1E1C1-1BE2-4A9B-9186-24C134A7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81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ทดสอบการทำงานร่วมกัน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B6A9C-2E86-4413-9EC3-6639A902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ตรวจฟังก์ชันเว็บ การเคลื่อนที่จริง และลำดับการรับส่งสิ่งของจำลอง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082E0-42A6-42AF-A645-91DB289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8920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2BE13-801D-4F3B-8FA0-B69C1F1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4AB6E-25E3-4A8B-BD78-A66D9B35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BDD7E-279B-47F5-9CFA-E0CB394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ขอบเขตของโครงงาน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4C8C2-69F4-4BB3-89C4-519DCFD2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8ADAF-81CF-4B72-BFEF-6D96E9A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แยกสิ่งที่ทดสอบในต้นแบบออกจากสิ่งที่ยังไม่ได้นำมาประเมิน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F378A-880F-43E5-B822-444D9C0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8C8EA-9CA6-46E0-8409-8C1BBF72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ครอบคลุม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21EE8-81BD-4C3E-8869-9062776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4A80C-EC27-4E70-8859-5EEECDA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หุ่นยนต์จริง 1 คันในพื้นที่ทดลองภายในห้อง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047AD-00A1-4E0A-816C-D0CF7E3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A4FC1-5AD6-41F0-8D68-48EF14BD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สถานีบนแผนที่ประมาณ 2 ถึง 4 จุด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24043-E065-4B54-87D0-BA04EA9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56ED1-2EF7-4426-801A-674D417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73FA7-2345-4E4B-8A88-91F13BC9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1EF88-1186-460B-9F40-E974FBDA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เว็บจัดการผู้ใช้ สถานี ภารกิจ คิว และประวัติ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269B-3572-4CE8-90AA-FDD4D21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5BDD8"/>
                </a:solidFill>
              </a:defRPr>
            </a:defPPr>
            <a:lvl1pPr>
              <a:defRPr sz="975" b="1">
                <a:solidFill>
                  <a:srgbClr val="55BDD8"/>
                </a:solidFill>
              </a:defRPr>
            </a:lvl1pPr>
            <a:lvl2pPr>
              <a:defRPr sz="975" b="1">
                <a:solidFill>
                  <a:srgbClr val="55BDD8"/>
                </a:solidFill>
              </a:defRPr>
            </a:lvl2pPr>
            <a:lvl3pPr>
              <a:defRPr sz="975" b="1">
                <a:solidFill>
                  <a:srgbClr val="55BDD8"/>
                </a:solidFill>
              </a:defRPr>
            </a:lvl3pPr>
            <a:lvl4pPr>
              <a:defRPr sz="975" b="1">
                <a:solidFill>
                  <a:srgbClr val="55BDD8"/>
                </a:solidFill>
              </a:defRPr>
            </a:lvl4pPr>
            <a:lvl5pPr>
              <a:defRPr sz="975" b="1">
                <a:solidFill>
                  <a:srgbClr val="55BDD8"/>
                </a:solidFill>
              </a:defRPr>
            </a:lvl5pPr>
            <a:lvl6pPr>
              <a:defRPr sz="975" b="1">
                <a:solidFill>
                  <a:srgbClr val="55BDD8"/>
                </a:solidFill>
              </a:defRPr>
            </a:lvl6pPr>
            <a:lvl7pPr>
              <a:defRPr sz="975" b="1">
                <a:solidFill>
                  <a:srgbClr val="55BDD8"/>
                </a:solidFill>
              </a:defRPr>
            </a:lvl7pPr>
            <a:lvl8pPr>
              <a:defRPr sz="975" b="1">
                <a:solidFill>
                  <a:srgbClr val="55BDD8"/>
                </a:solidFill>
              </a:defRPr>
            </a:lvl8pPr>
            <a:lvl9pPr>
              <a:defRPr sz="9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5BDD8"/>
                </a:solidFill>
              </a:defRPr>
            </a:pPr>
            <a:r>
              <a:rPr sz="975" b="1">
                <a:solidFill>
                  <a:srgbClr val="55BDD8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0A068-8DEC-4EBE-8AC0-7F59CF9B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ยืนยันการวางและรับสิ่งของผ่านเว็บ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AAB2D-BC5F-4AAD-8ED8-030DEAF5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381625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983F8-B091-4E6E-B810-B6978628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ยังไม่ครอบคลุม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C9A26-4200-401C-BA16-816F82E1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BDD1E-541F-4D6C-919A-66C27C7B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527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โครงสร้างบรรทุกสิ่งของโดยเฉพาะ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E6192-1A6D-45BA-9728-0BA74D7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623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BC5FB-EE93-4A27-A1DA-E7EC7F7E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05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การประเมินน้ำหนักบรรทุกและการขนส่งจริง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8AAD1-9E3F-44F7-9324-7A385E1E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14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F742D-9450-43BF-A15A-B151BD07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ระบบตรวจจับว่าสิ่งของถูกวางหรือรับแล้ว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2A65C-2080-4BEF-935F-630F90A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2C002D-58DB-4869-BC70-BBC65B16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100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การรับรองความปลอดภัยสำหรับพื้นที่ทั่วไป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55C1B-9133-4608-915F-9C84C86F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819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9049A-71E3-40D2-81C1-6CDD6D65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625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ความเสถียรและประสิทธิภาพระยะยาว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1612884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64118-399C-4648-97B8-7B41C4F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2D002-0291-433A-9984-EFE22EB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21E8A-5AD7-4FB3-8FBB-4A687FA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29C6B-A946-45CD-A02F-C4618D5B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B4BE9-7750-4F29-A541-D4B8B99C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สามส่วนหลักแลกเปลี่ยนคำสั่งและสถานะผ่าน Robot Agent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A2B9C-AE18-42B4-970F-09A6C637E3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011422c914504"/>
          <a:stretch xmlns:a="http://schemas.openxmlformats.org/drawingml/2006/main"/>
        </p:blipFill>
        <p:spPr>
          <a:xfrm xmlns:a="http://schemas.openxmlformats.org/drawingml/2006/main">
            <a:off x="2373480" y="1504950"/>
            <a:ext cx="7445039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C61E-8089-424B-9D78-AC2DE88A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เว็บไม่เชื่อมต่อ ROS 2 โดยตรง  Robot Agent เป็นตัวกลางระหว่างระบบจัดการภารกิจกับหุ่นยนต์</a:t>
            </a:r>
          </a:p>
        </p:txBody>
      </p:sp>
    </p:spTree>
    <p:extLst>
      <p:ext uri="{BB962C8B-B14F-4D97-AF65-F5344CB8AC3E}">
        <p14:creationId xmlns:p14="http://schemas.microsoft.com/office/powerpoint/2010/main" val="591217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E9B22-747D-475F-9575-6E40F7C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C82B6-C0DC-41D4-AA4A-BECFB8F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B4A8D-0F42-414A-B418-D98AD5DB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ฐานหุ่นยนต์และ Differential Drive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B3EDF-D823-4AAB-9E09-B4EBEB0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3738C-F60E-489B-8F2A-042727BB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ควบคุมทิศทางจากความเร็วล้อซ้ายและขวา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50CE1-E3B6-4920-9877-1FAB4DB0FF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6976f683847ac"/>
          <a:stretch xmlns:a="http://schemas.openxmlformats.org/drawingml/2006/main"/>
        </p:blipFill>
        <p:spPr>
          <a:xfrm xmlns:a="http://schemas.openxmlformats.org/drawingml/2006/main">
            <a:off x="534226" y="1581150"/>
            <a:ext cx="7218298" cy="4514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219C8-24CA-41BD-9167-B29D501D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ฮาร์ดแวร์หลัก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214C5-83B4-4ACF-B26A-08FE6C05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E559B-17C1-4C6B-9CED-9C0E55C4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57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ODROID-C4 ประมวลผล ROS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F3FB0-49D7-4481-9AFA-7E2F306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37D81-DA8F-484E-92AD-5A4288FC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ESP32 ควบคุมฐานและอ่าน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C5925-95DA-44DA-AC56-8F41086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53B1-D371-49DB-9ABD-C40AB15F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TB6612FNG ขับมอเตอร์ 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C44EF-1973-462F-B5B8-B94031EB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A733F-9814-456A-B48F-5BB341F8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14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MPU6050 วัดการเคลื่อนที่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F8D7E-E508-4232-955E-61ED0F6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77E13-F12D-4529-B57B-2AF1760D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YDLIDAR X3 สแกนพื้นที่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702CC-8276-468C-A3CA-B23C1B6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B402F-1CC3-4397-94E0-9FD5A83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9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USB Camera ส่งภาพสด</a:t>
            </a:r>
          </a:p>
        </p:txBody>
      </p:sp>
    </p:spTree>
    <p:extLst>
      <p:ext uri="{BB962C8B-B14F-4D97-AF65-F5344CB8AC3E}">
        <p14:creationId xmlns:p14="http://schemas.microsoft.com/office/powerpoint/2010/main" val="1785260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FC53B-392F-42B2-B17C-A617D3ED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DB431-051F-411D-A393-FD11D1D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EEF11-7FD4-4503-82C4-B6E6A23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ฐานหุ่นยนต์ต้นแบบจริง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5B4B1-28CE-4B1E-A631-50636D0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9E558-494B-4826-95EC-BE550D4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ฮาร์ดแวร์ที่ใช้ทดสอบการสร้างแผนที่ ระบุตำแหน่ง และนำทางภายในพื้นที่ทดลอง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EDEE6-8106-4BEC-83C5-0FC44BA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7334250" cy="39624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C7EA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CBB29-47EA-445A-A8BE-3C7D5283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66865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9525">
            <a:solidFill>
              <a:srgbClr val="B8D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154D7-CF37-43AA-BB70-9F9D8E3F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668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รูปหุ่นยนต์จริง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56974-C4FC-4B9D-9CBE-A771DD6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554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วางรูปมุมเฉียงด้านหน้า ให้เห็นฐาน ล้อ และอุปกรณ์โดยรวม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18465-8392-4289-88B6-EB543F3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24300"/>
            <a:ext cx="19240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B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0BBDD-79F4-4F90-84F2-97596209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9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แทนที่ด้วยรูปถ่าย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5CF7C-D707-459C-9AE7-37D3FF0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668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ภาพฐานหุ่นยนต์ที่ใช้ในการทดลองจริง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22993-BF2C-4495-A692-5129FBC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องค์ประกอบหลัก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4856D-FB39-4DCE-B7F6-E323BCF1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9AD2E-82FF-4CB9-BBEA-D9072B89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Differential Drive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29D04-5AA6-4859-9868-22A13622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ฐานล้อซ้าย–ขวาสำหรับควบคุมทิศทาง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A3218-F0D9-4E17-AF12-02D4DA94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D6BF5-89E2-43A6-B865-1E8A073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ODROID-C4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A453A-565A-4F91-8BBA-711BAC66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ประมวลผล ROS 2 และระบบนำทาง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3B717-871F-4BB4-8950-1B563AE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F1716-5E0A-4BB8-8085-8CD1205F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ESP32 และ Encoder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38523-A509-4ADC-9B02-D13FF0A5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ควบคุมมอเตอร์และอ่านการหมุนของล้อ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7DDBC-F97F-4E1F-91E9-AD642C7D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7F26C-39FF-432F-A004-6931D72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LiDAR, IMU และ Camera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32764-F721-4AA6-860C-1F62ACF8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673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รับข้อมูลพื้นที่ การเคลื่อนที่ และภาพสด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0DC5C-A54C-40BE-97A1-EBE105E2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19750"/>
            <a:ext cx="32385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AD60E-33BF-47E8-8257-57ECD3AF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435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02A43"/>
                </a:solidFill>
              </a:defRPr>
            </a:defPPr>
            <a:lvl1pPr>
              <a:defRPr sz="900" b="1">
                <a:solidFill>
                  <a:srgbClr val="102A43"/>
                </a:solidFill>
              </a:defRPr>
            </a:lvl1pPr>
            <a:lvl2pPr>
              <a:defRPr sz="900" b="1">
                <a:solidFill>
                  <a:srgbClr val="102A43"/>
                </a:solidFill>
              </a:defRPr>
            </a:lvl2pPr>
            <a:lvl3pPr>
              <a:defRPr sz="900" b="1">
                <a:solidFill>
                  <a:srgbClr val="102A43"/>
                </a:solidFill>
              </a:defRPr>
            </a:lvl3pPr>
            <a:lvl4pPr>
              <a:defRPr sz="900" b="1">
                <a:solidFill>
                  <a:srgbClr val="102A43"/>
                </a:solidFill>
              </a:defRPr>
            </a:lvl4pPr>
            <a:lvl5pPr>
              <a:defRPr sz="900" b="1">
                <a:solidFill>
                  <a:srgbClr val="102A43"/>
                </a:solidFill>
              </a:defRPr>
            </a:lvl5pPr>
            <a:lvl6pPr>
              <a:defRPr sz="900" b="1">
                <a:solidFill>
                  <a:srgbClr val="102A43"/>
                </a:solidFill>
              </a:defRPr>
            </a:lvl6pPr>
            <a:lvl7pPr>
              <a:defRPr sz="900" b="1">
                <a:solidFill>
                  <a:srgbClr val="102A43"/>
                </a:solidFill>
              </a:defRPr>
            </a:lvl7pPr>
            <a:lvl8pPr>
              <a:defRPr sz="900" b="1">
                <a:solidFill>
                  <a:srgbClr val="102A43"/>
                </a:solidFill>
              </a:defRPr>
            </a:lvl8pPr>
            <a:lvl9pPr>
              <a:defRPr sz="9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ต้นแบบมุ่งทดสอบการเคลื่อนที่และระบบนำทาง</a:t>
            </a:r>
          </a:p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ยังไม่มีโครงสร้างบรรทุกสิ่งของโดยเฉพาะ</a:t>
            </a:r>
          </a:p>
        </p:txBody>
      </p:sp>
    </p:spTree>
    <p:extLst>
      <p:ext uri="{BB962C8B-B14F-4D97-AF65-F5344CB8AC3E}">
        <p14:creationId xmlns:p14="http://schemas.microsoft.com/office/powerpoint/2010/main" val="1735020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64519-0F23-4149-89A6-5607AE9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00D10-C0F9-467F-ADC3-3ED08A7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5CE22-CBA3-46F8-817A-459A5AC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Mapping, Localization and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6D84D-CF6B-478F-9D10-9C9B2465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C842D-DFD6-407E-B71D-3822F3F3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สร้างแผนที่ก่อน ระบุตำแหน่งบนแผนที่ แล้วจึงส่งเป้าหมายให้ Nav2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67AD5-6287-4E75-9799-68C19E0DB7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6c404f6a849dd"/>
          <a:stretch xmlns:a="http://schemas.openxmlformats.org/drawingml/2006/main"/>
        </p:blipFill>
        <p:spPr>
          <a:xfrm xmlns:a="http://schemas.openxmlformats.org/drawingml/2006/main">
            <a:off x="2288881" y="1524000"/>
            <a:ext cx="7614239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2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1D1092-688D-43EF-8C37-013DDE19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5269F-BBAC-49A9-87D0-1C7E7A7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130D8-08F8-4349-B575-1ECFC375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9F8C-ABB9-425E-AAEF-2F8CC13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43CBA-3CC9-48BC-9507-034A637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Robot Agent เชื่อมระบบจัดการภารกิจกับระบบนำทางของหุ่นยนต์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F6DAE-C895-42CC-B8E0-BC38ED4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BAEE5-A44B-46A4-9593-B9ED420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4C271-4BBC-4E75-8FD9-F875FC2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37A1-6CE6-4941-BAF8-B9E39349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เลือกสถานี สร้างภารกิจ และยืนยันการรับส่ง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EDE35-DBA0-454A-84C1-6AC978E5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5FE3A-85F3-44D2-8087-6527A707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8F3E1-4802-4650-A157-8C536137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แสดงคิว สถานะ ตำแหน่ง และประวัติ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ED198-5E3D-40F1-8300-4911F7D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Backend +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1B7B5-2388-4FF4-B019-ED97081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ตรวจสอบและบันทึกภารกิจ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AAD74-9505-44ED-973A-CCF6DE0E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57500" cy="384810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621BA-9286-4064-93F6-242BB5AD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ROBOT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BDD80-7249-41EC-B01D-D358760D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7EAF3"/>
                </a:solidFill>
              </a:defRPr>
            </a:defPPr>
            <a:lvl1pPr>
              <a:defRPr sz="1050" b="0">
                <a:solidFill>
                  <a:srgbClr val="C7EAF3"/>
                </a:solidFill>
              </a:defRPr>
            </a:lvl1pPr>
            <a:lvl2pPr>
              <a:defRPr sz="1050" b="0">
                <a:solidFill>
                  <a:srgbClr val="C7EAF3"/>
                </a:solidFill>
              </a:defRPr>
            </a:lvl2pPr>
            <a:lvl3pPr>
              <a:defRPr sz="1050" b="0">
                <a:solidFill>
                  <a:srgbClr val="C7EAF3"/>
                </a:solidFill>
              </a:defRPr>
            </a:lvl3pPr>
            <a:lvl4pPr>
              <a:defRPr sz="1050" b="0">
                <a:solidFill>
                  <a:srgbClr val="C7EAF3"/>
                </a:solidFill>
              </a:defRPr>
            </a:lvl4pPr>
            <a:lvl5pPr>
              <a:defRPr sz="1050" b="0">
                <a:solidFill>
                  <a:srgbClr val="C7EAF3"/>
                </a:solidFill>
              </a:defRPr>
            </a:lvl5pPr>
            <a:lvl6pPr>
              <a:defRPr sz="1050" b="0">
                <a:solidFill>
                  <a:srgbClr val="C7EAF3"/>
                </a:solidFill>
              </a:defRPr>
            </a:lvl6pPr>
            <a:lvl7pPr>
              <a:defRPr sz="1050" b="0">
                <a:solidFill>
                  <a:srgbClr val="C7EAF3"/>
                </a:solidFill>
              </a:defRPr>
            </a:lvl7pPr>
            <a:lvl8pPr>
              <a:defRPr sz="1050" b="0">
                <a:solidFill>
                  <a:srgbClr val="C7EAF3"/>
                </a:solidFill>
              </a:defRPr>
            </a:lvl8pPr>
            <a:lvl9pPr>
              <a:defRPr sz="1050" b="0">
                <a:solidFill>
                  <a:srgbClr val="C7EAF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7EAF3"/>
                </a:solidFill>
              </a:defRPr>
            </a:pPr>
            <a:r>
              <a:rPr sz="1050" b="0">
                <a:solidFill>
                  <a:srgbClr val="C7EAF3"/>
                </a:solidFill>
              </a:rPr>
              <a:t>ตัวกลางระหว่างเว็บกับ ROS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FF3B6-D3A0-4753-913A-D363B71B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BF735-5DA3-43E4-9DA5-164AB4B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622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รับภารกิจจาก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4CBB7-7EE1-438A-9C50-9E43D8E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24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F6D61-F356-4F50-A846-0AA3A1EE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เรียก Nav2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667C0-E471-4CDA-96A5-A7933316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E7F40-6625-4893-A3A3-31CEFE96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9097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ติดตามผลการนำทาง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DBD24-4480-4CB0-91B8-9A76BAB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45952-D15B-4A3B-AE73-88694F4C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053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ส่งสถานะกลับสู่เว็บ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E51D7-A310-4BC7-AEDB-570427F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33750" cy="35433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75149-8722-4C78-B596-3CD2BE19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E753F-EEC6-4A13-9372-FFC0C2A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ROS 2 + Nav2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3401E-C5A4-42BC-8C25-D9539544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รับเป้าหมาย วางแผนเส้นทาง และส่ง cmd_vel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8225E-6EB1-4C45-8BCB-0FEA3E02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9247F-DDA7-4714-9C6C-3F09104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Base Driver + ESP32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4CD66-442B-4E3B-81EB-A4EFFD48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ขับมอเตอร์และอ่าน Encoder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E9FEF-AA32-40CB-83F7-DCCEA260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Telemetry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B485A-4EDA-49AE-B64B-B3438B5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91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ส่ง Odometry ตำแหน่ง และสถานะกลับ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E64FB3-A9D4-41B1-A57F-41C2531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MISSION COMMAND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FC5BAE-0AFB-4852-AF91-918E3B2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32EDFD-5EAE-45B0-A89A-F976718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95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NAV2 GOAL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935865-FBF0-4FD0-9191-101EF331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838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94C811-B6E2-4B41-9A31-E5D6D6E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STATUS + EVENT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19C310-0203-48EC-9755-BC49706A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488200-7619-49C7-A5C7-17F754EF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678BE"/>
                </a:solidFill>
              </a:defRPr>
            </a:defPPr>
            <a:lvl1pPr>
              <a:defRPr sz="750" b="1">
                <a:solidFill>
                  <a:srgbClr val="1678BE"/>
                </a:solidFill>
              </a:defRPr>
            </a:lvl1pPr>
            <a:lvl2pPr>
              <a:defRPr sz="750" b="1">
                <a:solidFill>
                  <a:srgbClr val="1678BE"/>
                </a:solidFill>
              </a:defRPr>
            </a:lvl2pPr>
            <a:lvl3pPr>
              <a:defRPr sz="750" b="1">
                <a:solidFill>
                  <a:srgbClr val="1678BE"/>
                </a:solidFill>
              </a:defRPr>
            </a:lvl3pPr>
            <a:lvl4pPr>
              <a:defRPr sz="750" b="1">
                <a:solidFill>
                  <a:srgbClr val="1678BE"/>
                </a:solidFill>
              </a:defRPr>
            </a:lvl4pPr>
            <a:lvl5pPr>
              <a:defRPr sz="750" b="1">
                <a:solidFill>
                  <a:srgbClr val="1678BE"/>
                </a:solidFill>
              </a:defRPr>
            </a:lvl5pPr>
            <a:lvl6pPr>
              <a:defRPr sz="750" b="1">
                <a:solidFill>
                  <a:srgbClr val="1678BE"/>
                </a:solidFill>
              </a:defRPr>
            </a:lvl6pPr>
            <a:lvl7pPr>
              <a:defRPr sz="750" b="1">
                <a:solidFill>
                  <a:srgbClr val="1678BE"/>
                </a:solidFill>
              </a:defRPr>
            </a:lvl7pPr>
            <a:lvl8pPr>
              <a:defRPr sz="750" b="1">
                <a:solidFill>
                  <a:srgbClr val="1678BE"/>
                </a:solidFill>
              </a:defRPr>
            </a:lvl8pPr>
            <a:lvl9pPr>
              <a:defRPr sz="7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678BE"/>
                </a:solidFill>
              </a:defRPr>
            </a:pPr>
            <a:r>
              <a:rPr sz="750" b="1">
                <a:solidFill>
                  <a:srgbClr val="1678BE"/>
                </a:solidFill>
              </a:rPr>
              <a:t>POSE + 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63A43C-7314-4FC6-B47F-C0CA5D64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8382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8BE"/>
          </a:solidFill>
          <a:ln xmlns:a="http://schemas.openxmlformats.org/drawingml/2006/main" w="0">
            <a:solidFill>
              <a:srgbClr val="1678B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7F450F-36BE-4E45-B408-E18AB52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7215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ผู้ใช้สั่งงานและติดตามภารกิจจากเว็บ โดยไม่ต้องติดต่อ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369064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81CA41-C7DC-4914-80C0-0E43DC7A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MISSION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038EA-02E5-4A24-957F-8AA01509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0543F-C650-4CF9-AC53-997EB02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ลำดับการทำงานของภารกิจ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59FA3-E7CA-42BB-B7A5-84804F2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2DCFC-1572-468A-BB30-220489B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หนึ่งภารกิจประกอบด้วยการเดินทาง และการยืนยันรับ–ส่งผ่านหน้าเว็บ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1C6BB-816E-45C5-9774-9921D486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ลำดับปกติ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C813E-F3D1-43B9-B75D-FF7EAF5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3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ชื่อภาษาไทยอธิบายสิ่งที่ผู้ใช้เห็น ส่วนรหัสด้านล่างคือสถานะที่ระบบบันทึก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4FC86-B464-4A13-8897-EB53F708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B2448-2343-4BC3-B81E-FE30B86A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B424A-DE24-44D4-ADD9-04F1AB4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เข้าคิว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C1CEA-C975-4A92-9299-A878ADD5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QUEUED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0444A-A884-4A8C-AD15-639611E6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CBB3C-1B5D-4A10-9592-F1285E8C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7D13B-4E4E-47B9-9E9C-2F14773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19B6C-5F74-4F65-8E4F-CAED0915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ไปยังจุดรับ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54DE5-A43E-4806-8436-FB622BBB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GOING_TO_PICKUP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F7EC0-CFC4-40B0-828A-9EAF8CFE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71AEC-6941-4208-AE2E-32632A4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80B87-3401-466E-ABDF-11BF1C0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A3E9C-6F1E-4910-A06F-432C4C54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รอยืนยันการวาง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3BAF8-1092-4F18-B556-6C6D8BA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WAITING_FOR_LOADING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014B2-57AC-4A91-9979-D49163F8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F459F-71D2-4B1A-AB27-76DB761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8E930-6C0C-46B1-BCE2-451C9C87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08BC1-52F4-4978-B1D2-A0F26EE7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ไปยังปลายทาง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0CBA2-0071-454D-A15C-212DF784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DELIVERING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DE907-48FB-4A5F-AE4F-D505165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BCCD5-872D-48AA-A869-7D11109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E5620-5DFA-45BD-91DC-CE67CCF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025D7-3A12-44CC-9192-CD7B75FE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รอยืนยันการรับ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A09B51-9CC0-4127-9DEF-36C2D88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58718B"/>
                </a:solidFill>
              </a:defRPr>
            </a:defPPr>
            <a:lvl1pPr>
              <a:defRPr sz="525" b="1">
                <a:solidFill>
                  <a:srgbClr val="58718B"/>
                </a:solidFill>
              </a:defRPr>
            </a:lvl1pPr>
            <a:lvl2pPr>
              <a:defRPr sz="525" b="1">
                <a:solidFill>
                  <a:srgbClr val="58718B"/>
                </a:solidFill>
              </a:defRPr>
            </a:lvl2pPr>
            <a:lvl3pPr>
              <a:defRPr sz="525" b="1">
                <a:solidFill>
                  <a:srgbClr val="58718B"/>
                </a:solidFill>
              </a:defRPr>
            </a:lvl3pPr>
            <a:lvl4pPr>
              <a:defRPr sz="525" b="1">
                <a:solidFill>
                  <a:srgbClr val="58718B"/>
                </a:solidFill>
              </a:defRPr>
            </a:lvl4pPr>
            <a:lvl5pPr>
              <a:defRPr sz="525" b="1">
                <a:solidFill>
                  <a:srgbClr val="58718B"/>
                </a:solidFill>
              </a:defRPr>
            </a:lvl5pPr>
            <a:lvl6pPr>
              <a:defRPr sz="525" b="1">
                <a:solidFill>
                  <a:srgbClr val="58718B"/>
                </a:solidFill>
              </a:defRPr>
            </a:lvl6pPr>
            <a:lvl7pPr>
              <a:defRPr sz="525" b="1">
                <a:solidFill>
                  <a:srgbClr val="58718B"/>
                </a:solidFill>
              </a:defRPr>
            </a:lvl7pPr>
            <a:lvl8pPr>
              <a:defRPr sz="525" b="1">
                <a:solidFill>
                  <a:srgbClr val="58718B"/>
                </a:solidFill>
              </a:defRPr>
            </a:lvl8pPr>
            <a:lvl9pPr>
              <a:defRPr sz="52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58718B"/>
                </a:solidFill>
              </a:defRPr>
            </a:pPr>
            <a:r>
              <a:rPr sz="525" b="1">
                <a:solidFill>
                  <a:srgbClr val="58718B"/>
                </a:solidFill>
              </a:rPr>
              <a:t>WAITING_FOR_UNLOADING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8E236-5344-4BE6-98A6-40A160D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BDD8"/>
          </a:solidFill>
          <a:ln xmlns:a="http://schemas.openxmlformats.org/drawingml/2006/main" w="0">
            <a:solidFill>
              <a:srgbClr val="55B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91D32-1839-4588-BEA7-95530A0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14550"/>
            <a:ext cx="165735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9451EF-CBD7-4337-8BB9-C167CDC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5BDD8"/>
                </a:solidFill>
              </a:defRPr>
            </a:defPPr>
            <a:lvl1pPr>
              <a:defRPr sz="900" b="1">
                <a:solidFill>
                  <a:srgbClr val="55BDD8"/>
                </a:solidFill>
              </a:defRPr>
            </a:lvl1pPr>
            <a:lvl2pPr>
              <a:defRPr sz="900" b="1">
                <a:solidFill>
                  <a:srgbClr val="55BDD8"/>
                </a:solidFill>
              </a:defRPr>
            </a:lvl2pPr>
            <a:lvl3pPr>
              <a:defRPr sz="900" b="1">
                <a:solidFill>
                  <a:srgbClr val="55BDD8"/>
                </a:solidFill>
              </a:defRPr>
            </a:lvl3pPr>
            <a:lvl4pPr>
              <a:defRPr sz="900" b="1">
                <a:solidFill>
                  <a:srgbClr val="55BDD8"/>
                </a:solidFill>
              </a:defRPr>
            </a:lvl4pPr>
            <a:lvl5pPr>
              <a:defRPr sz="900" b="1">
                <a:solidFill>
                  <a:srgbClr val="55BDD8"/>
                </a:solidFill>
              </a:defRPr>
            </a:lvl5pPr>
            <a:lvl6pPr>
              <a:defRPr sz="900" b="1">
                <a:solidFill>
                  <a:srgbClr val="55BDD8"/>
                </a:solidFill>
              </a:defRPr>
            </a:lvl6pPr>
            <a:lvl7pPr>
              <a:defRPr sz="900" b="1">
                <a:solidFill>
                  <a:srgbClr val="55BDD8"/>
                </a:solidFill>
              </a:defRPr>
            </a:lvl7pPr>
            <a:lvl8pPr>
              <a:defRPr sz="900" b="1">
                <a:solidFill>
                  <a:srgbClr val="55BDD8"/>
                </a:solidFill>
              </a:defRPr>
            </a:lvl8pPr>
            <a:lvl9pPr>
              <a:defRPr sz="9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5BDD8"/>
                </a:solidFill>
              </a:defRPr>
            </a:pPr>
            <a:r>
              <a:rPr sz="900" b="1">
                <a:solidFill>
                  <a:srgbClr val="55BDD8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9D413D-172C-4419-9A3A-7AA0972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47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เสร็จสิ้น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515773-2A94-4330-BE9B-41A19B97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0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" b="1">
                <a:solidFill>
                  <a:srgbClr val="FFFFFF"/>
                </a:solidFill>
              </a:defRPr>
            </a:defPPr>
            <a:lvl1pPr>
              <a:defRPr sz="525" b="1">
                <a:solidFill>
                  <a:srgbClr val="FFFFFF"/>
                </a:solidFill>
              </a:defRPr>
            </a:lvl1pPr>
            <a:lvl2pPr>
              <a:defRPr sz="525" b="1">
                <a:solidFill>
                  <a:srgbClr val="FFFFFF"/>
                </a:solidFill>
              </a:defRPr>
            </a:lvl2pPr>
            <a:lvl3pPr>
              <a:defRPr sz="525" b="1">
                <a:solidFill>
                  <a:srgbClr val="FFFFFF"/>
                </a:solidFill>
              </a:defRPr>
            </a:lvl3pPr>
            <a:lvl4pPr>
              <a:defRPr sz="525" b="1">
                <a:solidFill>
                  <a:srgbClr val="FFFFFF"/>
                </a:solidFill>
              </a:defRPr>
            </a:lvl4pPr>
            <a:lvl5pPr>
              <a:defRPr sz="525" b="1">
                <a:solidFill>
                  <a:srgbClr val="FFFFFF"/>
                </a:solidFill>
              </a:defRPr>
            </a:lvl5pPr>
            <a:lvl6pPr>
              <a:defRPr sz="525" b="1">
                <a:solidFill>
                  <a:srgbClr val="FFFFFF"/>
                </a:solidFill>
              </a:defRPr>
            </a:lvl6pPr>
            <a:lvl7pPr>
              <a:defRPr sz="525" b="1">
                <a:solidFill>
                  <a:srgbClr val="FFFFFF"/>
                </a:solidFill>
              </a:defRPr>
            </a:lvl7pPr>
            <a:lvl8pPr>
              <a:defRPr sz="525" b="1">
                <a:solidFill>
                  <a:srgbClr val="FFFFFF"/>
                </a:solidFill>
              </a:defRPr>
            </a:lvl8pPr>
            <a:lvl9pPr>
              <a:defRPr sz="5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25" b="1">
                <a:solidFill>
                  <a:srgbClr val="FFFFFF"/>
                </a:solidFill>
              </a:defRPr>
            </a:pPr>
            <a:r>
              <a:rPr sz="525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3F1DF1-9EE6-41E5-B4A4-D8D9868A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95362"/>
                </a:solidFill>
              </a:defRPr>
            </a:defPPr>
            <a:lvl1pPr>
              <a:defRPr sz="1125" b="1">
                <a:solidFill>
                  <a:srgbClr val="D95362"/>
                </a:solidFill>
              </a:defRPr>
            </a:lvl1pPr>
            <a:lvl2pPr>
              <a:defRPr sz="1125" b="1">
                <a:solidFill>
                  <a:srgbClr val="D95362"/>
                </a:solidFill>
              </a:defRPr>
            </a:lvl2pPr>
            <a:lvl3pPr>
              <a:defRPr sz="1125" b="1">
                <a:solidFill>
                  <a:srgbClr val="D95362"/>
                </a:solidFill>
              </a:defRPr>
            </a:lvl3pPr>
            <a:lvl4pPr>
              <a:defRPr sz="1125" b="1">
                <a:solidFill>
                  <a:srgbClr val="D95362"/>
                </a:solidFill>
              </a:defRPr>
            </a:lvl4pPr>
            <a:lvl5pPr>
              <a:defRPr sz="1125" b="1">
                <a:solidFill>
                  <a:srgbClr val="D95362"/>
                </a:solidFill>
              </a:defRPr>
            </a:lvl5pPr>
            <a:lvl6pPr>
              <a:defRPr sz="1125" b="1">
                <a:solidFill>
                  <a:srgbClr val="D95362"/>
                </a:solidFill>
              </a:defRPr>
            </a:lvl6pPr>
            <a:lvl7pPr>
              <a:defRPr sz="1125" b="1">
                <a:solidFill>
                  <a:srgbClr val="D95362"/>
                </a:solidFill>
              </a:defRPr>
            </a:lvl7pPr>
            <a:lvl8pPr>
              <a:defRPr sz="1125" b="1">
                <a:solidFill>
                  <a:srgbClr val="D95362"/>
                </a:solidFill>
              </a:defRPr>
            </a:lvl8pPr>
            <a:lvl9pPr>
              <a:defRPr sz="1125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95362"/>
                </a:solidFill>
              </a:defRPr>
            </a:pPr>
            <a:r>
              <a:rPr sz="1125" b="1">
                <a:solidFill>
                  <a:srgbClr val="D95362"/>
                </a:solidFill>
              </a:rPr>
              <a:t>กรณีสิ้นสุดอื่น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BFABB0-3D81-4C03-9B73-F1484C95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3429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0B3305-449D-42F1-A989-F7EE42C8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ยกเลิก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8F707-2A30-497C-B64A-FF9AEE9C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95362"/>
                </a:solidFill>
              </a:defRPr>
            </a:defPPr>
            <a:lvl1pPr>
              <a:defRPr sz="750" b="1">
                <a:solidFill>
                  <a:srgbClr val="D95362"/>
                </a:solidFill>
              </a:defRPr>
            </a:lvl1pPr>
            <a:lvl2pPr>
              <a:defRPr sz="750" b="1">
                <a:solidFill>
                  <a:srgbClr val="D95362"/>
                </a:solidFill>
              </a:defRPr>
            </a:lvl2pPr>
            <a:lvl3pPr>
              <a:defRPr sz="750" b="1">
                <a:solidFill>
                  <a:srgbClr val="D95362"/>
                </a:solidFill>
              </a:defRPr>
            </a:lvl3pPr>
            <a:lvl4pPr>
              <a:defRPr sz="750" b="1">
                <a:solidFill>
                  <a:srgbClr val="D95362"/>
                </a:solidFill>
              </a:defRPr>
            </a:lvl4pPr>
            <a:lvl5pPr>
              <a:defRPr sz="750" b="1">
                <a:solidFill>
                  <a:srgbClr val="D95362"/>
                </a:solidFill>
              </a:defRPr>
            </a:lvl5pPr>
            <a:lvl6pPr>
              <a:defRPr sz="750" b="1">
                <a:solidFill>
                  <a:srgbClr val="D95362"/>
                </a:solidFill>
              </a:defRPr>
            </a:lvl6pPr>
            <a:lvl7pPr>
              <a:defRPr sz="750" b="1">
                <a:solidFill>
                  <a:srgbClr val="D95362"/>
                </a:solidFill>
              </a:defRPr>
            </a:lvl7pPr>
            <a:lvl8pPr>
              <a:defRPr sz="750" b="1">
                <a:solidFill>
                  <a:srgbClr val="D95362"/>
                </a:solidFill>
              </a:defRPr>
            </a:lvl8pPr>
            <a:lvl9pPr>
              <a:defRPr sz="7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95362"/>
                </a:solidFill>
              </a:defRPr>
            </a:pPr>
            <a:r>
              <a:rPr sz="750" b="1">
                <a:solidFill>
                  <a:srgbClr val="D95362"/>
                </a:solidFill>
              </a:rPr>
              <a:t>CANCELLED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34888-77C3-4CFB-8500-036D6F9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ผู้ใช้หรือผู้ดูแลยกเลิกภารกิจก่อนเริ่มเดินทาง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0F0D35-290D-4BCA-AA81-B65CD7BE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34290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4604AD-A439-4071-A9E1-20DDF9D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ล้มเหลว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16FB9C-1FBE-4D45-9305-E90E2A07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D95362"/>
                </a:solidFill>
              </a:defRPr>
            </a:defPPr>
            <a:lvl1pPr>
              <a:defRPr sz="750" b="1">
                <a:solidFill>
                  <a:srgbClr val="D95362"/>
                </a:solidFill>
              </a:defRPr>
            </a:lvl1pPr>
            <a:lvl2pPr>
              <a:defRPr sz="750" b="1">
                <a:solidFill>
                  <a:srgbClr val="D95362"/>
                </a:solidFill>
              </a:defRPr>
            </a:lvl2pPr>
            <a:lvl3pPr>
              <a:defRPr sz="750" b="1">
                <a:solidFill>
                  <a:srgbClr val="D95362"/>
                </a:solidFill>
              </a:defRPr>
            </a:lvl3pPr>
            <a:lvl4pPr>
              <a:defRPr sz="750" b="1">
                <a:solidFill>
                  <a:srgbClr val="D95362"/>
                </a:solidFill>
              </a:defRPr>
            </a:lvl4pPr>
            <a:lvl5pPr>
              <a:defRPr sz="750" b="1">
                <a:solidFill>
                  <a:srgbClr val="D95362"/>
                </a:solidFill>
              </a:defRPr>
            </a:lvl5pPr>
            <a:lvl6pPr>
              <a:defRPr sz="750" b="1">
                <a:solidFill>
                  <a:srgbClr val="D95362"/>
                </a:solidFill>
              </a:defRPr>
            </a:lvl6pPr>
            <a:lvl7pPr>
              <a:defRPr sz="750" b="1">
                <a:solidFill>
                  <a:srgbClr val="D95362"/>
                </a:solidFill>
              </a:defRPr>
            </a:lvl7pPr>
            <a:lvl8pPr>
              <a:defRPr sz="750" b="1">
                <a:solidFill>
                  <a:srgbClr val="D95362"/>
                </a:solidFill>
              </a:defRPr>
            </a:lvl8pPr>
            <a:lvl9pPr>
              <a:defRPr sz="7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D95362"/>
                </a:solidFill>
              </a:defRPr>
            </a:pPr>
            <a:r>
              <a:rPr sz="750" b="1">
                <a:solidFill>
                  <a:srgbClr val="D95362"/>
                </a:solidFill>
              </a:rPr>
              <a:t>FAILED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5E78A1-0934-4399-B5AC-A9C876C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4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ระบบนำทางไม่สำเร็จ หรือไม่สามารถรับเป้าหมายได้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92A28B-D192-4B04-B5F7-AD9F7D62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8671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2F740E-C44E-41DB-9557-B1C47D1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A3B82"/>
                </a:solidFill>
              </a:defRPr>
            </a:defPPr>
            <a:lvl1pPr>
              <a:defRPr sz="1200" b="1">
                <a:solidFill>
                  <a:srgbClr val="0A3B82"/>
                </a:solidFill>
              </a:defRPr>
            </a:lvl1pPr>
            <a:lvl2pPr>
              <a:defRPr sz="1200" b="1">
                <a:solidFill>
                  <a:srgbClr val="0A3B82"/>
                </a:solidFill>
              </a:defRPr>
            </a:lvl2pPr>
            <a:lvl3pPr>
              <a:defRPr sz="1200" b="1">
                <a:solidFill>
                  <a:srgbClr val="0A3B82"/>
                </a:solidFill>
              </a:defRPr>
            </a:lvl3pPr>
            <a:lvl4pPr>
              <a:defRPr sz="1200" b="1">
                <a:solidFill>
                  <a:srgbClr val="0A3B82"/>
                </a:solidFill>
              </a:defRPr>
            </a:lvl4pPr>
            <a:lvl5pPr>
              <a:defRPr sz="1200" b="1">
                <a:solidFill>
                  <a:srgbClr val="0A3B82"/>
                </a:solidFill>
              </a:defRPr>
            </a:lvl5pPr>
            <a:lvl6pPr>
              <a:defRPr sz="1200" b="1">
                <a:solidFill>
                  <a:srgbClr val="0A3B82"/>
                </a:solidFill>
              </a:defRPr>
            </a:lvl6pPr>
            <a:lvl7pPr>
              <a:defRPr sz="1200" b="1">
                <a:solidFill>
                  <a:srgbClr val="0A3B82"/>
                </a:solidFill>
              </a:defRPr>
            </a:lvl7pPr>
            <a:lvl8pPr>
              <a:defRPr sz="1200" b="1">
                <a:solidFill>
                  <a:srgbClr val="0A3B82"/>
                </a:solidFill>
              </a:defRPr>
            </a:lvl8pPr>
            <a:lvl9pPr>
              <a:defRPr sz="12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A3B82"/>
                </a:solidFill>
              </a:defRPr>
            </a:pPr>
            <a:r>
              <a:rPr sz="1200" b="1">
                <a:solidFill>
                  <a:srgbClr val="0A3B82"/>
                </a:solidFill>
              </a:rPr>
              <a:t>ขอบเขตของต้นแบบ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7C5450-6939-40A8-AD09-B8D9861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02A43"/>
                </a:solidFill>
              </a:defRPr>
            </a:defPPr>
            <a:lvl1pPr>
              <a:defRPr sz="975" b="0">
                <a:solidFill>
                  <a:srgbClr val="102A43"/>
                </a:solidFill>
              </a:defRPr>
            </a:lvl1pPr>
            <a:lvl2pPr>
              <a:defRPr sz="975" b="0">
                <a:solidFill>
                  <a:srgbClr val="102A43"/>
                </a:solidFill>
              </a:defRPr>
            </a:lvl2pPr>
            <a:lvl3pPr>
              <a:defRPr sz="975" b="0">
                <a:solidFill>
                  <a:srgbClr val="102A43"/>
                </a:solidFill>
              </a:defRPr>
            </a:lvl3pPr>
            <a:lvl4pPr>
              <a:defRPr sz="975" b="0">
                <a:solidFill>
                  <a:srgbClr val="102A43"/>
                </a:solidFill>
              </a:defRPr>
            </a:lvl4pPr>
            <a:lvl5pPr>
              <a:defRPr sz="975" b="0">
                <a:solidFill>
                  <a:srgbClr val="102A43"/>
                </a:solidFill>
              </a:defRPr>
            </a:lvl5pPr>
            <a:lvl6pPr>
              <a:defRPr sz="975" b="0">
                <a:solidFill>
                  <a:srgbClr val="102A43"/>
                </a:solidFill>
              </a:defRPr>
            </a:lvl6pPr>
            <a:lvl7pPr>
              <a:defRPr sz="975" b="0">
                <a:solidFill>
                  <a:srgbClr val="102A43"/>
                </a:solidFill>
              </a:defRPr>
            </a:lvl7pPr>
            <a:lvl8pPr>
              <a:defRPr sz="975" b="0">
                <a:solidFill>
                  <a:srgbClr val="102A43"/>
                </a:solidFill>
              </a:defRPr>
            </a:lvl8pPr>
            <a:lvl9pPr>
              <a:defRPr sz="9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การวางและรับสิ่งของยืนยันผ่านเว็บ</a:t>
            </a:r>
          </a:p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เนื่องจากยังไม่มีเซนเซอร์ตรวจสิ่งของ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04281D-38B8-46B3-9789-03F6E88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ทุกสถานะถูกบันทึกเป็น Event History เพื่อให้ผู้ใช้ตรวจสอบย้อนหลังได้</a:t>
            </a:r>
          </a:p>
        </p:txBody>
      </p:sp>
    </p:spTree>
    <p:extLst>
      <p:ext uri="{BB962C8B-B14F-4D97-AF65-F5344CB8AC3E}">
        <p14:creationId xmlns:p14="http://schemas.microsoft.com/office/powerpoint/2010/main" val="7674597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C5AD6-1B1A-4B19-8FF1-10DD579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11937-B367-43A0-B72A-840B46E4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12628-70D6-4592-A7FD-0D1AEBC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การทดสอบแบ่งเป็น 3 ส่วน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1E62B-0CE1-4136-A607-0FE3F3F9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C150C-585C-44CC-B806-B7AC944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แต่ละส่วนตรวจคนละระดับ ก่อนนำผลมาพิจารณาร่วมกัน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610BB-2FCB-494D-85B4-1C642F7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45D34-E62A-4A18-92AA-6CDD8E68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C0B4A-6339-40AC-B19E-CCCB633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WEB APPLICATION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10CD-3040-47AE-BB47-111155F1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07353-EC50-48E7-A76C-78C9AF6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ตรวจสิทธิ์ผู้ใช้ หน้าจอภารกิจ คิว สถานะ และ Event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4353C-C033-49DE-AAD5-344A419B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13 และ 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2C662-1297-447A-9915-BF414D0F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474D-4225-410E-B644-001195D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0BC2C-3B28-4B0E-ADC9-4D72E5D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ROBOT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9F361-AEE0-4E70-BE55-9BAA3431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B21BD-1A60-4885-9A85-89E36B72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ตรวจการสร้างแผนที่ การเลือกแผนที่ และ Localization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210CA-C298-4378-9FE4-C187C59F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714AA-74B7-490A-B2A4-5E5ADF92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333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A5E37-882D-4CE3-8A39-44691FD5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5CC07-47AE-48B5-BE72-37D017F6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A3B82"/>
                </a:solidFill>
              </a:defRPr>
            </a:defPPr>
            <a:lvl1pPr>
              <a:defRPr sz="1500" b="1">
                <a:solidFill>
                  <a:srgbClr val="0A3B82"/>
                </a:solidFill>
              </a:defRPr>
            </a:lvl1pPr>
            <a:lvl2pPr>
              <a:defRPr sz="1500" b="1">
                <a:solidFill>
                  <a:srgbClr val="0A3B82"/>
                </a:solidFill>
              </a:defRPr>
            </a:lvl2pPr>
            <a:lvl3pPr>
              <a:defRPr sz="1500" b="1">
                <a:solidFill>
                  <a:srgbClr val="0A3B82"/>
                </a:solidFill>
              </a:defRPr>
            </a:lvl3pPr>
            <a:lvl4pPr>
              <a:defRPr sz="1500" b="1">
                <a:solidFill>
                  <a:srgbClr val="0A3B82"/>
                </a:solidFill>
              </a:defRPr>
            </a:lvl4pPr>
            <a:lvl5pPr>
              <a:defRPr sz="1500" b="1">
                <a:solidFill>
                  <a:srgbClr val="0A3B82"/>
                </a:solidFill>
              </a:defRPr>
            </a:lvl5pPr>
            <a:lvl6pPr>
              <a:defRPr sz="1500" b="1">
                <a:solidFill>
                  <a:srgbClr val="0A3B82"/>
                </a:solidFill>
              </a:defRPr>
            </a:lvl6pPr>
            <a:lvl7pPr>
              <a:defRPr sz="1500" b="1">
                <a:solidFill>
                  <a:srgbClr val="0A3B82"/>
                </a:solidFill>
              </a:defRPr>
            </a:lvl7pPr>
            <a:lvl8pPr>
              <a:defRPr sz="1500" b="1">
                <a:solidFill>
                  <a:srgbClr val="0A3B82"/>
                </a:solidFill>
              </a:defRPr>
            </a:lvl8pPr>
            <a:lvl9pPr>
              <a:defRPr sz="15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A3B82"/>
                </a:solidFill>
              </a:defRPr>
            </a:pPr>
            <a:r>
              <a:rPr sz="1500" b="1">
                <a:solidFill>
                  <a:srgbClr val="0A3B82"/>
                </a:solidFill>
              </a:rPr>
              <a:t>INTEGRATION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56E34-003F-4648-A97E-7899022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ทดสอบอะไร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F4D8D-8996-4810-8E82-B63B1BB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ตรวจการส่งภารกิจผ่าน Robot Agent และการส่งสถานะกลับ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FD630-43B6-4E0C-916B-30F1490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718B"/>
                </a:solidFill>
              </a:defRPr>
            </a:defPPr>
            <a:lvl1pPr>
              <a:defRPr sz="900" b="1">
                <a:solidFill>
                  <a:srgbClr val="58718B"/>
                </a:solidFill>
              </a:defRPr>
            </a:lvl1pPr>
            <a:lvl2pPr>
              <a:defRPr sz="900" b="1">
                <a:solidFill>
                  <a:srgbClr val="58718B"/>
                </a:solidFill>
              </a:defRPr>
            </a:lvl2pPr>
            <a:lvl3pPr>
              <a:defRPr sz="900" b="1">
                <a:solidFill>
                  <a:srgbClr val="58718B"/>
                </a:solidFill>
              </a:defRPr>
            </a:lvl3pPr>
            <a:lvl4pPr>
              <a:defRPr sz="900" b="1">
                <a:solidFill>
                  <a:srgbClr val="58718B"/>
                </a:solidFill>
              </a:defRPr>
            </a:lvl4pPr>
            <a:lvl5pPr>
              <a:defRPr sz="900" b="1">
                <a:solidFill>
                  <a:srgbClr val="58718B"/>
                </a:solidFill>
              </a:defRPr>
            </a:lvl5pPr>
            <a:lvl6pPr>
              <a:defRPr sz="900" b="1">
                <a:solidFill>
                  <a:srgbClr val="58718B"/>
                </a:solidFill>
              </a:defRPr>
            </a:lvl6pPr>
            <a:lvl7pPr>
              <a:defRPr sz="900" b="1">
                <a:solidFill>
                  <a:srgbClr val="58718B"/>
                </a:solidFill>
              </a:defRPr>
            </a:lvl7pPr>
            <a:lvl8pPr>
              <a:defRPr sz="900" b="1">
                <a:solidFill>
                  <a:srgbClr val="58718B"/>
                </a:solidFill>
              </a:defRPr>
            </a:lvl8pPr>
            <a:lvl9pPr>
              <a:defRPr sz="90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8718B"/>
                </a:solidFill>
              </a:defRPr>
            </a:pPr>
            <a:r>
              <a:rPr sz="900" b="1">
                <a:solidFill>
                  <a:srgbClr val="58718B"/>
                </a:solidFill>
              </a:rPr>
              <a:t>ผลลัพธ์แสดงในหน้า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4F90B-62F5-49B7-BD7D-A50E599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1123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ผลทดสอบต่อไปนี้ยืนยันเฉพาะกรณีที่บันทึกไว้ ไม่ใช้แทนอัตราความสำเร็จรวมของระบบ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49188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E9F99-C26B-4318-AADE-37B8D26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5A1DD-706A-4C86-87A3-2268C0C0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65D3B-CCBA-430D-B30A-2C73447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สิทธิ์และหน้าจอผู้ใช้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20468-A3F9-4F85-AFD9-55E84B56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6CEE2-8E04-4651-B763-986D225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ตรวจว่าผู้ดูแลระบบและผู้ใช้งานทั่วไปเห็นข้อมูลตามบทบาทที่กำหนด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25843-119C-44CF-B2EC-5C17B86C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A68ED-382A-4072-87F6-FE06E96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เข้าสู่ระบบด้วยบัญชีต่างบทบาท แล้วตรวจเมนู แดชบอร์ด แผนที่ และข้อมูลภารกิจที่แต่ละบทบาทเข้าถึงได้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FF9BD-57C4-4269-AE5F-114A8E58AE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8389d703b4a69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4A97F-3EEC-47AA-8637-A0E44ADD0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d0e12314f4a25"/>
          <a:srcRect xmlns:a="http://schemas.openxmlformats.org/drawingml/2006/main" l="4894" t="0" r="4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BF8B9-84DD-49C4-986F-4414B886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ADMIN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04FCE-39B7-40D5-84DA-DDFEA2A4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ผู้ดูแลตรวจสถานะระบบและจัดการข้อมูลส่วนกลาง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92621-A0A1-43A0-AD77-3AF1592C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USER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55742-8ABD-418C-813C-41B22FF2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ผู้ใช้ติดตามภารกิจและข้อมูลของตนเอง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15577067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5B4D7-A952-43D6-8D6C-3D5C8895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WEB APPLICATION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8F721-017C-408C-A3ED-3B1FE56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6F10A-AB38-48CD-ABA3-EE3DE0C9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Web Application Test: คิว สถานะ และประวัติ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134E4-F09F-4A3E-99F4-C89641F4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6C340-3CFA-4E77-869D-BCC7F57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ตรวจการบันทึกสถานะของภารกิจตั้งแต่สร้างงานจนสิ้นสุด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41ED0-0FDE-4ABA-ABF4-6B2B65F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D9558-325A-4A98-830E-93B5CD0B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621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 ตรวจลำดับคิว และเปิด Event History เพื่อดูเวลา ผู้ก่อเหตุ และการเปลี่ยนสถานะของแต่ละขั้น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49F01-3130-4223-8F56-32C270153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6bd6d6348413e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133600"/>
            <a:ext cx="5334000" cy="32385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0C1FB-B3D7-480D-82CF-8E33D0E00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da420deb84e47"/>
          <a:srcRect xmlns:a="http://schemas.openxmlformats.org/drawingml/2006/main" l="6488" t="0" r="6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33600"/>
            <a:ext cx="5334000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47C8F-33E4-433C-968B-CEC73637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TASK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FDB06-C0F0-4D2F-87F0-37CE5BDD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หน้ารวมแสดงคิว เส้นทาง เจ้าของงาน และสถานะล่าสุด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2DE65-F562-4906-AB5B-20092D39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EVENT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7B9D7-37D0-443E-84D8-D2213DC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ประวัติบันทึกเวลา แหล่งที่มา และการเปลี่ยนสถานะ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680253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1D2F6-9036-4AF0-B100-B5C3E8F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ROBOT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99708-A45A-41E5-9590-76C1A388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B169-3156-494B-9324-E581BFE9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Robot Test: SLAM and Localization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D772C-55CD-48CA-ADCA-6067D62C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F0FC9-EBAC-411F-967F-A58A379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ตรวจการสร้าง Map-Test-01 และการกำหนด Initial Pose บนหุ่นยนต์จริง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0D47B-FEEF-4251-8890-2A471DF2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1884-EA4E-4742-952D-F50BB37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ควบคุมฐานระหว่างสร้างแผนที่ บันทึกแผนที่ แล้วเลือกแผนที่เพื่อกำหนดตำแหน่งเริ่มต้นด้วย AMCL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3DE79-B5A8-4B55-8D06-36F5C57A65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45e8a24d44fac"/>
          <a:srcRect xmlns:a="http://schemas.openxmlformats.org/drawingml/2006/main" l="8209" t="0" r="82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000250"/>
            <a:ext cx="5334000" cy="3371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C0B1C-3403-4390-B58B-3B7E79409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9209cba194865"/>
          <a:srcRect xmlns:a="http://schemas.openxmlformats.org/drawingml/2006/main" l="5508" t="0" r="5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000250"/>
            <a:ext cx="5334000" cy="3371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B3C7A-2715-4262-9C65-0B451A27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6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WEB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1C5A5-ECC7-410F-A7CE-2A51CEF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หน้าเว็บรับ occupancy map จาก ROS 2 ระหว่างควบคุมฐาน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0E6F2-53AF-490D-A141-7AE25B1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62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LOCALIZATION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843F0-A86F-4DD3-8468-453313AA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483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ระบบยอมรับ Initial Pose และรายงานสถานะ Localized</a:t>
            </a:r>
          </a:p>
        </p:txBody>
      </p:sp>
    </p:spTree>
    <p:extLst>
      <p:ext uri="{BB962C8B-B14F-4D97-AF65-F5344CB8AC3E}">
        <p14:creationId xmlns:p14="http://schemas.microsoft.com/office/powerpoint/2010/main" val="655842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7307BD-2501-4273-AC4D-3DA8F62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INTEGRATION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E83A-0EE7-49AF-AF88-567AC21F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52BF7-0B2B-4A1E-B6DA-0A6BDF30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Integration Test: TASK-288 จากสถานี C ไปสถานี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6FE75-4DA0-4740-B215-0577A95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779EA-6A7E-4246-9DBC-3950F747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ตรวจการส่งภารกิจจากเว็บไปยัง Robot Agent และการส่งสถานะกลับ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EB2A2-AFF6-43AA-9833-ADC4DA74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สิ่งที่ทดสอบ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A5A99-E641-4CA4-A9A8-2C50EEA1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สร้างภารกิจผ่านเว็บ ให้หุ่นยนต์เดินทางไปจุดรับและปลายทาง แล้วตรวจลำดับเหตุการณ์ที่ระบบบันทึก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49FD6-C9D6-4042-A405-880DC838D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325c028b84a2e"/>
          <a:srcRect xmlns:a="http://schemas.openxmlformats.org/drawingml/2006/main" l="3070" t="0" r="3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943100"/>
            <a:ext cx="6076950" cy="3543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86D89-B824-43AA-BCFA-9BE95725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EVENT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B2435-A6F3-43E3-BE63-77D8D31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4514D-D561-4BD5-BCA3-C030176B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6727B-E7C9-466A-A56A-CAC9AB6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23:13:10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37FCE-4E23-45FF-8136-C84A4D2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and assigned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9BAAE-C7CC-4CD3-8315-C7A04BF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E5EBD-E95A-472B-8BCC-872C0ECA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C1836-6DF0-41A5-8766-28C46DE8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CBDBA-D9D9-452E-9EDC-3EA1FDBB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FCEFE-EEBB-4BB2-8555-E296D2E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B35D4-A2B7-4873-913C-929FC17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F64A0-00B9-495F-86BC-6BC32653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48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23:14:31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756C2-909C-4279-B034-FC64BB55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121C9-1123-4BC3-9715-3F21A497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0819E-2DD5-4FB2-88F7-B7F57BC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406DF-D58A-40CA-B0CE-F31E9AC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23:15:58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27D7A-DCC7-46D6-8ED7-E5D34B7D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20037-2EE8-4166-AC4F-6CA673C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5008F-AD4A-4AC3-B714-0C6C8F33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23:16:04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B9EFE-32AC-4719-912C-67E44DED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and completed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20F3F-18D3-4DDB-AA70-0929513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76850"/>
            <a:ext cx="44958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6F0B1-AEB3-48B6-B46A-0659C27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TOTAL ELAPSED  2 min 53 sec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C177C-F46B-4F15-812D-347B3F2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607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8718B"/>
                </a:solidFill>
              </a:defRPr>
            </a:defPPr>
            <a:lvl1pPr>
              <a:defRPr sz="975" b="0">
                <a:solidFill>
                  <a:srgbClr val="58718B"/>
                </a:solidFill>
              </a:defRPr>
            </a:lvl1pPr>
            <a:lvl2pPr>
              <a:defRPr sz="975" b="0">
                <a:solidFill>
                  <a:srgbClr val="58718B"/>
                </a:solidFill>
              </a:defRPr>
            </a:lvl2pPr>
            <a:lvl3pPr>
              <a:defRPr sz="975" b="0">
                <a:solidFill>
                  <a:srgbClr val="58718B"/>
                </a:solidFill>
              </a:defRPr>
            </a:lvl3pPr>
            <a:lvl4pPr>
              <a:defRPr sz="975" b="0">
                <a:solidFill>
                  <a:srgbClr val="58718B"/>
                </a:solidFill>
              </a:defRPr>
            </a:lvl4pPr>
            <a:lvl5pPr>
              <a:defRPr sz="975" b="0">
                <a:solidFill>
                  <a:srgbClr val="58718B"/>
                </a:solidFill>
              </a:defRPr>
            </a:lvl5pPr>
            <a:lvl6pPr>
              <a:defRPr sz="975" b="0">
                <a:solidFill>
                  <a:srgbClr val="58718B"/>
                </a:solidFill>
              </a:defRPr>
            </a:lvl6pPr>
            <a:lvl7pPr>
              <a:defRPr sz="975" b="0">
                <a:solidFill>
                  <a:srgbClr val="58718B"/>
                </a:solidFill>
              </a:defRPr>
            </a:lvl7pPr>
            <a:lvl8pPr>
              <a:defRPr sz="975" b="0">
                <a:solidFill>
                  <a:srgbClr val="58718B"/>
                </a:solidFill>
              </a:defRPr>
            </a:lvl8pPr>
            <a:lvl9pPr>
              <a:defRPr sz="97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8718B"/>
                </a:solidFill>
              </a:defRPr>
            </a:pPr>
            <a:r>
              <a:rPr sz="975" b="0">
                <a:solidFill>
                  <a:srgbClr val="58718B"/>
                </a:solidFill>
              </a:rPr>
              <a:t>ผลนี้ยืนยันเฉพาะกรณี TASK-288 ไม่ใช่อัตราความสำเร็จรวม</a:t>
            </a:r>
          </a:p>
        </p:txBody>
      </p:sp>
    </p:spTree>
    <p:extLst>
      <p:ext uri="{BB962C8B-B14F-4D97-AF65-F5344CB8AC3E}">
        <p14:creationId xmlns:p14="http://schemas.microsoft.com/office/powerpoint/2010/main" val="14879903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38AAA-C047-4566-BF6E-D5509C3C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21E63-BF67-44A3-BE57-74522866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385CA-E82D-4217-82B9-B12049D3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สรุปผลการดำเนินโครงงาน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3AF6E-F31B-4B7F-827A-01CF6B33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041BA-7A0E-4AB1-AC90-AE228088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ต้นแบบเชื่อมระบบนำทางของหุ่นยนต์กับการจัดการภารกิจผ่านเว็บเป็นกระบวนการเดียวกัน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1B62-CFAB-4E51-82FF-63D16C3E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53340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E73D7-E3F0-4A18-8837-C937E526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ระบบที่พัฒนา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79D42-50CE-4813-99FD-0068C12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6291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</a:defRPr>
            </a:defPPr>
            <a:lvl1pPr>
              <a:defRPr sz="1125" b="0">
                <a:solidFill>
                  <a:srgbClr val="FFFFFF"/>
                </a:solidFill>
              </a:defRPr>
            </a:lvl1pPr>
            <a:lvl2pPr>
              <a:defRPr sz="1125" b="0">
                <a:solidFill>
                  <a:srgbClr val="FFFFFF"/>
                </a:solidFill>
              </a:defRPr>
            </a:lvl2pPr>
            <a:lvl3pPr>
              <a:defRPr sz="1125" b="0">
                <a:solidFill>
                  <a:srgbClr val="FFFFFF"/>
                </a:solidFill>
              </a:defRPr>
            </a:lvl3pPr>
            <a:lvl4pPr>
              <a:defRPr sz="1125" b="0">
                <a:solidFill>
                  <a:srgbClr val="FFFFFF"/>
                </a:solidFill>
              </a:defRPr>
            </a:lvl4pPr>
            <a:lvl5pPr>
              <a:defRPr sz="1125" b="0">
                <a:solidFill>
                  <a:srgbClr val="FFFFFF"/>
                </a:solidFill>
              </a:defRPr>
            </a:lvl5pPr>
            <a:lvl6pPr>
              <a:defRPr sz="1125" b="0">
                <a:solidFill>
                  <a:srgbClr val="FFFFFF"/>
                </a:solidFill>
              </a:defRPr>
            </a:lvl6pPr>
            <a:lvl7pPr>
              <a:defRPr sz="1125" b="0">
                <a:solidFill>
                  <a:srgbClr val="FFFFFF"/>
                </a:solidFill>
              </a:defRPr>
            </a:lvl7pPr>
            <a:lvl8pPr>
              <a:defRPr sz="1125" b="0">
                <a:solidFill>
                  <a:srgbClr val="FFFFFF"/>
                </a:solidFill>
              </a:defRPr>
            </a:lvl8pPr>
            <a:lvl9pPr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ฐานหุ่นยนต์ Differential Drive ใช้ ODROID-C4 และ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ROS 2 ทำงานร่วมกับ SLAM Toolbox, AMCL และ Nav2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เว็บพัฒนาด้วย Next.js, FastAPI และ 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Robot Agent เชื่อมคำสั่งและสถานะระหว่างเว็บกับหุ่นยนต์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AB47D-FE01-4C82-A698-9015638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95450"/>
            <a:ext cx="56388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2D33E-DAEC-45BB-8E4D-421552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ผลการทดสอบเบื้องต้น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48555-951E-4230-A67B-8A48FADB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958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สร้างภารกิจ จัดคิว และติดตามสถานะจากเว็บได้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สร้างแผนที่และกำหนดตำแหน่งเริ่มต้นในพื้นที่ทดลองได้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• TASK-288 บันทึกลำดับเหตุการณ์ตั้งแต่รับงานจนเสร็จสิ้น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60F18-B59A-447B-BDC9-6ACD1732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A1045-39A6-4FCD-9B7F-1EC045F9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ข้อจำกัด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8BAF5-3470-4DA9-A058-C3302EB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ยังไม่มีโครงสร้างบรรทุกสิ่งของโดยเฉพาะ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C8E7E-8E76-420C-AC3F-5644047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การวางและรับสิ่งของยังยืนยันผ่านเว็บ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F992-E91E-4CF5-80DA-3D14F79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• ผลทดสอบยืนยันเฉพาะกรณีที่บันทึกไว้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  ยังไม่ใช่ผลความเสถียรระยะยาว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D9092-A2E4-48D7-AB2E-B19A0C4C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718B"/>
                </a:solidFill>
              </a:defRPr>
            </a:defPPr>
            <a:lvl1pPr>
              <a:defRPr sz="975" b="1">
                <a:solidFill>
                  <a:srgbClr val="58718B"/>
                </a:solidFill>
              </a:defRPr>
            </a:lvl1pPr>
            <a:lvl2pPr>
              <a:defRPr sz="975" b="1">
                <a:solidFill>
                  <a:srgbClr val="58718B"/>
                </a:solidFill>
              </a:defRPr>
            </a:lvl2pPr>
            <a:lvl3pPr>
              <a:defRPr sz="975" b="1">
                <a:solidFill>
                  <a:srgbClr val="58718B"/>
                </a:solidFill>
              </a:defRPr>
            </a:lvl3pPr>
            <a:lvl4pPr>
              <a:defRPr sz="975" b="1">
                <a:solidFill>
                  <a:srgbClr val="58718B"/>
                </a:solidFill>
              </a:defRPr>
            </a:lvl4pPr>
            <a:lvl5pPr>
              <a:defRPr sz="975" b="1">
                <a:solidFill>
                  <a:srgbClr val="58718B"/>
                </a:solidFill>
              </a:defRPr>
            </a:lvl5pPr>
            <a:lvl6pPr>
              <a:defRPr sz="975" b="1">
                <a:solidFill>
                  <a:srgbClr val="58718B"/>
                </a:solidFill>
              </a:defRPr>
            </a:lvl6pPr>
            <a:lvl7pPr>
              <a:defRPr sz="975" b="1">
                <a:solidFill>
                  <a:srgbClr val="58718B"/>
                </a:solidFill>
              </a:defRPr>
            </a:lvl7pPr>
            <a:lvl8pPr>
              <a:defRPr sz="975" b="1">
                <a:solidFill>
                  <a:srgbClr val="58718B"/>
                </a:solidFill>
              </a:defRPr>
            </a:lvl8pPr>
            <a:lvl9pPr>
              <a:defRPr sz="975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718B"/>
                </a:solidFill>
              </a:defRPr>
            </a:pPr>
            <a:r>
              <a:rPr sz="975" b="1">
                <a:solidFill>
                  <a:srgbClr val="58718B"/>
                </a:solidFill>
              </a:rPr>
              <a:t>จึงสรุปได้ว่าระบบต้นแบบทำงานร่วมกันได้ตามขอบเขตที่กำหนด แต่ยังต้องพัฒนาก่อนนำไปใช้งานจริง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6722259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1F28D-A918-4091-9D47-B783FE87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FAF3-4DD5-4B84-A94C-1F65574D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0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66621-4B3A-4D0D-BDBB-7F3AE5BB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A3B82"/>
                </a:solidFill>
              </a:defRPr>
            </a:defPPr>
            <a:lvl1pPr>
              <a:defRPr sz="2475" b="1">
                <a:solidFill>
                  <a:srgbClr val="0A3B82"/>
                </a:solidFill>
              </a:defRPr>
            </a:lvl1pPr>
            <a:lvl2pPr>
              <a:defRPr sz="2475" b="1">
                <a:solidFill>
                  <a:srgbClr val="0A3B82"/>
                </a:solidFill>
              </a:defRPr>
            </a:lvl2pPr>
            <a:lvl3pPr>
              <a:defRPr sz="2475" b="1">
                <a:solidFill>
                  <a:srgbClr val="0A3B82"/>
                </a:solidFill>
              </a:defRPr>
            </a:lvl3pPr>
            <a:lvl4pPr>
              <a:defRPr sz="2475" b="1">
                <a:solidFill>
                  <a:srgbClr val="0A3B82"/>
                </a:solidFill>
              </a:defRPr>
            </a:lvl4pPr>
            <a:lvl5pPr>
              <a:defRPr sz="2475" b="1">
                <a:solidFill>
                  <a:srgbClr val="0A3B82"/>
                </a:solidFill>
              </a:defRPr>
            </a:lvl5pPr>
            <a:lvl6pPr>
              <a:defRPr sz="2475" b="1">
                <a:solidFill>
                  <a:srgbClr val="0A3B82"/>
                </a:solidFill>
              </a:defRPr>
            </a:lvl6pPr>
            <a:lvl7pPr>
              <a:defRPr sz="2475" b="1">
                <a:solidFill>
                  <a:srgbClr val="0A3B82"/>
                </a:solidFill>
              </a:defRPr>
            </a:lvl7pPr>
            <a:lvl8pPr>
              <a:defRPr sz="2475" b="1">
                <a:solidFill>
                  <a:srgbClr val="0A3B82"/>
                </a:solidFill>
              </a:defRPr>
            </a:lvl8pPr>
            <a:lvl9pPr>
              <a:defRPr sz="24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A3B82"/>
                </a:solidFill>
              </a:defRPr>
            </a:pPr>
            <a:r>
              <a:rPr sz="2475" b="1">
                <a:solidFill>
                  <a:srgbClr val="0A3B82"/>
                </a:solidFill>
              </a:rPr>
              <a:t>12.2 แนวทางการดำเนินโครงงานในสถานประกอบการ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11B8C-39B2-4345-BEFB-28B0CD5F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95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F659C-ABD4-4178-98A9-A42D698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123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18B"/>
                </a:solidFill>
              </a:defRPr>
            </a:defPPr>
            <a:lvl1pPr>
              <a:defRPr sz="1125" b="0">
                <a:solidFill>
                  <a:srgbClr val="58718B"/>
                </a:solidFill>
              </a:defRPr>
            </a:lvl1pPr>
            <a:lvl2pPr>
              <a:defRPr sz="1125" b="0">
                <a:solidFill>
                  <a:srgbClr val="58718B"/>
                </a:solidFill>
              </a:defRPr>
            </a:lvl2pPr>
            <a:lvl3pPr>
              <a:defRPr sz="1125" b="0">
                <a:solidFill>
                  <a:srgbClr val="58718B"/>
                </a:solidFill>
              </a:defRPr>
            </a:lvl3pPr>
            <a:lvl4pPr>
              <a:defRPr sz="1125" b="0">
                <a:solidFill>
                  <a:srgbClr val="58718B"/>
                </a:solidFill>
              </a:defRPr>
            </a:lvl4pPr>
            <a:lvl5pPr>
              <a:defRPr sz="1125" b="0">
                <a:solidFill>
                  <a:srgbClr val="58718B"/>
                </a:solidFill>
              </a:defRPr>
            </a:lvl5pPr>
            <a:lvl6pPr>
              <a:defRPr sz="1125" b="0">
                <a:solidFill>
                  <a:srgbClr val="58718B"/>
                </a:solidFill>
              </a:defRPr>
            </a:lvl6pPr>
            <a:lvl7pPr>
              <a:defRPr sz="1125" b="0">
                <a:solidFill>
                  <a:srgbClr val="58718B"/>
                </a:solidFill>
              </a:defRPr>
            </a:lvl7pPr>
            <a:lvl8pPr>
              <a:defRPr sz="1125" b="0">
                <a:solidFill>
                  <a:srgbClr val="58718B"/>
                </a:solidFill>
              </a:defRPr>
            </a:lvl8pPr>
            <a:lvl9pPr>
              <a:defRPr sz="1125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18B"/>
                </a:solidFill>
              </a:defRPr>
            </a:pPr>
            <a:r>
              <a:rPr sz="1125" b="0">
                <a:solidFill>
                  <a:srgbClr val="58718B"/>
                </a:solidFill>
              </a:rPr>
              <a:t>นำประสบการณ์จากต้นแบบไปต่อยอดกับงานซอฟต์แวร์และระบบสมองกลฝังตัว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C5666-5453-4ABC-9A1A-3139271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3810000" cy="3810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5CBE2-2F2B-45C8-B738-C461083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8BE"/>
                </a:solidFill>
              </a:defRPr>
            </a:defPPr>
            <a:lvl1pPr>
              <a:defRPr sz="1350" b="1">
                <a:solidFill>
                  <a:srgbClr val="1678BE"/>
                </a:solidFill>
              </a:defRPr>
            </a:lvl1pPr>
            <a:lvl2pPr>
              <a:defRPr sz="1350" b="1">
                <a:solidFill>
                  <a:srgbClr val="1678BE"/>
                </a:solidFill>
              </a:defRPr>
            </a:lvl2pPr>
            <a:lvl3pPr>
              <a:defRPr sz="1350" b="1">
                <a:solidFill>
                  <a:srgbClr val="1678BE"/>
                </a:solidFill>
              </a:defRPr>
            </a:lvl3pPr>
            <a:lvl4pPr>
              <a:defRPr sz="1350" b="1">
                <a:solidFill>
                  <a:srgbClr val="1678BE"/>
                </a:solidFill>
              </a:defRPr>
            </a:lvl4pPr>
            <a:lvl5pPr>
              <a:defRPr sz="1350" b="1">
                <a:solidFill>
                  <a:srgbClr val="1678BE"/>
                </a:solidFill>
              </a:defRPr>
            </a:lvl5pPr>
            <a:lvl6pPr>
              <a:defRPr sz="1350" b="1">
                <a:solidFill>
                  <a:srgbClr val="1678BE"/>
                </a:solidFill>
              </a:defRPr>
            </a:lvl6pPr>
            <a:lvl7pPr>
              <a:defRPr sz="1350" b="1">
                <a:solidFill>
                  <a:srgbClr val="1678BE"/>
                </a:solidFill>
              </a:defRPr>
            </a:lvl7pPr>
            <a:lvl8pPr>
              <a:defRPr sz="1350" b="1">
                <a:solidFill>
                  <a:srgbClr val="1678BE"/>
                </a:solidFill>
              </a:defRPr>
            </a:lvl8pPr>
            <a:lvl9pPr>
              <a:defRPr sz="13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78BE"/>
                </a:solidFill>
              </a:defRPr>
            </a:pPr>
            <a:r>
              <a:rPr sz="1350" b="1">
                <a:solidFill>
                  <a:srgbClr val="1678BE"/>
                </a:solidFill>
              </a:rPr>
              <a:t>สถานประกอบการ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5A81C-A6B0-412F-8997-9A06D644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APITechSmart Lab</a:t>
            </a:r>
          </a:p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บริษัท เอ.พี.ไอ.เทค จำกัด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7D229-1F87-4AD7-B998-ABB008CF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ตำแหน่ง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23ED8-D513-402B-9AB9-C652FC4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Programmer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8752B-9321-41F7-894D-E02CBEBE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718B"/>
                </a:solidFill>
              </a:defRPr>
            </a:defPPr>
            <a:lvl1pPr>
              <a:defRPr sz="1050" b="1">
                <a:solidFill>
                  <a:srgbClr val="58718B"/>
                </a:solidFill>
              </a:defRPr>
            </a:lvl1pPr>
            <a:lvl2pPr>
              <a:defRPr sz="1050" b="1">
                <a:solidFill>
                  <a:srgbClr val="58718B"/>
                </a:solidFill>
              </a:defRPr>
            </a:lvl2pPr>
            <a:lvl3pPr>
              <a:defRPr sz="1050" b="1">
                <a:solidFill>
                  <a:srgbClr val="58718B"/>
                </a:solidFill>
              </a:defRPr>
            </a:lvl3pPr>
            <a:lvl4pPr>
              <a:defRPr sz="1050" b="1">
                <a:solidFill>
                  <a:srgbClr val="58718B"/>
                </a:solidFill>
              </a:defRPr>
            </a:lvl4pPr>
            <a:lvl5pPr>
              <a:defRPr sz="1050" b="1">
                <a:solidFill>
                  <a:srgbClr val="58718B"/>
                </a:solidFill>
              </a:defRPr>
            </a:lvl5pPr>
            <a:lvl6pPr>
              <a:defRPr sz="1050" b="1">
                <a:solidFill>
                  <a:srgbClr val="58718B"/>
                </a:solidFill>
              </a:defRPr>
            </a:lvl6pPr>
            <a:lvl7pPr>
              <a:defRPr sz="1050" b="1">
                <a:solidFill>
                  <a:srgbClr val="58718B"/>
                </a:solidFill>
              </a:defRPr>
            </a:lvl7pPr>
            <a:lvl8pPr>
              <a:defRPr sz="1050" b="1">
                <a:solidFill>
                  <a:srgbClr val="58718B"/>
                </a:solidFill>
              </a:defRPr>
            </a:lvl8pPr>
            <a:lvl9pPr>
              <a:defRPr sz="1050" b="1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718B"/>
                </a:solidFill>
              </a:defRPr>
            </a:pPr>
            <a:r>
              <a:rPr sz="1050" b="1">
                <a:solidFill>
                  <a:srgbClr val="58718B"/>
                </a:solidFill>
              </a:rPr>
              <a:t>ลักษณะธุรกิจ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7E542-0CEF-490D-AD8A-FDFD239E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เทคโนโลยีอิเล็กทรอนิกส์ยานยนต์</a:t>
            </a:r>
          </a:p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ระบบควบคุมและการวิเคราะห์ข้อมูลยานยนต์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A902A-0429-4370-80F6-FA2C0DA5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แนวทางที่คาดว่าจะเกี่ยวข้อง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67CC-77F9-4CAA-8023-26FC4F9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3255B-C4C2-4F0A-937E-163DCD53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Automotive and IoT software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A767B-1725-42EC-8DB1-EE74716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051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พัฒนาโปรแกรมที่สื่อสารกับอุปกรณ์อิเล็กทรอนิกส์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D86F0-F915-4BFB-AA4E-8E582E3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5BDD8"/>
                </a:solidFill>
              </a:defRPr>
            </a:defPPr>
            <a:lvl1pPr>
              <a:defRPr sz="1125" b="1">
                <a:solidFill>
                  <a:srgbClr val="55BDD8"/>
                </a:solidFill>
              </a:defRPr>
            </a:lvl1pPr>
            <a:lvl2pPr>
              <a:defRPr sz="1125" b="1">
                <a:solidFill>
                  <a:srgbClr val="55BDD8"/>
                </a:solidFill>
              </a:defRPr>
            </a:lvl2pPr>
            <a:lvl3pPr>
              <a:defRPr sz="1125" b="1">
                <a:solidFill>
                  <a:srgbClr val="55BDD8"/>
                </a:solidFill>
              </a:defRPr>
            </a:lvl3pPr>
            <a:lvl4pPr>
              <a:defRPr sz="1125" b="1">
                <a:solidFill>
                  <a:srgbClr val="55BDD8"/>
                </a:solidFill>
              </a:defRPr>
            </a:lvl4pPr>
            <a:lvl5pPr>
              <a:defRPr sz="1125" b="1">
                <a:solidFill>
                  <a:srgbClr val="55BDD8"/>
                </a:solidFill>
              </a:defRPr>
            </a:lvl5pPr>
            <a:lvl6pPr>
              <a:defRPr sz="1125" b="1">
                <a:solidFill>
                  <a:srgbClr val="55BDD8"/>
                </a:solidFill>
              </a:defRPr>
            </a:lvl6pPr>
            <a:lvl7pPr>
              <a:defRPr sz="1125" b="1">
                <a:solidFill>
                  <a:srgbClr val="55BDD8"/>
                </a:solidFill>
              </a:defRPr>
            </a:lvl7pPr>
            <a:lvl8pPr>
              <a:defRPr sz="1125" b="1">
                <a:solidFill>
                  <a:srgbClr val="55BDD8"/>
                </a:solidFill>
              </a:defRPr>
            </a:lvl8pPr>
            <a:lvl9pPr>
              <a:defRPr sz="112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5BDD8"/>
                </a:solidFill>
              </a:defRPr>
            </a:pPr>
            <a:r>
              <a:rPr sz="112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323E1-8086-474F-8844-F22C1E3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Sensor data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3222C-114D-48E5-8814-9B88EAB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957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รับ ประมวลผล และแสดงข้อมูลจากเซนเซอร์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C4178-82CB-4C68-9EDE-6A4038A5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678BE"/>
                </a:solidFill>
              </a:defRPr>
            </a:defPPr>
            <a:lvl1pPr>
              <a:defRPr sz="1125" b="1">
                <a:solidFill>
                  <a:srgbClr val="1678BE"/>
                </a:solidFill>
              </a:defRPr>
            </a:lvl1pPr>
            <a:lvl2pPr>
              <a:defRPr sz="1125" b="1">
                <a:solidFill>
                  <a:srgbClr val="1678BE"/>
                </a:solidFill>
              </a:defRPr>
            </a:lvl2pPr>
            <a:lvl3pPr>
              <a:defRPr sz="1125" b="1">
                <a:solidFill>
                  <a:srgbClr val="1678BE"/>
                </a:solidFill>
              </a:defRPr>
            </a:lvl3pPr>
            <a:lvl4pPr>
              <a:defRPr sz="1125" b="1">
                <a:solidFill>
                  <a:srgbClr val="1678BE"/>
                </a:solidFill>
              </a:defRPr>
            </a:lvl4pPr>
            <a:lvl5pPr>
              <a:defRPr sz="1125" b="1">
                <a:solidFill>
                  <a:srgbClr val="1678BE"/>
                </a:solidFill>
              </a:defRPr>
            </a:lvl5pPr>
            <a:lvl6pPr>
              <a:defRPr sz="1125" b="1">
                <a:solidFill>
                  <a:srgbClr val="1678BE"/>
                </a:solidFill>
              </a:defRPr>
            </a:lvl6pPr>
            <a:lvl7pPr>
              <a:defRPr sz="1125" b="1">
                <a:solidFill>
                  <a:srgbClr val="1678BE"/>
                </a:solidFill>
              </a:defRPr>
            </a:lvl7pPr>
            <a:lvl8pPr>
              <a:defRPr sz="1125" b="1">
                <a:solidFill>
                  <a:srgbClr val="1678BE"/>
                </a:solidFill>
              </a:defRPr>
            </a:lvl8pPr>
            <a:lvl9pPr>
              <a:defRPr sz="11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678BE"/>
                </a:solidFill>
              </a:defRPr>
            </a:pPr>
            <a:r>
              <a:rPr sz="112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6D5C3-4308-4499-AFFA-B05A3D35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62450"/>
            <a:ext cx="605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Monitoring and control applications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42FD4-7A26-47AD-8EB2-01823393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8718B"/>
                </a:solidFill>
              </a:defRPr>
            </a:defPPr>
            <a:lvl1pPr>
              <a:defRPr sz="1050" b="0">
                <a:solidFill>
                  <a:srgbClr val="58718B"/>
                </a:solidFill>
              </a:defRPr>
            </a:lvl1pPr>
            <a:lvl2pPr>
              <a:defRPr sz="1050" b="0">
                <a:solidFill>
                  <a:srgbClr val="58718B"/>
                </a:solidFill>
              </a:defRPr>
            </a:lvl2pPr>
            <a:lvl3pPr>
              <a:defRPr sz="1050" b="0">
                <a:solidFill>
                  <a:srgbClr val="58718B"/>
                </a:solidFill>
              </a:defRPr>
            </a:lvl3pPr>
            <a:lvl4pPr>
              <a:defRPr sz="1050" b="0">
                <a:solidFill>
                  <a:srgbClr val="58718B"/>
                </a:solidFill>
              </a:defRPr>
            </a:lvl4pPr>
            <a:lvl5pPr>
              <a:defRPr sz="1050" b="0">
                <a:solidFill>
                  <a:srgbClr val="58718B"/>
                </a:solidFill>
              </a:defRPr>
            </a:lvl5pPr>
            <a:lvl6pPr>
              <a:defRPr sz="1050" b="0">
                <a:solidFill>
                  <a:srgbClr val="58718B"/>
                </a:solidFill>
              </a:defRPr>
            </a:lvl6pPr>
            <a:lvl7pPr>
              <a:defRPr sz="1050" b="0">
                <a:solidFill>
                  <a:srgbClr val="58718B"/>
                </a:solidFill>
              </a:defRPr>
            </a:lvl7pPr>
            <a:lvl8pPr>
              <a:defRPr sz="1050" b="0">
                <a:solidFill>
                  <a:srgbClr val="58718B"/>
                </a:solidFill>
              </a:defRPr>
            </a:lvl8pPr>
            <a:lvl9pPr>
              <a:defRPr sz="1050" b="0">
                <a:solidFill>
                  <a:srgbClr val="58718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8718B"/>
                </a:solidFill>
              </a:defRPr>
            </a:pPr>
            <a:r>
              <a:rPr sz="1050" b="0">
                <a:solidFill>
                  <a:srgbClr val="58718B"/>
                </a:solidFill>
              </a:rPr>
              <a:t>สร้างแอปพลิเคชันเพื่อสนับสนุนการตรวจสอบหรือควบคุมอุปกรณ์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EAECB-1E3B-4492-B5BB-095A027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57225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DED02-FF73-4433-B8A1-6788EBA1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86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5BDD8"/>
                </a:solidFill>
              </a:defRPr>
            </a:defPPr>
            <a:lvl1pPr>
              <a:defRPr sz="1050" b="1">
                <a:solidFill>
                  <a:srgbClr val="55BDD8"/>
                </a:solidFill>
              </a:defRPr>
            </a:lvl1pPr>
            <a:lvl2pPr>
              <a:defRPr sz="1050" b="1">
                <a:solidFill>
                  <a:srgbClr val="55BDD8"/>
                </a:solidFill>
              </a:defRPr>
            </a:lvl2pPr>
            <a:lvl3pPr>
              <a:defRPr sz="1050" b="1">
                <a:solidFill>
                  <a:srgbClr val="55BDD8"/>
                </a:solidFill>
              </a:defRPr>
            </a:lvl3pPr>
            <a:lvl4pPr>
              <a:defRPr sz="1050" b="1">
                <a:solidFill>
                  <a:srgbClr val="55BDD8"/>
                </a:solidFill>
              </a:defRPr>
            </a:lvl4pPr>
            <a:lvl5pPr>
              <a:defRPr sz="1050" b="1">
                <a:solidFill>
                  <a:srgbClr val="55BDD8"/>
                </a:solidFill>
              </a:defRPr>
            </a:lvl5pPr>
            <a:lvl6pPr>
              <a:defRPr sz="1050" b="1">
                <a:solidFill>
                  <a:srgbClr val="55BDD8"/>
                </a:solidFill>
              </a:defRPr>
            </a:lvl6pPr>
            <a:lvl7pPr>
              <a:defRPr sz="1050" b="1">
                <a:solidFill>
                  <a:srgbClr val="55BDD8"/>
                </a:solidFill>
              </a:defRPr>
            </a:lvl7pPr>
            <a:lvl8pPr>
              <a:defRPr sz="1050" b="1">
                <a:solidFill>
                  <a:srgbClr val="55BDD8"/>
                </a:solidFill>
              </a:defRPr>
            </a:lvl8pPr>
            <a:lvl9pPr>
              <a:defRPr sz="105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5BDD8"/>
                </a:solidFill>
              </a:defRPr>
            </a:pPr>
            <a:r>
              <a:rPr sz="1050" b="1">
                <a:solidFill>
                  <a:srgbClr val="55BDD8"/>
                </a:solidFill>
              </a:rPr>
              <a:t>สถานะปัจจุบัน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093C4-B969-45E4-B239-4EA45915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ยังไม่ได้รับหัวข้อโครงงานอย่างเป็นทางการ และจะกำหนดร่วมกับพนักงานที่ปรึกษา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A3CED-7201-4ACB-A14E-8486F8F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15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1633954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2026-10-20T21:47:21.7710000Z</dcterms:created>
  <dcterms:modified xsi:type="dcterms:W3CDTF">2026-10-20T21:47:21.7710000Z</dcterms:modified>
</coreProperties>
</file>