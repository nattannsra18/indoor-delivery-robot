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b5538f20c34f09" /><Relationship Type="http://schemas.openxmlformats.org/officeDocument/2006/relationships/extended-properties" Target="/docProps/app.xml" Id="R58f36359a8004da9" /><Relationship Type="http://schemas.openxmlformats.org/officeDocument/2006/relationships/officeDocument" Target="/ppt/presentation.xml" Id="Rc88ea58d20b747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327ee50a1f4338"/>
  </p:sldMasterIdLst>
  <p:notesMasterIdLst>
    <p:notesMasterId xmlns:r="http://schemas.openxmlformats.org/officeDocument/2006/relationships" r:id="Ra87bd5af45f243dd"/>
  </p:notesMasterIdLst>
  <p:sldIdLst>
    <p:sldId xmlns:r="http://schemas.openxmlformats.org/officeDocument/2006/relationships" id="256" r:id="Ra8bcf24d889f491e"/>
    <p:sldId xmlns:r="http://schemas.openxmlformats.org/officeDocument/2006/relationships" id="257" r:id="R869bce3f6ba54b19"/>
    <p:sldId xmlns:r="http://schemas.openxmlformats.org/officeDocument/2006/relationships" id="258" r:id="R56e65ad069e449e4"/>
    <p:sldId xmlns:r="http://schemas.openxmlformats.org/officeDocument/2006/relationships" id="259" r:id="R88f7df226ef94213"/>
    <p:sldId xmlns:r="http://schemas.openxmlformats.org/officeDocument/2006/relationships" id="260" r:id="Rd05b8267c0e84bf4"/>
    <p:sldId xmlns:r="http://schemas.openxmlformats.org/officeDocument/2006/relationships" id="261" r:id="Rdee621123c7740ae"/>
    <p:sldId xmlns:r="http://schemas.openxmlformats.org/officeDocument/2006/relationships" id="262" r:id="Rc881a7cf660a4d6c"/>
    <p:sldId xmlns:r="http://schemas.openxmlformats.org/officeDocument/2006/relationships" id="263" r:id="R41853d6d5f3249ee"/>
    <p:sldId xmlns:r="http://schemas.openxmlformats.org/officeDocument/2006/relationships" id="264" r:id="Rf06e898016dd46c3"/>
    <p:sldId xmlns:r="http://schemas.openxmlformats.org/officeDocument/2006/relationships" id="265" r:id="R3235eb6d26f04287"/>
    <p:sldId xmlns:r="http://schemas.openxmlformats.org/officeDocument/2006/relationships" id="266" r:id="R940905c9f7444687"/>
    <p:sldId xmlns:r="http://schemas.openxmlformats.org/officeDocument/2006/relationships" id="267" r:id="R0bca302552174fa5"/>
    <p:sldId xmlns:r="http://schemas.openxmlformats.org/officeDocument/2006/relationships" id="268" r:id="R244bfc5ca476486f"/>
    <p:sldId xmlns:r="http://schemas.openxmlformats.org/officeDocument/2006/relationships" id="269" r:id="R71deb5540b664dc6"/>
    <p:sldId xmlns:r="http://schemas.openxmlformats.org/officeDocument/2006/relationships" id="270" r:id="R1c4f81f96bbf4b49"/>
    <p:sldId xmlns:r="http://schemas.openxmlformats.org/officeDocument/2006/relationships" id="271" r:id="R795fe255423849dc"/>
    <p:sldId xmlns:r="http://schemas.openxmlformats.org/officeDocument/2006/relationships" id="272" r:id="Ra9c3cb0fdfa04abb"/>
    <p:sldId xmlns:r="http://schemas.openxmlformats.org/officeDocument/2006/relationships" id="273" r:id="Rb9c8c293b40940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6c59001434743" /><Relationship Type="http://schemas.openxmlformats.org/officeDocument/2006/relationships/slideMaster" Target="/ppt/slideMasters/slideMaster1.xml" Id="R57327ee50a1f4338" /><Relationship Type="http://schemas.openxmlformats.org/officeDocument/2006/relationships/notesMaster" Target="/ppt/notesMasters/notesMaster1.xml" Id="Ra87bd5af45f243dd" /><Relationship Type="http://schemas.openxmlformats.org/officeDocument/2006/relationships/presProps" Target="/ppt/presProps.xml" Id="R25a71a3f2e5e4de6" /><Relationship Type="http://schemas.openxmlformats.org/officeDocument/2006/relationships/tableStyles" Target="/ppt/tableStyles.xml" Id="Rf461ea968cc94a05" /><Relationship Type="http://schemas.openxmlformats.org/officeDocument/2006/relationships/slide" Target="/ppt/slides/slide1.xml" Id="Ra8bcf24d889f491e" /><Relationship Type="http://schemas.openxmlformats.org/officeDocument/2006/relationships/slide" Target="/ppt/slides/slide2.xml" Id="R869bce3f6ba54b19" /><Relationship Type="http://schemas.openxmlformats.org/officeDocument/2006/relationships/slide" Target="/ppt/slides/slide3.xml" Id="R56e65ad069e449e4" /><Relationship Type="http://schemas.openxmlformats.org/officeDocument/2006/relationships/slide" Target="/ppt/slides/slide4.xml" Id="R88f7df226ef94213" /><Relationship Type="http://schemas.openxmlformats.org/officeDocument/2006/relationships/slide" Target="/ppt/slides/slide5.xml" Id="Rd05b8267c0e84bf4" /><Relationship Type="http://schemas.openxmlformats.org/officeDocument/2006/relationships/slide" Target="/ppt/slides/slide6.xml" Id="Rdee621123c7740ae" /><Relationship Type="http://schemas.openxmlformats.org/officeDocument/2006/relationships/slide" Target="/ppt/slides/slide7.xml" Id="Rc881a7cf660a4d6c" /><Relationship Type="http://schemas.openxmlformats.org/officeDocument/2006/relationships/slide" Target="/ppt/slides/slide8.xml" Id="R41853d6d5f3249ee" /><Relationship Type="http://schemas.openxmlformats.org/officeDocument/2006/relationships/slide" Target="/ppt/slides/slide9.xml" Id="Rf06e898016dd46c3" /><Relationship Type="http://schemas.openxmlformats.org/officeDocument/2006/relationships/slide" Target="/ppt/slides/slide10.xml" Id="R3235eb6d26f04287" /><Relationship Type="http://schemas.openxmlformats.org/officeDocument/2006/relationships/slide" Target="/ppt/slides/slide11.xml" Id="R940905c9f7444687" /><Relationship Type="http://schemas.openxmlformats.org/officeDocument/2006/relationships/slide" Target="/ppt/slides/slide12.xml" Id="R0bca302552174fa5" /><Relationship Type="http://schemas.openxmlformats.org/officeDocument/2006/relationships/slide" Target="/ppt/slides/slide13.xml" Id="R244bfc5ca476486f" /><Relationship Type="http://schemas.openxmlformats.org/officeDocument/2006/relationships/slide" Target="/ppt/slides/slide14.xml" Id="R71deb5540b664dc6" /><Relationship Type="http://schemas.openxmlformats.org/officeDocument/2006/relationships/slide" Target="/ppt/slides/slide15.xml" Id="R1c4f81f96bbf4b49" /><Relationship Type="http://schemas.openxmlformats.org/officeDocument/2006/relationships/slide" Target="/ppt/slides/slide16.xml" Id="R795fe255423849dc" /><Relationship Type="http://schemas.openxmlformats.org/officeDocument/2006/relationships/slide" Target="/ppt/slides/slide17.xml" Id="Ra9c3cb0fdfa04abb" /><Relationship Type="http://schemas.openxmlformats.org/officeDocument/2006/relationships/slide" Target="/ppt/slides/slide18.xml" Id="Rb9c8c293b40940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baa53a800142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9d2d3dd62b450e" /><Relationship Type="http://schemas.openxmlformats.org/officeDocument/2006/relationships/notesMaster" Target="/ppt/notesMasters/notesMaster1.xml" Id="R5e8f1b4ed0cf45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f0cff93794e6b" /><Relationship Type="http://schemas.openxmlformats.org/officeDocument/2006/relationships/notesMaster" Target="/ppt/notesMasters/notesMaster1.xml" Id="Ra03951113e6c45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b2e6206e1f4319" /><Relationship Type="http://schemas.openxmlformats.org/officeDocument/2006/relationships/notesMaster" Target="/ppt/notesMasters/notesMaster1.xml" Id="R05612eb627214b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310ddad0f4a90" /><Relationship Type="http://schemas.openxmlformats.org/officeDocument/2006/relationships/notesMaster" Target="/ppt/notesMasters/notesMaster1.xml" Id="Rca66d510ecec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3afce53e54435" /><Relationship Type="http://schemas.openxmlformats.org/officeDocument/2006/relationships/notesMaster" Target="/ppt/notesMasters/notesMaster1.xml" Id="Ra67fb2605bd8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ec40cb06c84da5" /><Relationship Type="http://schemas.openxmlformats.org/officeDocument/2006/relationships/notesMaster" Target="/ppt/notesMasters/notesMaster1.xml" Id="Ra6264c986c324a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b0643f310442d4" /><Relationship Type="http://schemas.openxmlformats.org/officeDocument/2006/relationships/notesMaster" Target="/ppt/notesMasters/notesMaster1.xml" Id="R8cbcd298ddcf43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d16da1a8f94269" /><Relationship Type="http://schemas.openxmlformats.org/officeDocument/2006/relationships/notesMaster" Target="/ppt/notesMasters/notesMaster1.xml" Id="R8af827566ab94d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125698912e47e0" /><Relationship Type="http://schemas.openxmlformats.org/officeDocument/2006/relationships/notesMaster" Target="/ppt/notesMasters/notesMaster1.xml" Id="Re7955aa1defa4f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458b5a664a48a5" /><Relationship Type="http://schemas.openxmlformats.org/officeDocument/2006/relationships/notesMaster" Target="/ppt/notesMasters/notesMaster1.xml" Id="R502c67d071f54d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60f3ad15a645cb" /><Relationship Type="http://schemas.openxmlformats.org/officeDocument/2006/relationships/notesMaster" Target="/ppt/notesMasters/notesMaster1.xml" Id="R116dd2af49e94e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3150b1238a4f51" /><Relationship Type="http://schemas.openxmlformats.org/officeDocument/2006/relationships/notesMaster" Target="/ppt/notesMasters/notesMaster1.xml" Id="Ra8cdf87e687f4c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81b68960be4dea" /><Relationship Type="http://schemas.openxmlformats.org/officeDocument/2006/relationships/notesMaster" Target="/ppt/notesMasters/notesMaster1.xml" Id="R221d62b2fb2442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ea333d6ea447e5" /><Relationship Type="http://schemas.openxmlformats.org/officeDocument/2006/relationships/notesMaster" Target="/ppt/notesMasters/notesMaster1.xml" Id="R8b4d594ce2124f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bd2d80f8524a8c" /><Relationship Type="http://schemas.openxmlformats.org/officeDocument/2006/relationships/notesMaster" Target="/ppt/notesMasters/notesMaster1.xml" Id="R6125227fbfd04f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bdaaaf6e57439f" /><Relationship Type="http://schemas.openxmlformats.org/officeDocument/2006/relationships/notesMaster" Target="/ppt/notesMasters/notesMaster1.xml" Id="R78867c27eaa64b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b4d8d18e924f63" /><Relationship Type="http://schemas.openxmlformats.org/officeDocument/2006/relationships/notesMaster" Target="/ppt/notesMasters/notesMaster1.xml" Id="Rb740c50080f842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30cdb6b4b74ae5" /><Relationship Type="http://schemas.openxmlformats.org/officeDocument/2006/relationships/notesMaster" Target="/ppt/notesMasters/notesMaster1.xml" Id="Rff4e001a762c41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814c60a114a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d8581ca5044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edc46d32f46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47ca3832e4e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e64722b3541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4f87a19bb45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855C6F-5EDD-4CEB-9B98-CF3A5327EC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A297C4-0BF3-43A7-B77D-139ECBA430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46087D-E4B7-4357-A8A4-2327A60AEA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2DBFC2-EC56-4733-BDBC-2A434C8C5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15913D-899E-4413-BEE9-6DE5462B9F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03456A-2235-4B22-8D62-444792EFEF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35B7A5-9C97-4B41-B1C9-8619A0880D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CFCBF2-E23A-4F39-AC8E-CF8D3DAA4C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89D2D7-D1F4-4157-B9CC-04C7D661B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593711-01C4-4168-8179-F7CFFC1188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b8f8817de439e" /><Relationship Type="http://schemas.openxmlformats.org/officeDocument/2006/relationships/slideLayout" Target="/ppt/slideLayouts/slideLayout1.xml" Id="Rfe9e156d0bcc4bbe" /><Relationship Type="http://schemas.openxmlformats.org/officeDocument/2006/relationships/slideLayout" Target="/ppt/slideLayouts/slideLayout2.xml" Id="R2d83b43edfb84228" /><Relationship Type="http://schemas.openxmlformats.org/officeDocument/2006/relationships/slideLayout" Target="/ppt/slideLayouts/slideLayout3.xml" Id="R001da2fb4f3d4324" /><Relationship Type="http://schemas.openxmlformats.org/officeDocument/2006/relationships/slideLayout" Target="/ppt/slideLayouts/slideLayout4.xml" Id="R695abe67d32446c3" /><Relationship Type="http://schemas.openxmlformats.org/officeDocument/2006/relationships/slideLayout" Target="/ppt/slideLayouts/slideLayout5.xml" Id="R8713507f1eb74c76" /><Relationship Type="http://schemas.openxmlformats.org/officeDocument/2006/relationships/slideLayout" Target="/ppt/slideLayouts/slideLayout6.xml" Id="Rcfd98c1c8a234a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9e156d0bcc4bbe"/>
    <p:sldLayoutId xmlns:r="http://schemas.openxmlformats.org/officeDocument/2006/relationships" id="2147483650" r:id="R2d83b43edfb84228"/>
    <p:sldLayoutId xmlns:r="http://schemas.openxmlformats.org/officeDocument/2006/relationships" id="2147483651" r:id="R001da2fb4f3d4324"/>
    <p:sldLayoutId xmlns:r="http://schemas.openxmlformats.org/officeDocument/2006/relationships" id="2147483652" r:id="R695abe67d32446c3"/>
    <p:sldLayoutId xmlns:r="http://schemas.openxmlformats.org/officeDocument/2006/relationships" id="2147483653" r:id="R8713507f1eb74c76"/>
    <p:sldLayoutId xmlns:r="http://schemas.openxmlformats.org/officeDocument/2006/relationships" id="2147483654" r:id="Rcfd98c1c8a234a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e6a00505fd471a" /><Relationship Type="http://schemas.openxmlformats.org/officeDocument/2006/relationships/notesSlide" Target="/ppt/notesSlides/notesSlide1.xml" Id="Rcbeb9bd314034d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73b0ef6a442d6" /><Relationship Type="http://schemas.openxmlformats.org/officeDocument/2006/relationships/notesSlide" Target="/ppt/notesSlides/notesSlide2.xml" Id="Re3cfdd973ddf48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09f7adfe640cc" /><Relationship Type="http://schemas.openxmlformats.org/officeDocument/2006/relationships/notesSlide" Target="/ppt/notesSlides/notesSlide3.xml" Id="R67d2e295a39a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12d06170842ef" /><Relationship Type="http://schemas.openxmlformats.org/officeDocument/2006/relationships/notesSlide" Target="/ppt/notesSlides/notesSlide4.xml" Id="Re3737e558a4c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22d59e156419a" /><Relationship Type="http://schemas.openxmlformats.org/officeDocument/2006/relationships/notesSlide" Target="/ppt/notesSlides/notesSlide5.xml" Id="Rcda78d42f87b4b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bff7d95054c17" /><Relationship Type="http://schemas.openxmlformats.org/officeDocument/2006/relationships/image" Target="/ppt/media/image.png" Id="R7f1c34eb08364b4e" /><Relationship Type="http://schemas.openxmlformats.org/officeDocument/2006/relationships/notesSlide" Target="/ppt/notesSlides/notesSlide6.xml" Id="R143de8e23a5b48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aee5d4ae443fa" /><Relationship Type="http://schemas.openxmlformats.org/officeDocument/2006/relationships/image" Target="/ppt/media/image2.png" Id="Rd5a8954062b14d2a" /><Relationship Type="http://schemas.openxmlformats.org/officeDocument/2006/relationships/notesSlide" Target="/ppt/notesSlides/notesSlide7.xml" Id="R9d69b10f365248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7f032d3d84b55" /><Relationship Type="http://schemas.openxmlformats.org/officeDocument/2006/relationships/image" Target="/ppt/media/image3.png" Id="R5563373a856747e1" /><Relationship Type="http://schemas.openxmlformats.org/officeDocument/2006/relationships/notesSlide" Target="/ppt/notesSlides/notesSlide8.xml" Id="R89e3b9ec1d634e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538ab92e14adb" /><Relationship Type="http://schemas.openxmlformats.org/officeDocument/2006/relationships/image" Target="/ppt/media/image4.png" Id="Rd83fdf02aeb843a3" /><Relationship Type="http://schemas.openxmlformats.org/officeDocument/2006/relationships/notesSlide" Target="/ppt/notesSlides/notesSlide9.xml" Id="R2b3f6ff018e640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5809fcdaa4218" /><Relationship Type="http://schemas.openxmlformats.org/officeDocument/2006/relationships/notesSlide" Target="/ppt/notesSlides/notesSlide10.xml" Id="R10847ea254604f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6a023237345d2" /><Relationship Type="http://schemas.openxmlformats.org/officeDocument/2006/relationships/notesSlide" Target="/ppt/notesSlides/notesSlide11.xml" Id="Rd9fee5ef0fba49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702da886f4a9c" /><Relationship Type="http://schemas.openxmlformats.org/officeDocument/2006/relationships/notesSlide" Target="/ppt/notesSlides/notesSlide12.xml" Id="R0c327d38a20441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60f45a05744f6" /><Relationship Type="http://schemas.openxmlformats.org/officeDocument/2006/relationships/image" Target="/ppt/media/image5.png" Id="Ra4a35beafcc84728" /><Relationship Type="http://schemas.openxmlformats.org/officeDocument/2006/relationships/image" Target="/ppt/media/image6.png" Id="R4033d65fadd24d48" /><Relationship Type="http://schemas.openxmlformats.org/officeDocument/2006/relationships/notesSlide" Target="/ppt/notesSlides/notesSlide13.xml" Id="Ra42c63ec515043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5fcd65ddcc4630" /><Relationship Type="http://schemas.openxmlformats.org/officeDocument/2006/relationships/image" Target="/ppt/media/image7.png" Id="R3bd0d945c42a4855" /><Relationship Type="http://schemas.openxmlformats.org/officeDocument/2006/relationships/image" Target="/ppt/media/image8.png" Id="R4e6a2321d30b4adf" /><Relationship Type="http://schemas.openxmlformats.org/officeDocument/2006/relationships/notesSlide" Target="/ppt/notesSlides/notesSlide14.xml" Id="R7a09e630c34747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6842631b34878" /><Relationship Type="http://schemas.openxmlformats.org/officeDocument/2006/relationships/image" Target="/ppt/media/image9.png" Id="Rd4b294752b864b09" /><Relationship Type="http://schemas.openxmlformats.org/officeDocument/2006/relationships/image" Target="/ppt/media/image10.png" Id="R43c4368d938249ae" /><Relationship Type="http://schemas.openxmlformats.org/officeDocument/2006/relationships/notesSlide" Target="/ppt/notesSlides/notesSlide15.xml" Id="Rce7b995bb7fe49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911f012114c37" /><Relationship Type="http://schemas.openxmlformats.org/officeDocument/2006/relationships/image" Target="/ppt/media/image11.png" Id="Ra62add7474fd4842" /><Relationship Type="http://schemas.openxmlformats.org/officeDocument/2006/relationships/notesSlide" Target="/ppt/notesSlides/notesSlide16.xml" Id="R7601276273614d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0cb91e2104670" /><Relationship Type="http://schemas.openxmlformats.org/officeDocument/2006/relationships/notesSlide" Target="/ppt/notesSlides/notesSlide17.xml" Id="R018a60beaac343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bc26642454190" /><Relationship Type="http://schemas.openxmlformats.org/officeDocument/2006/relationships/notesSlide" Target="/ppt/notesSlides/notesSlide18.xml" Id="R936f3d4fcd3445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34399-1ABD-4DCF-BDD8-8C9516A2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33A85-4939-4A08-9F68-03A7635A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โครงงานเตรียมสหกิจศึกษา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50A61-0EF7-4F0D-BCF5-F857EF1C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A3B82"/>
                </a:solidFill>
              </a:defRPr>
            </a:defPPr>
            <a:lvl1pPr>
              <a:defRPr sz="3000" b="1">
                <a:solidFill>
                  <a:srgbClr val="0A3B82"/>
                </a:solidFill>
              </a:defRPr>
            </a:lvl1pPr>
            <a:lvl2pPr>
              <a:defRPr sz="3000" b="1">
                <a:solidFill>
                  <a:srgbClr val="0A3B82"/>
                </a:solidFill>
              </a:defRPr>
            </a:lvl2pPr>
            <a:lvl3pPr>
              <a:defRPr sz="3000" b="1">
                <a:solidFill>
                  <a:srgbClr val="0A3B82"/>
                </a:solidFill>
              </a:defRPr>
            </a:lvl3pPr>
            <a:lvl4pPr>
              <a:defRPr sz="3000" b="1">
                <a:solidFill>
                  <a:srgbClr val="0A3B82"/>
                </a:solidFill>
              </a:defRPr>
            </a:lvl4pPr>
            <a:lvl5pPr>
              <a:defRPr sz="3000" b="1">
                <a:solidFill>
                  <a:srgbClr val="0A3B82"/>
                </a:solidFill>
              </a:defRPr>
            </a:lvl5pPr>
            <a:lvl6pPr>
              <a:defRPr sz="3000" b="1">
                <a:solidFill>
                  <a:srgbClr val="0A3B82"/>
                </a:solidFill>
              </a:defRPr>
            </a:lvl6pPr>
            <a:lvl7pPr>
              <a:defRPr sz="3000" b="1">
                <a:solidFill>
                  <a:srgbClr val="0A3B82"/>
                </a:solidFill>
              </a:defRPr>
            </a:lvl7pPr>
            <a:lvl8pPr>
              <a:defRPr sz="3000" b="1">
                <a:solidFill>
                  <a:srgbClr val="0A3B82"/>
                </a:solidFill>
              </a:defRPr>
            </a:lvl8pPr>
            <a:lvl9pPr>
              <a:defRPr sz="30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ระบบหุ่นยนต์เคลื่อนที่อัตโนมัติ</a:t>
            </a:r>
          </a:p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สำหรับรับส่งสิ่งของภายในอาคารผ่านเว็บ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64CFF-CABD-4624-8E65-E287ED3F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0487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8850E-2E23-4783-8D4A-3AE9A9E0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WEB-BASED INDOOR AUTONOMOUS DELIVERY ROBOT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88334-6FA2-4C65-85F6-6A46C41F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ณัฐนนท์ สีระศรี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9A44A-B7FD-4AA8-B09B-16AD7AAD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6610110087   วิศวกรรมคอมพิวเตอร์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68D68-306B-4881-8D1C-CB40A6DE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นำเสนอ 7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130C4-849E-4CDB-815D-414F2AA8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01C90-7A30-4AFF-80F2-B418320A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478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97BD7-C54A-4268-9D60-F328FA42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F5B46-5078-4EB0-85FE-1334AA3D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29200"/>
            <a:ext cx="2076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7826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6C653-15C7-4A9B-9617-2DA62C6B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EEE00-8F82-4B9D-ACE6-3B3C18C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5021D-DDAB-40C4-9A4B-CE59F1F2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ที่มาและความสำคัญ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FF67D-E0E5-4143-953E-6E197AB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366F9-3856-4D7B-8125-71980BF9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แนวคิดเริ่มจากงานรับส่งภายในอาคารที่ต้องทำซ้ำ และต้องติดตามได้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8D194-205A-4E69-9789-DBA24CC8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เราต้องการให้หุ่นยนต์รับงานจากผู้ใช้ แล้วเดินทางระหว่างสถานีได้ด้วยตนเอง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246AF-03D0-431E-8E1D-ABEC1467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แทนที่ผู้ใช้งานจะต้องเดินไปส่งสิ่งของทุกครั้ง หรือต้องเปิดเครื่องมือ ROS เพื่อสั่งหุ่นยนต์โดยตรง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4D02A-8C4C-4D5C-BF54-97C977A2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49530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8728B-558B-457D-AD68-EF6DFB11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ก่อนมีระบบนี้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D1AE8-3617-4FE6-AB9C-F1A8C6C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8B"/>
                </a:solidFill>
              </a:defRPr>
            </a:defPPr>
            <a:lvl1pPr>
              <a:defRPr sz="1200" b="0">
                <a:solidFill>
                  <a:srgbClr val="58718B"/>
                </a:solidFill>
              </a:defRPr>
            </a:lvl1pPr>
            <a:lvl2pPr>
              <a:defRPr sz="1200" b="0">
                <a:solidFill>
                  <a:srgbClr val="58718B"/>
                </a:solidFill>
              </a:defRPr>
            </a:lvl2pPr>
            <a:lvl3pPr>
              <a:defRPr sz="1200" b="0">
                <a:solidFill>
                  <a:srgbClr val="58718B"/>
                </a:solidFill>
              </a:defRPr>
            </a:lvl3pPr>
            <a:lvl4pPr>
              <a:defRPr sz="1200" b="0">
                <a:solidFill>
                  <a:srgbClr val="58718B"/>
                </a:solidFill>
              </a:defRPr>
            </a:lvl4pPr>
            <a:lvl5pPr>
              <a:defRPr sz="1200" b="0">
                <a:solidFill>
                  <a:srgbClr val="58718B"/>
                </a:solidFill>
              </a:defRPr>
            </a:lvl5pPr>
            <a:lvl6pPr>
              <a:defRPr sz="1200" b="0">
                <a:solidFill>
                  <a:srgbClr val="58718B"/>
                </a:solidFill>
              </a:defRPr>
            </a:lvl6pPr>
            <a:lvl7pPr>
              <a:defRPr sz="1200" b="0">
                <a:solidFill>
                  <a:srgbClr val="58718B"/>
                </a:solidFill>
              </a:defRPr>
            </a:lvl7pPr>
            <a:lvl8pPr>
              <a:defRPr sz="1200" b="0">
                <a:solidFill>
                  <a:srgbClr val="58718B"/>
                </a:solidFill>
              </a:defRPr>
            </a:lvl8pPr>
            <a:lvl9pPr>
              <a:defRPr sz="120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ผู้ใช้ต้องกำหนดคำสั่งด้วยเครื่องมือของหุ่นยนต์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ไม่เห็นคิวงานและสถานะของภารกิจในที่เดียว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ตรวจสอบย้อนหลังได้ยากเมื่อภารกิจล้มเหลว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C1FBC-73A1-4646-9463-04479F06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58674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82A1E-7085-4D91-8177-977AA7F5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แนวคิดของโครงงาน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B875A-7A6D-469F-B1ED-94A7A979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สร้างฐานหุ่นยนต์ที่รับภารกิจจากเว็บ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เดินทางไปยังสถานีรับของและสถานีปลายทาง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ส่งสถานะกลับให้ผู้ใช้ติดตามได้ตลอดกระบวนการ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45512-6C69-46AA-B4D8-033C8599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ED135-DEF8-4E26-BAD8-B108C529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ผลที่ต้องการ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F3E30-E987-4B7E-B84B-B7DFFEBA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ผู้ใช้สร้างภารกิจ ติดตามสถานะ และดูประวัติได้จากเว็บ โดยไม่ต้องสั่ง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753943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CA39AB-B937-4868-9CD5-8BFADD37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42397-BD93-44FD-9777-F7FF17F7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55A36-EDAE-4273-AF99-F194A4F3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แนวคิดการทำงานของต้นแบบ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FEC58-0A0C-475C-B0C8-12DD7F01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B468B-7561-417D-BC40-ABA8BEC1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หนึ่งภารกิจเชื่อมผู้ใช้งาน เว็บ ระบบนำทาง และหุ่นยนต์เข้าด้วยกัน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B7B07-38DE-4F26-A544-1B075370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998CA-CC5F-4DA6-9EEC-EB9D2931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882AB-8FD3-4160-9A51-59103191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27F8F-F437-4DA1-B21D-482EFAB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ผู้ใช้เลือกสถานีรับของและปลายทาง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DBEB3-C1F0-470C-93D8-32950BC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4D14A-8969-4298-864C-1E30119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0F8D-9972-4E63-BE76-5D5F6DCE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BFA8C-8E6E-48A8-828C-17526DB3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ASSIGN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3F46B-7EC6-4169-B475-FA64C15D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เว็บส่งภารกิจผ่าน Robot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8B89B-91F7-40A1-88E8-52B3F6F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5AEE1-34D1-4C1E-8969-A37B4F4B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C59AB-BD6C-47B9-ABB7-87163ED0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943BE-1229-4E03-9FB4-7DE310CA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NAVIGATE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6C5AE-7B0E-4399-BA99-005E050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และ Nav2 พาหุ่นยนต์เคลื่อนที่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5BBA1-B21E-41A1-9AD8-82F1FCF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349C1-C4CC-4387-B436-B756BB91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9ADD7-A395-40EC-B802-9A1B2A4E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DE33E-7B14-4A99-A365-7CFA6ED7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2E0F8-479C-4C90-A98D-0055E969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สถานะและเหตุการณ์ส่งกลับสู่หน้าเว็บ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52A45-33CD-4F49-850D-32A4805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ต้นแบบนี้มุ่งพิสูจน์การทำงานร่วมกันของทั้งระบบ มากกว่าการทดสอบการบรรทุกสิ่งของจริง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37BB6-C5BD-445A-B9ED-3EADD79F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0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การวางและรับสิ่งของยังยืนยันผ่านเว็บ และฐานหุ่นยนต์ยังไม่มีโครงสร้างบรรทุกเฉพาะ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249472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179E4-2EA9-4692-BE6E-36FDAD40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5D412-C92C-40AA-A77D-87C0F95D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ECF87-F588-4143-910A-351EAFC8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B1AD0-E6F8-4B6B-AA5A-DC650BE4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F503E-BAD1-46DE-A8FF-9B18A210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สิ่งที่โครงงานตั้งใจออกแบบ พัฒนา และทดสอบ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42CD1-923A-4CF7-91D0-94FBEF0A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3FF18-A006-4D73-89FD-CC19DCB7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พัฒนาฐานหุ่นยนต์ Differential Drive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E2D0D-75F0-4A0F-9716-FCD0DF18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ใช้มอเตอร์ ชุดควบคุม และเซนเซอร์สำหรับตรวจวัดการเคลื่อนที่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D764D-A0FD-4CE8-99CC-68C0D50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0AA2A-BF00-44DA-A83D-27722798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พัฒนาระบบนำทางด้วย ROS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0181A-1C90-4C16-B708-F66CADE5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 SLAM Toolbox, AMCL และ Nav2 สำหรับพื้นที่ทดลองภายในอาคาร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E31D2-1084-4020-98DC-55BF4050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A1CD9-82A4-416A-BCED-17044EAD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พัฒนาเว็บแอปพลิเคชัน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D6841-A538-4E94-B19B-CE0595E2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สร้างภารกิจ จัดการคิว ติดตามสถานะ และดูประวัติตามสิทธิ์ผู้ใช้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9CC43-4C3F-47A5-9B0E-357BF97E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6E5E1-1D50-49FD-B627-95D79D73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 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358DD-F687-406D-A497-FEE41FD8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รับส่งคำสั่ง ตำแหน่ง และสถานะระหว่างเว็บกับระบบหุ่นยนต์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A6302-2E1C-4F1D-9D54-6AFD4C6B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A9DFC-9430-48E2-A68B-F84BCB85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ทดสอบการทำงานร่วมกัน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1E8B7-7CF9-494A-A011-50A10A16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ตรวจฟังก์ชันเว็บ การเคลื่อนที่จริง และลำดับการรับส่งสิ่งของจำลอง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2D6C0-66E2-46D2-A571-A88CF5A1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7987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266E7-CE61-45CC-96B7-46381E80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E8065-5876-430A-B022-7EB783B8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0B514-2D34-48C2-BA26-263662BD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ขอบเขตของโครงงาน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D2A48-1BC6-4A0C-8EC2-0930F1F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6169A-EDFC-4F62-A6C5-23C5264C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แยกสิ่งที่ทดสอบในต้นแบบออกจากสิ่งที่ยังไม่ได้นำมาประเมิน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AECA3-01E0-4AA6-9508-60EF6840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258F9-D06D-4576-B79B-AD251454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DA2F2-18E6-4318-8B21-C4B4DCB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AAD3F-C7B5-40AE-9799-A5304E22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หุ่นยนต์จริง 1 คันในพื้นที่ทดลองภายในห้อง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C3819-148E-41A4-BC51-BBD36DD3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F1FC6-2077-43A9-9FAD-06857E9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สถานีบนแผนที่ประมาณ 2 ถึง 4 จุด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E989B-549A-4463-8A15-EA109F2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B5099-C848-413A-A38B-6A22241A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การสร้างแผนที่ ระบุตำแหน่ง และนำทาง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02F12-6EB6-49E5-A07C-8470A9B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6ACBB-4E17-4E23-8636-79137D02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เว็บจัดการผู้ใช้ สถานี ภารกิจ คิว และประวัติ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E2038-30BE-47F9-9F42-3E39BD97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2C2B1-BD36-4D16-853D-EF5894E2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ยืนยันการวางและรับสิ่งของผ่านเว็บ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9A127-6F53-4C9A-8B5C-014B06E0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F9481-6040-4239-A81E-B5BB77C2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ยังไม่ครอบคลุม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EF8D1-3BBB-4D7E-81EA-6ABE80A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5CFC43-9DA9-4F35-B06E-3B58BBC8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โครงสร้างบรรทุกสิ่งของโดยเฉพาะ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3E8B5-FB14-4969-9639-5B819137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56B5A-DE03-4734-87F2-DBEE1C5E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การประเมินน้ำหนักบรรทุกและการขนส่งจริง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6D0CB-8130-4B81-87B5-FAB32BEB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91039-ECB5-4B45-878D-AD18690F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ระบบตรวจจับว่าสิ่งของถูกวางหรือรับแล้ว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F3416-20F9-40C7-89E5-43ED1707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D294F-ADB6-4993-83D6-B0057FD1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การรับรองความปลอดภัยสำหรับพื้นที่ทั่วไป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72024F-4852-420D-B84C-0AF80205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ECA34-C220-421A-8442-CB8F2A19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ความเสถียรและประสิทธิภาพระยะยาว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15124692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6D148-26C5-46D7-976B-2DC0D5F0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53CDA-D26F-457A-8754-A6668675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EFAD6-61F1-4A73-8C95-742853EF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สถาปัตยกรรมระบบ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A447D-B59C-4F00-A69B-34DD80D1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F8632-A012-4602-AD03-17610428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สามส่วนหลักแลกเปลี่ยนคำสั่งและสถานะผ่าน Robot Agent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D261C-0567-4FB6-9377-D959047DD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c34eb08364b4e"/>
          <a:stretch xmlns:a="http://schemas.openxmlformats.org/drawingml/2006/main"/>
        </p:blipFill>
        <p:spPr>
          <a:xfrm xmlns:a="http://schemas.openxmlformats.org/drawingml/2006/main">
            <a:off x="2373480" y="1504950"/>
            <a:ext cx="7445039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1D2C1-70FD-437C-8B6C-8AFC738F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เว็บไม่เชื่อมต่อ ROS 2 โดยตรง  Robot Agent เป็นตัวกลางระหว่างระบบจัดการภารกิจกับหุ่นยนต์</a:t>
            </a:r>
          </a:p>
        </p:txBody>
      </p:sp>
    </p:spTree>
    <p:extLst>
      <p:ext uri="{BB962C8B-B14F-4D97-AF65-F5344CB8AC3E}">
        <p14:creationId xmlns:p14="http://schemas.microsoft.com/office/powerpoint/2010/main" val="1904055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D6E45-A8BE-46FD-974F-8E16324B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009CA-D8CB-4B77-95A2-60AFDED0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82F88-2310-430C-AE7B-0DC29978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ฐานหุ่นยนต์และ Differential 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78BD5-A386-4CF7-AFF1-7BBE4DB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43467-EBDB-4909-B8AD-B1AC5E2C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ควบคุมทิศทางจากความเร็วล้อซ้ายและขวา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783CA-D634-411E-862B-57CDDED3B6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8954062b14d2a"/>
          <a:stretch xmlns:a="http://schemas.openxmlformats.org/drawingml/2006/main"/>
        </p:blipFill>
        <p:spPr>
          <a:xfrm xmlns:a="http://schemas.openxmlformats.org/drawingml/2006/main">
            <a:off x="534226" y="1581150"/>
            <a:ext cx="7218298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EB9E1-ABD9-4ED6-A17B-FCA799A4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ฮาร์ดแวร์หลัก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E7C8F-49C3-487F-B705-6382B38B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C6670-2664-415C-8975-3B9977A3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ODROID-C4 ประมวลผล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92E9B-9794-499F-84B7-79ECC426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E6B4C-0F57-44DD-B290-1482D46E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ESP32 ควบคุมฐานและอ่าน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E8CE6-9432-4F5F-A214-BC06F5F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C1160-F446-48D8-9DD3-07FA774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TB6612FNG ขับมอเตอร์ 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6DE61-A02D-47C0-AC76-DEAD071F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4C369-D2F1-430D-B130-6EFC848F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14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MPU6050 วัดการเคลื่อนที่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14ECF-7CFA-43EA-A779-45625278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B385A-5B4F-4E8D-B482-7A51AB86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YDLIDAR X3 สแกนพื้นที่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19358-E5F9-477B-8708-71D93637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F7ABA-59A4-45AC-8C8F-5DE4DB01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9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USB Camera ส่งภาพสด</a:t>
            </a:r>
          </a:p>
        </p:txBody>
      </p:sp>
    </p:spTree>
    <p:extLst>
      <p:ext uri="{BB962C8B-B14F-4D97-AF65-F5344CB8AC3E}">
        <p14:creationId xmlns:p14="http://schemas.microsoft.com/office/powerpoint/2010/main" val="6209149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0A1EF-EDEF-4A9A-BD3B-8561E3E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E9B1E-53E4-49B2-9456-781E77AA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2FBF4-9561-440C-9DBB-CAEDD3B9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การควบคุมความเร็วล้อแบบป้อนกลับ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0A820-04B5-4D6F-A70F-DAFFB93F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13B4D-0264-450E-A8CA-C7AABE08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Encoder ช่วยให้คำสั่งความเร็วสัมพันธ์กับการเคลื่อนที่จริงของล้อ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56AB6-42EE-48E8-810C-0ADB341CA6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3373a856747e1"/>
          <a:stretch xmlns:a="http://schemas.openxmlformats.org/drawingml/2006/main"/>
        </p:blipFill>
        <p:spPr>
          <a:xfrm xmlns:a="http://schemas.openxmlformats.org/drawingml/2006/main">
            <a:off x="2869598" y="1619250"/>
            <a:ext cx="6452803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3CBDE-49E7-49A8-BA51-3D2C4301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F9F02-327C-4C4B-981F-27A9B49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TARGET 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40A58-EC28-4429-B535-A6692379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0530F-3F64-4AE0-BBA3-9B814901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6A3CC-9C18-4E48-A7EA-B9D4BDC4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PI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6F81C-94FE-4566-B616-47480F24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B6056-648B-420E-8C0D-7D679092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2930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32A09-BF64-4931-A8D6-FCF16497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95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A3B82"/>
                </a:solidFill>
              </a:defRPr>
            </a:defPPr>
            <a:lvl1pPr>
              <a:defRPr sz="975" b="1">
                <a:solidFill>
                  <a:srgbClr val="0A3B82"/>
                </a:solidFill>
              </a:defRPr>
            </a:lvl1pPr>
            <a:lvl2pPr>
              <a:defRPr sz="975" b="1">
                <a:solidFill>
                  <a:srgbClr val="0A3B82"/>
                </a:solidFill>
              </a:defRPr>
            </a:lvl2pPr>
            <a:lvl3pPr>
              <a:defRPr sz="975" b="1">
                <a:solidFill>
                  <a:srgbClr val="0A3B82"/>
                </a:solidFill>
              </a:defRPr>
            </a:lvl3pPr>
            <a:lvl4pPr>
              <a:defRPr sz="975" b="1">
                <a:solidFill>
                  <a:srgbClr val="0A3B82"/>
                </a:solidFill>
              </a:defRPr>
            </a:lvl4pPr>
            <a:lvl5pPr>
              <a:defRPr sz="975" b="1">
                <a:solidFill>
                  <a:srgbClr val="0A3B82"/>
                </a:solidFill>
              </a:defRPr>
            </a:lvl5pPr>
            <a:lvl6pPr>
              <a:defRPr sz="975" b="1">
                <a:solidFill>
                  <a:srgbClr val="0A3B82"/>
                </a:solidFill>
              </a:defRPr>
            </a:lvl6pPr>
            <a:lvl7pPr>
              <a:defRPr sz="975" b="1">
                <a:solidFill>
                  <a:srgbClr val="0A3B82"/>
                </a:solidFill>
              </a:defRPr>
            </a:lvl7pPr>
            <a:lvl8pPr>
              <a:defRPr sz="975" b="1">
                <a:solidFill>
                  <a:srgbClr val="0A3B82"/>
                </a:solidFill>
              </a:defRPr>
            </a:lvl8pPr>
            <a:lvl9pPr>
              <a:defRPr sz="9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A3B82"/>
                </a:solidFill>
              </a:defRPr>
            </a:pPr>
            <a:r>
              <a:rPr sz="975" b="1">
                <a:solidFill>
                  <a:srgbClr val="0A3B82"/>
                </a:solidFill>
              </a:rPr>
              <a:t>MOTOR + WHEEL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D3161-369E-47A6-8571-F73D5C0E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10275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124DE-D056-4EF6-8D4D-1C0ADEF8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2930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DACEE-22F8-4E38-BB5C-90F425F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95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ENCODER FEEDBACK</a:t>
            </a:r>
          </a:p>
        </p:txBody>
      </p:sp>
    </p:spTree>
    <p:extLst>
      <p:ext uri="{BB962C8B-B14F-4D97-AF65-F5344CB8AC3E}">
        <p14:creationId xmlns:p14="http://schemas.microsoft.com/office/powerpoint/2010/main" val="1545030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B777F-1869-4382-9943-78C04CF9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F42CB-7CDA-42B7-9A2E-DA440B80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47EDC-6607-488F-8DAA-E17268BF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Mapping, Localization and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DCC9-2BFF-48B6-90F3-4936D059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54476-6534-4BA8-9F67-A1F151E2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สร้างแผนที่ก่อน ระบุตำแหน่งบนแผนที่ แล้วจึงส่งเป้าหมายให้ Nav2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37880-F793-49FF-B75C-2BC8F48F4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fdf02aeb843a3"/>
          <a:stretch xmlns:a="http://schemas.openxmlformats.org/drawingml/2006/main"/>
        </p:blipFill>
        <p:spPr>
          <a:xfrm xmlns:a="http://schemas.openxmlformats.org/drawingml/2006/main">
            <a:off x="2288881" y="1524000"/>
            <a:ext cx="761423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58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1AB630-E0D9-47E7-B420-5A2D813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75CC6-9649-41A9-A4F2-9A539FFC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B9C9A-A9A7-4D18-A8B1-70D67A7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เว็บแอปพลิเคชันและ Robot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ED0C2-D79E-4BB5-9CFD-C521EC2A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68334-C59D-4779-8556-6FA278B3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Robot Agent เชื่อมระบบจัดการภารกิจกับระบบนำทางของหุ่นยนต์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22AEB-08BC-46B9-926C-DE56522A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3333750" cy="35433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38E15-4AEB-4490-A1DB-D85EADA9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WEB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928F2-0E2C-4926-85B9-9E8F0AC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ผู้ใช้งาน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F2360-D2BA-44DE-BC1B-B54E2E48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เลือกสถานี สร้างภารกิจ และยืนยันการรับส่ง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99C68-2E88-49D6-8048-51DBC060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5FE46-3B79-4B85-9B65-8D62BD8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Web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73B22-7710-4142-9EA4-195CED75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แสดงคิว สถานะ ตำแหน่ง และประวัติ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3FE62-6CC3-4AC8-9612-2D5C5C0F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Backend +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719E3-CBBD-4170-92A0-DA807707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ตรวจสอบและบันทึกภารกิจ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C1AD1-77E7-405D-A4FA-D8FF9245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2857500" cy="38481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53D8F-312E-467B-BC69-B71BDFBC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98EE-8ED9-4C58-96FE-51CD6BD5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7EAF3"/>
                </a:solidFill>
              </a:defRPr>
            </a:defPPr>
            <a:lvl1pPr>
              <a:defRPr sz="1050" b="0">
                <a:solidFill>
                  <a:srgbClr val="C7EAF3"/>
                </a:solidFill>
              </a:defRPr>
            </a:lvl1pPr>
            <a:lvl2pPr>
              <a:defRPr sz="1050" b="0">
                <a:solidFill>
                  <a:srgbClr val="C7EAF3"/>
                </a:solidFill>
              </a:defRPr>
            </a:lvl2pPr>
            <a:lvl3pPr>
              <a:defRPr sz="1050" b="0">
                <a:solidFill>
                  <a:srgbClr val="C7EAF3"/>
                </a:solidFill>
              </a:defRPr>
            </a:lvl3pPr>
            <a:lvl4pPr>
              <a:defRPr sz="1050" b="0">
                <a:solidFill>
                  <a:srgbClr val="C7EAF3"/>
                </a:solidFill>
              </a:defRPr>
            </a:lvl4pPr>
            <a:lvl5pPr>
              <a:defRPr sz="1050" b="0">
                <a:solidFill>
                  <a:srgbClr val="C7EAF3"/>
                </a:solidFill>
              </a:defRPr>
            </a:lvl5pPr>
            <a:lvl6pPr>
              <a:defRPr sz="1050" b="0">
                <a:solidFill>
                  <a:srgbClr val="C7EAF3"/>
                </a:solidFill>
              </a:defRPr>
            </a:lvl6pPr>
            <a:lvl7pPr>
              <a:defRPr sz="1050" b="0">
                <a:solidFill>
                  <a:srgbClr val="C7EAF3"/>
                </a:solidFill>
              </a:defRPr>
            </a:lvl7pPr>
            <a:lvl8pPr>
              <a:defRPr sz="1050" b="0">
                <a:solidFill>
                  <a:srgbClr val="C7EAF3"/>
                </a:solidFill>
              </a:defRPr>
            </a:lvl8pPr>
            <a:lvl9pPr>
              <a:defRPr sz="1050" b="0">
                <a:solidFill>
                  <a:srgbClr val="C7EAF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7EAF3"/>
                </a:solidFill>
              </a:defRPr>
            </a:pPr>
            <a:r>
              <a:rPr sz="1050" b="0">
                <a:solidFill>
                  <a:srgbClr val="C7EAF3"/>
                </a:solidFill>
              </a:rPr>
              <a:t>ตัวกลางระหว่างเว็บกับ ROS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151B9-B10C-43FB-A851-39E94DC9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FCD4E-46AA-4CF3-ABA5-6C75C292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622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รับภารกิจจาก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67FD2-DF8B-4381-9FE9-D1BFCBA0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24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CE2D6-E110-4AD8-82C6-AC894AD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เรียก Nav2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EE7AA-C8F0-48AD-B513-C3E3212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AEECC-DA6E-4228-8ABE-5E20E426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909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ติดตามผลการนำทาง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0B851-5E0B-4A22-AC84-C494F537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52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8F025-1B63-4EE5-8157-63899542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053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ส่งสถานะกลับสู่เว็บ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AF8CE-BBF7-405D-B44B-46E95BC8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333750" cy="35433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CD12A-6F30-44C0-99DD-852C4904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ROBOT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7D665-3718-4C95-9240-97C4EB31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ROS 2 + Nav2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B0BF66-70FE-492D-9EDC-40D9E8E8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รับเป้าหมาย วางแผนเส้นทาง และส่ง cmd_vel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44823-04AA-442E-8428-5E8EA99E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017602-1B73-4688-8E40-C328AAC2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Base Driver + ESP32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0DB48C-2842-473D-85B7-363CF445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ขับมอเตอร์และอ่าน Encoder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A14D8-AC54-4B51-9E28-9F715AC2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Telemetry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A37D4-8058-4938-8CA4-26CF2A4F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ส่ง Odometry ตำแหน่ง และสถานะกลับ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A0FA17-017D-4565-8C08-80D48B2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95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MISSION COMMAND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27A980-210B-4A5C-9C0D-2EAEDA34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1FE7C-F037-4D14-BB2B-5254D87D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95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NAV2 GOAL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DCB9F3-20E7-4E99-8322-30F689EB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D10794-1C5F-4BB7-BF6D-3DD68088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STATUS + EVENT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DB77AC-6531-45FB-BD18-E608D406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05300"/>
            <a:ext cx="838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B5DDAC-70E3-4B5F-9AEF-4751BC28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05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POSE +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6FD078-6C4D-4AF0-AB2D-0EFC3137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838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660E7F-C2CA-4A7A-84D6-FE6B710A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7215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ผู้ใช้สั่งงานและติดตามภารกิจจากเว็บ โดยไม่ต้องติดต่อ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2672844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D04F88-7157-44A7-892F-7358F4EF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MISSION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9577D-EC7F-4079-9579-734AD09A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15B4F-E603-4131-A6C2-0D598761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ลำดับการทำงานของภารกิจ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F63E3-64ED-4B48-A4C1-D3BD6B0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51D8B-858D-4E20-84C8-535EC520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หนึ่งภารกิจประกอบด้วยการเดินทาง และการยืนยันรับ–ส่งผ่านหน้าเว็บ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16438-1637-4AFD-9C5B-E263D4E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ลำดับปกติ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697B4-CE13-48C3-84B4-D4936D37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38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ชื่อภาษาไทยอธิบายสิ่งที่ผู้ใช้เห็น ส่วนรหัสด้านล่างคือสถานะที่ระบบบันทึก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20465-7D68-4D8E-ACB7-450C7454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EBD6C-3357-4D7E-8735-7A09CADB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5322F-CF7E-493E-B690-B6B95EF8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4795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A3B82"/>
                </a:solidFill>
              </a:defRPr>
            </a:defPPr>
            <a:lvl1pPr>
              <a:defRPr sz="1350" b="1">
                <a:solidFill>
                  <a:srgbClr val="0A3B82"/>
                </a:solidFill>
              </a:defRPr>
            </a:lvl1pPr>
            <a:lvl2pPr>
              <a:defRPr sz="1350" b="1">
                <a:solidFill>
                  <a:srgbClr val="0A3B82"/>
                </a:solidFill>
              </a:defRPr>
            </a:lvl2pPr>
            <a:lvl3pPr>
              <a:defRPr sz="1350" b="1">
                <a:solidFill>
                  <a:srgbClr val="0A3B82"/>
                </a:solidFill>
              </a:defRPr>
            </a:lvl3pPr>
            <a:lvl4pPr>
              <a:defRPr sz="1350" b="1">
                <a:solidFill>
                  <a:srgbClr val="0A3B82"/>
                </a:solidFill>
              </a:defRPr>
            </a:lvl4pPr>
            <a:lvl5pPr>
              <a:defRPr sz="1350" b="1">
                <a:solidFill>
                  <a:srgbClr val="0A3B82"/>
                </a:solidFill>
              </a:defRPr>
            </a:lvl5pPr>
            <a:lvl6pPr>
              <a:defRPr sz="1350" b="1">
                <a:solidFill>
                  <a:srgbClr val="0A3B82"/>
                </a:solidFill>
              </a:defRPr>
            </a:lvl6pPr>
            <a:lvl7pPr>
              <a:defRPr sz="1350" b="1">
                <a:solidFill>
                  <a:srgbClr val="0A3B82"/>
                </a:solidFill>
              </a:defRPr>
            </a:lvl7pPr>
            <a:lvl8pPr>
              <a:defRPr sz="1350" b="1">
                <a:solidFill>
                  <a:srgbClr val="0A3B82"/>
                </a:solidFill>
              </a:defRPr>
            </a:lvl8pPr>
            <a:lvl9pPr>
              <a:defRPr sz="13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A3B82"/>
                </a:solidFill>
              </a:defRPr>
            </a:pPr>
            <a:r>
              <a:rPr sz="1350" b="1">
                <a:solidFill>
                  <a:srgbClr val="0A3B82"/>
                </a:solidFill>
              </a:rPr>
              <a:t>เข้าคิว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52913-EC77-4A79-A1C8-C5FBBDF0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004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58718B"/>
                </a:solidFill>
              </a:defRPr>
            </a:defPPr>
            <a:lvl1pPr>
              <a:defRPr sz="675" b="1">
                <a:solidFill>
                  <a:srgbClr val="58718B"/>
                </a:solidFill>
              </a:defRPr>
            </a:lvl1pPr>
            <a:lvl2pPr>
              <a:defRPr sz="675" b="1">
                <a:solidFill>
                  <a:srgbClr val="58718B"/>
                </a:solidFill>
              </a:defRPr>
            </a:lvl2pPr>
            <a:lvl3pPr>
              <a:defRPr sz="675" b="1">
                <a:solidFill>
                  <a:srgbClr val="58718B"/>
                </a:solidFill>
              </a:defRPr>
            </a:lvl3pPr>
            <a:lvl4pPr>
              <a:defRPr sz="675" b="1">
                <a:solidFill>
                  <a:srgbClr val="58718B"/>
                </a:solidFill>
              </a:defRPr>
            </a:lvl4pPr>
            <a:lvl5pPr>
              <a:defRPr sz="675" b="1">
                <a:solidFill>
                  <a:srgbClr val="58718B"/>
                </a:solidFill>
              </a:defRPr>
            </a:lvl5pPr>
            <a:lvl6pPr>
              <a:defRPr sz="675" b="1">
                <a:solidFill>
                  <a:srgbClr val="58718B"/>
                </a:solidFill>
              </a:defRPr>
            </a:lvl6pPr>
            <a:lvl7pPr>
              <a:defRPr sz="675" b="1">
                <a:solidFill>
                  <a:srgbClr val="58718B"/>
                </a:solidFill>
              </a:defRPr>
            </a:lvl7pPr>
            <a:lvl8pPr>
              <a:defRPr sz="675" b="1">
                <a:solidFill>
                  <a:srgbClr val="58718B"/>
                </a:solidFill>
              </a:defRPr>
            </a:lvl8pPr>
            <a:lvl9pPr>
              <a:defRPr sz="67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58718B"/>
                </a:solidFill>
              </a:defRPr>
            </a:pPr>
            <a:r>
              <a:rPr sz="675" b="1">
                <a:solidFill>
                  <a:srgbClr val="58718B"/>
                </a:solidFill>
              </a:rPr>
              <a:t>QUEUED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01CCB-7BEB-411C-B848-408A673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E5554-F4B4-40AA-9155-39F4237A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CA89A-5C71-45F8-8DFA-C8690230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AAE7A-1165-446F-9B3F-A9609D9B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4795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A3B82"/>
                </a:solidFill>
              </a:defRPr>
            </a:defPPr>
            <a:lvl1pPr>
              <a:defRPr sz="1350" b="1">
                <a:solidFill>
                  <a:srgbClr val="0A3B82"/>
                </a:solidFill>
              </a:defRPr>
            </a:lvl1pPr>
            <a:lvl2pPr>
              <a:defRPr sz="1350" b="1">
                <a:solidFill>
                  <a:srgbClr val="0A3B82"/>
                </a:solidFill>
              </a:defRPr>
            </a:lvl2pPr>
            <a:lvl3pPr>
              <a:defRPr sz="1350" b="1">
                <a:solidFill>
                  <a:srgbClr val="0A3B82"/>
                </a:solidFill>
              </a:defRPr>
            </a:lvl3pPr>
            <a:lvl4pPr>
              <a:defRPr sz="1350" b="1">
                <a:solidFill>
                  <a:srgbClr val="0A3B82"/>
                </a:solidFill>
              </a:defRPr>
            </a:lvl4pPr>
            <a:lvl5pPr>
              <a:defRPr sz="1350" b="1">
                <a:solidFill>
                  <a:srgbClr val="0A3B82"/>
                </a:solidFill>
              </a:defRPr>
            </a:lvl5pPr>
            <a:lvl6pPr>
              <a:defRPr sz="1350" b="1">
                <a:solidFill>
                  <a:srgbClr val="0A3B82"/>
                </a:solidFill>
              </a:defRPr>
            </a:lvl6pPr>
            <a:lvl7pPr>
              <a:defRPr sz="1350" b="1">
                <a:solidFill>
                  <a:srgbClr val="0A3B82"/>
                </a:solidFill>
              </a:defRPr>
            </a:lvl7pPr>
            <a:lvl8pPr>
              <a:defRPr sz="1350" b="1">
                <a:solidFill>
                  <a:srgbClr val="0A3B82"/>
                </a:solidFill>
              </a:defRPr>
            </a:lvl8pPr>
            <a:lvl9pPr>
              <a:defRPr sz="13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A3B82"/>
                </a:solidFill>
              </a:defRPr>
            </a:pPr>
            <a:r>
              <a:rPr sz="1350" b="1">
                <a:solidFill>
                  <a:srgbClr val="0A3B82"/>
                </a:solidFill>
              </a:rPr>
              <a:t>ไปยังจุดรับ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B0EB7-04A3-4CF3-A10B-E5EFE159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004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58718B"/>
                </a:solidFill>
              </a:defRPr>
            </a:defPPr>
            <a:lvl1pPr>
              <a:defRPr sz="675" b="1">
                <a:solidFill>
                  <a:srgbClr val="58718B"/>
                </a:solidFill>
              </a:defRPr>
            </a:lvl1pPr>
            <a:lvl2pPr>
              <a:defRPr sz="675" b="1">
                <a:solidFill>
                  <a:srgbClr val="58718B"/>
                </a:solidFill>
              </a:defRPr>
            </a:lvl2pPr>
            <a:lvl3pPr>
              <a:defRPr sz="675" b="1">
                <a:solidFill>
                  <a:srgbClr val="58718B"/>
                </a:solidFill>
              </a:defRPr>
            </a:lvl3pPr>
            <a:lvl4pPr>
              <a:defRPr sz="675" b="1">
                <a:solidFill>
                  <a:srgbClr val="58718B"/>
                </a:solidFill>
              </a:defRPr>
            </a:lvl4pPr>
            <a:lvl5pPr>
              <a:defRPr sz="675" b="1">
                <a:solidFill>
                  <a:srgbClr val="58718B"/>
                </a:solidFill>
              </a:defRPr>
            </a:lvl5pPr>
            <a:lvl6pPr>
              <a:defRPr sz="675" b="1">
                <a:solidFill>
                  <a:srgbClr val="58718B"/>
                </a:solidFill>
              </a:defRPr>
            </a:lvl6pPr>
            <a:lvl7pPr>
              <a:defRPr sz="675" b="1">
                <a:solidFill>
                  <a:srgbClr val="58718B"/>
                </a:solidFill>
              </a:defRPr>
            </a:lvl7pPr>
            <a:lvl8pPr>
              <a:defRPr sz="675" b="1">
                <a:solidFill>
                  <a:srgbClr val="58718B"/>
                </a:solidFill>
              </a:defRPr>
            </a:lvl8pPr>
            <a:lvl9pPr>
              <a:defRPr sz="67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58718B"/>
                </a:solidFill>
              </a:defRPr>
            </a:pPr>
            <a:r>
              <a:rPr sz="675" b="1">
                <a:solidFill>
                  <a:srgbClr val="58718B"/>
                </a:solidFill>
              </a:rPr>
              <a:t>GOING_TO_PICKUP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30384-29C6-42ED-9D39-561EC0B3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9B515-E64D-47C1-9ED0-F6BE0BDE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086A7-77DE-47AF-A2A8-F931BF3B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4E919-1DDA-4CA6-911A-B6983E5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4795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A3B82"/>
                </a:solidFill>
              </a:defRPr>
            </a:defPPr>
            <a:lvl1pPr>
              <a:defRPr sz="1350" b="1">
                <a:solidFill>
                  <a:srgbClr val="0A3B82"/>
                </a:solidFill>
              </a:defRPr>
            </a:lvl1pPr>
            <a:lvl2pPr>
              <a:defRPr sz="1350" b="1">
                <a:solidFill>
                  <a:srgbClr val="0A3B82"/>
                </a:solidFill>
              </a:defRPr>
            </a:lvl2pPr>
            <a:lvl3pPr>
              <a:defRPr sz="1350" b="1">
                <a:solidFill>
                  <a:srgbClr val="0A3B82"/>
                </a:solidFill>
              </a:defRPr>
            </a:lvl3pPr>
            <a:lvl4pPr>
              <a:defRPr sz="1350" b="1">
                <a:solidFill>
                  <a:srgbClr val="0A3B82"/>
                </a:solidFill>
              </a:defRPr>
            </a:lvl4pPr>
            <a:lvl5pPr>
              <a:defRPr sz="1350" b="1">
                <a:solidFill>
                  <a:srgbClr val="0A3B82"/>
                </a:solidFill>
              </a:defRPr>
            </a:lvl5pPr>
            <a:lvl6pPr>
              <a:defRPr sz="1350" b="1">
                <a:solidFill>
                  <a:srgbClr val="0A3B82"/>
                </a:solidFill>
              </a:defRPr>
            </a:lvl6pPr>
            <a:lvl7pPr>
              <a:defRPr sz="1350" b="1">
                <a:solidFill>
                  <a:srgbClr val="0A3B82"/>
                </a:solidFill>
              </a:defRPr>
            </a:lvl7pPr>
            <a:lvl8pPr>
              <a:defRPr sz="1350" b="1">
                <a:solidFill>
                  <a:srgbClr val="0A3B82"/>
                </a:solidFill>
              </a:defRPr>
            </a:lvl8pPr>
            <a:lvl9pPr>
              <a:defRPr sz="13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A3B82"/>
                </a:solidFill>
              </a:defRPr>
            </a:pPr>
            <a:r>
              <a:rPr sz="1350" b="1">
                <a:solidFill>
                  <a:srgbClr val="0A3B82"/>
                </a:solidFill>
              </a:rPr>
              <a:t>รอยืนยันการวาง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EE8C7-84A8-41A5-8943-F277E8FE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004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58718B"/>
                </a:solidFill>
              </a:defRPr>
            </a:defPPr>
            <a:lvl1pPr>
              <a:defRPr sz="675" b="1">
                <a:solidFill>
                  <a:srgbClr val="58718B"/>
                </a:solidFill>
              </a:defRPr>
            </a:lvl1pPr>
            <a:lvl2pPr>
              <a:defRPr sz="675" b="1">
                <a:solidFill>
                  <a:srgbClr val="58718B"/>
                </a:solidFill>
              </a:defRPr>
            </a:lvl2pPr>
            <a:lvl3pPr>
              <a:defRPr sz="675" b="1">
                <a:solidFill>
                  <a:srgbClr val="58718B"/>
                </a:solidFill>
              </a:defRPr>
            </a:lvl3pPr>
            <a:lvl4pPr>
              <a:defRPr sz="675" b="1">
                <a:solidFill>
                  <a:srgbClr val="58718B"/>
                </a:solidFill>
              </a:defRPr>
            </a:lvl4pPr>
            <a:lvl5pPr>
              <a:defRPr sz="675" b="1">
                <a:solidFill>
                  <a:srgbClr val="58718B"/>
                </a:solidFill>
              </a:defRPr>
            </a:lvl5pPr>
            <a:lvl6pPr>
              <a:defRPr sz="675" b="1">
                <a:solidFill>
                  <a:srgbClr val="58718B"/>
                </a:solidFill>
              </a:defRPr>
            </a:lvl6pPr>
            <a:lvl7pPr>
              <a:defRPr sz="675" b="1">
                <a:solidFill>
                  <a:srgbClr val="58718B"/>
                </a:solidFill>
              </a:defRPr>
            </a:lvl7pPr>
            <a:lvl8pPr>
              <a:defRPr sz="675" b="1">
                <a:solidFill>
                  <a:srgbClr val="58718B"/>
                </a:solidFill>
              </a:defRPr>
            </a:lvl8pPr>
            <a:lvl9pPr>
              <a:defRPr sz="67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58718B"/>
                </a:solidFill>
              </a:defRPr>
            </a:pPr>
            <a:r>
              <a:rPr sz="675" b="1">
                <a:solidFill>
                  <a:srgbClr val="58718B"/>
                </a:solidFill>
              </a:rPr>
              <a:t>WAITING_FOR_LOADING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A79F7-68EA-4B0F-9A06-79E586D6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F60B6-252F-478D-A69D-AA3833BD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FF631-452D-4036-AFE3-0016CAC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C92EE0-A811-4941-9F31-36831FA9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A3B82"/>
                </a:solidFill>
              </a:defRPr>
            </a:defPPr>
            <a:lvl1pPr>
              <a:defRPr sz="1350" b="1">
                <a:solidFill>
                  <a:srgbClr val="0A3B82"/>
                </a:solidFill>
              </a:defRPr>
            </a:lvl1pPr>
            <a:lvl2pPr>
              <a:defRPr sz="1350" b="1">
                <a:solidFill>
                  <a:srgbClr val="0A3B82"/>
                </a:solidFill>
              </a:defRPr>
            </a:lvl2pPr>
            <a:lvl3pPr>
              <a:defRPr sz="1350" b="1">
                <a:solidFill>
                  <a:srgbClr val="0A3B82"/>
                </a:solidFill>
              </a:defRPr>
            </a:lvl3pPr>
            <a:lvl4pPr>
              <a:defRPr sz="1350" b="1">
                <a:solidFill>
                  <a:srgbClr val="0A3B82"/>
                </a:solidFill>
              </a:defRPr>
            </a:lvl4pPr>
            <a:lvl5pPr>
              <a:defRPr sz="1350" b="1">
                <a:solidFill>
                  <a:srgbClr val="0A3B82"/>
                </a:solidFill>
              </a:defRPr>
            </a:lvl5pPr>
            <a:lvl6pPr>
              <a:defRPr sz="1350" b="1">
                <a:solidFill>
                  <a:srgbClr val="0A3B82"/>
                </a:solidFill>
              </a:defRPr>
            </a:lvl6pPr>
            <a:lvl7pPr>
              <a:defRPr sz="1350" b="1">
                <a:solidFill>
                  <a:srgbClr val="0A3B82"/>
                </a:solidFill>
              </a:defRPr>
            </a:lvl7pPr>
            <a:lvl8pPr>
              <a:defRPr sz="1350" b="1">
                <a:solidFill>
                  <a:srgbClr val="0A3B82"/>
                </a:solidFill>
              </a:defRPr>
            </a:lvl8pPr>
            <a:lvl9pPr>
              <a:defRPr sz="13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A3B82"/>
                </a:solidFill>
              </a:defRPr>
            </a:pPr>
            <a:r>
              <a:rPr sz="1350" b="1">
                <a:solidFill>
                  <a:srgbClr val="0A3B82"/>
                </a:solidFill>
              </a:rPr>
              <a:t>ไปยังปลายทาง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833F4-86FD-437A-9106-10C06E9C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04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58718B"/>
                </a:solidFill>
              </a:defRPr>
            </a:defPPr>
            <a:lvl1pPr>
              <a:defRPr sz="675" b="1">
                <a:solidFill>
                  <a:srgbClr val="58718B"/>
                </a:solidFill>
              </a:defRPr>
            </a:lvl1pPr>
            <a:lvl2pPr>
              <a:defRPr sz="675" b="1">
                <a:solidFill>
                  <a:srgbClr val="58718B"/>
                </a:solidFill>
              </a:defRPr>
            </a:lvl2pPr>
            <a:lvl3pPr>
              <a:defRPr sz="675" b="1">
                <a:solidFill>
                  <a:srgbClr val="58718B"/>
                </a:solidFill>
              </a:defRPr>
            </a:lvl3pPr>
            <a:lvl4pPr>
              <a:defRPr sz="675" b="1">
                <a:solidFill>
                  <a:srgbClr val="58718B"/>
                </a:solidFill>
              </a:defRPr>
            </a:lvl4pPr>
            <a:lvl5pPr>
              <a:defRPr sz="675" b="1">
                <a:solidFill>
                  <a:srgbClr val="58718B"/>
                </a:solidFill>
              </a:defRPr>
            </a:lvl5pPr>
            <a:lvl6pPr>
              <a:defRPr sz="675" b="1">
                <a:solidFill>
                  <a:srgbClr val="58718B"/>
                </a:solidFill>
              </a:defRPr>
            </a:lvl6pPr>
            <a:lvl7pPr>
              <a:defRPr sz="675" b="1">
                <a:solidFill>
                  <a:srgbClr val="58718B"/>
                </a:solidFill>
              </a:defRPr>
            </a:lvl7pPr>
            <a:lvl8pPr>
              <a:defRPr sz="675" b="1">
                <a:solidFill>
                  <a:srgbClr val="58718B"/>
                </a:solidFill>
              </a:defRPr>
            </a:lvl8pPr>
            <a:lvl9pPr>
              <a:defRPr sz="67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58718B"/>
                </a:solidFill>
              </a:defRPr>
            </a:pPr>
            <a:r>
              <a:rPr sz="675" b="1">
                <a:solidFill>
                  <a:srgbClr val="58718B"/>
                </a:solidFill>
              </a:rPr>
              <a:t>DELIVERING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E30BC-FB8C-4F0A-B40D-2553A655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49D54-BBDF-4464-B7E4-F457F818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61E35-4710-45BC-B21F-148E54D4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823CF-BB2F-4A85-A90E-F347839F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4795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A3B82"/>
                </a:solidFill>
              </a:defRPr>
            </a:defPPr>
            <a:lvl1pPr>
              <a:defRPr sz="1350" b="1">
                <a:solidFill>
                  <a:srgbClr val="0A3B82"/>
                </a:solidFill>
              </a:defRPr>
            </a:lvl1pPr>
            <a:lvl2pPr>
              <a:defRPr sz="1350" b="1">
                <a:solidFill>
                  <a:srgbClr val="0A3B82"/>
                </a:solidFill>
              </a:defRPr>
            </a:lvl2pPr>
            <a:lvl3pPr>
              <a:defRPr sz="1350" b="1">
                <a:solidFill>
                  <a:srgbClr val="0A3B82"/>
                </a:solidFill>
              </a:defRPr>
            </a:lvl3pPr>
            <a:lvl4pPr>
              <a:defRPr sz="1350" b="1">
                <a:solidFill>
                  <a:srgbClr val="0A3B82"/>
                </a:solidFill>
              </a:defRPr>
            </a:lvl4pPr>
            <a:lvl5pPr>
              <a:defRPr sz="1350" b="1">
                <a:solidFill>
                  <a:srgbClr val="0A3B82"/>
                </a:solidFill>
              </a:defRPr>
            </a:lvl5pPr>
            <a:lvl6pPr>
              <a:defRPr sz="1350" b="1">
                <a:solidFill>
                  <a:srgbClr val="0A3B82"/>
                </a:solidFill>
              </a:defRPr>
            </a:lvl6pPr>
            <a:lvl7pPr>
              <a:defRPr sz="1350" b="1">
                <a:solidFill>
                  <a:srgbClr val="0A3B82"/>
                </a:solidFill>
              </a:defRPr>
            </a:lvl7pPr>
            <a:lvl8pPr>
              <a:defRPr sz="1350" b="1">
                <a:solidFill>
                  <a:srgbClr val="0A3B82"/>
                </a:solidFill>
              </a:defRPr>
            </a:lvl8pPr>
            <a:lvl9pPr>
              <a:defRPr sz="13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A3B82"/>
                </a:solidFill>
              </a:defRPr>
            </a:pPr>
            <a:r>
              <a:rPr sz="1350" b="1">
                <a:solidFill>
                  <a:srgbClr val="0A3B82"/>
                </a:solidFill>
              </a:rPr>
              <a:t>รอยืนยันการรับ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DA9E20-7997-4A8A-AB42-55C87DD6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004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58718B"/>
                </a:solidFill>
              </a:defRPr>
            </a:defPPr>
            <a:lvl1pPr>
              <a:defRPr sz="675" b="1">
                <a:solidFill>
                  <a:srgbClr val="58718B"/>
                </a:solidFill>
              </a:defRPr>
            </a:lvl1pPr>
            <a:lvl2pPr>
              <a:defRPr sz="675" b="1">
                <a:solidFill>
                  <a:srgbClr val="58718B"/>
                </a:solidFill>
              </a:defRPr>
            </a:lvl2pPr>
            <a:lvl3pPr>
              <a:defRPr sz="675" b="1">
                <a:solidFill>
                  <a:srgbClr val="58718B"/>
                </a:solidFill>
              </a:defRPr>
            </a:lvl3pPr>
            <a:lvl4pPr>
              <a:defRPr sz="675" b="1">
                <a:solidFill>
                  <a:srgbClr val="58718B"/>
                </a:solidFill>
              </a:defRPr>
            </a:lvl4pPr>
            <a:lvl5pPr>
              <a:defRPr sz="675" b="1">
                <a:solidFill>
                  <a:srgbClr val="58718B"/>
                </a:solidFill>
              </a:defRPr>
            </a:lvl5pPr>
            <a:lvl6pPr>
              <a:defRPr sz="675" b="1">
                <a:solidFill>
                  <a:srgbClr val="58718B"/>
                </a:solidFill>
              </a:defRPr>
            </a:lvl6pPr>
            <a:lvl7pPr>
              <a:defRPr sz="675" b="1">
                <a:solidFill>
                  <a:srgbClr val="58718B"/>
                </a:solidFill>
              </a:defRPr>
            </a:lvl7pPr>
            <a:lvl8pPr>
              <a:defRPr sz="675" b="1">
                <a:solidFill>
                  <a:srgbClr val="58718B"/>
                </a:solidFill>
              </a:defRPr>
            </a:lvl8pPr>
            <a:lvl9pPr>
              <a:defRPr sz="67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58718B"/>
                </a:solidFill>
              </a:defRPr>
            </a:pPr>
            <a:r>
              <a:rPr sz="675" b="1">
                <a:solidFill>
                  <a:srgbClr val="58718B"/>
                </a:solidFill>
              </a:rPr>
              <a:t>WAITING_FOR_UNLOADING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121B6-A0E1-4E33-9827-281B62F9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BD764A-73F4-4BBA-882E-3C3B34C2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16B18-F3D6-46C0-9090-4FE7BA58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BB1422-3E5C-4ACE-8B33-188DB1B2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4795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เสร็จสิ้น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BEE0A3-F7E1-4C28-A346-E155AEC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04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FFFFFF"/>
                </a:solidFill>
              </a:defRPr>
            </a:defPPr>
            <a:lvl1pPr>
              <a:defRPr sz="675" b="1">
                <a:solidFill>
                  <a:srgbClr val="FFFFFF"/>
                </a:solidFill>
              </a:defRPr>
            </a:lvl1pPr>
            <a:lvl2pPr>
              <a:defRPr sz="675" b="1">
                <a:solidFill>
                  <a:srgbClr val="FFFFFF"/>
                </a:solidFill>
              </a:defRPr>
            </a:lvl2pPr>
            <a:lvl3pPr>
              <a:defRPr sz="675" b="1">
                <a:solidFill>
                  <a:srgbClr val="FFFFFF"/>
                </a:solidFill>
              </a:defRPr>
            </a:lvl3pPr>
            <a:lvl4pPr>
              <a:defRPr sz="675" b="1">
                <a:solidFill>
                  <a:srgbClr val="FFFFFF"/>
                </a:solidFill>
              </a:defRPr>
            </a:lvl4pPr>
            <a:lvl5pPr>
              <a:defRPr sz="675" b="1">
                <a:solidFill>
                  <a:srgbClr val="FFFFFF"/>
                </a:solidFill>
              </a:defRPr>
            </a:lvl5pPr>
            <a:lvl6pPr>
              <a:defRPr sz="675" b="1">
                <a:solidFill>
                  <a:srgbClr val="FFFFFF"/>
                </a:solidFill>
              </a:defRPr>
            </a:lvl6pPr>
            <a:lvl7pPr>
              <a:defRPr sz="675" b="1">
                <a:solidFill>
                  <a:srgbClr val="FFFFFF"/>
                </a:solidFill>
              </a:defRPr>
            </a:lvl7pPr>
            <a:lvl8pPr>
              <a:defRPr sz="675" b="1">
                <a:solidFill>
                  <a:srgbClr val="FFFFFF"/>
                </a:solidFill>
              </a:defRPr>
            </a:lvl8pPr>
            <a:lvl9pPr>
              <a:defRPr sz="6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0FE6A5-BE1F-4BFE-B61E-B6DD5C5F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5362"/>
                </a:solidFill>
              </a:defRPr>
            </a:defPPr>
            <a:lvl1pPr>
              <a:defRPr sz="1125" b="1">
                <a:solidFill>
                  <a:srgbClr val="D95362"/>
                </a:solidFill>
              </a:defRPr>
            </a:lvl1pPr>
            <a:lvl2pPr>
              <a:defRPr sz="1125" b="1">
                <a:solidFill>
                  <a:srgbClr val="D95362"/>
                </a:solidFill>
              </a:defRPr>
            </a:lvl2pPr>
            <a:lvl3pPr>
              <a:defRPr sz="1125" b="1">
                <a:solidFill>
                  <a:srgbClr val="D95362"/>
                </a:solidFill>
              </a:defRPr>
            </a:lvl3pPr>
            <a:lvl4pPr>
              <a:defRPr sz="1125" b="1">
                <a:solidFill>
                  <a:srgbClr val="D95362"/>
                </a:solidFill>
              </a:defRPr>
            </a:lvl4pPr>
            <a:lvl5pPr>
              <a:defRPr sz="1125" b="1">
                <a:solidFill>
                  <a:srgbClr val="D95362"/>
                </a:solidFill>
              </a:defRPr>
            </a:lvl5pPr>
            <a:lvl6pPr>
              <a:defRPr sz="1125" b="1">
                <a:solidFill>
                  <a:srgbClr val="D95362"/>
                </a:solidFill>
              </a:defRPr>
            </a:lvl6pPr>
            <a:lvl7pPr>
              <a:defRPr sz="1125" b="1">
                <a:solidFill>
                  <a:srgbClr val="D95362"/>
                </a:solidFill>
              </a:defRPr>
            </a:lvl7pPr>
            <a:lvl8pPr>
              <a:defRPr sz="1125" b="1">
                <a:solidFill>
                  <a:srgbClr val="D95362"/>
                </a:solidFill>
              </a:defRPr>
            </a:lvl8pPr>
            <a:lvl9pPr>
              <a:defRPr sz="112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5362"/>
                </a:solidFill>
              </a:defRPr>
            </a:pPr>
            <a:r>
              <a:rPr sz="1125" b="1">
                <a:solidFill>
                  <a:srgbClr val="D95362"/>
                </a:solidFill>
              </a:rPr>
              <a:t>กรณีสิ้นสุดอื่น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3DCEC4-B45A-4FD9-822B-49694061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34290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CC727D-D023-4DEB-B8CB-6D960A0B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ยกเลิก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44225E-6B0B-4623-B738-5321EFCD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D95362"/>
                </a:solidFill>
              </a:defRPr>
            </a:defPPr>
            <a:lvl1pPr>
              <a:defRPr sz="750" b="1">
                <a:solidFill>
                  <a:srgbClr val="D95362"/>
                </a:solidFill>
              </a:defRPr>
            </a:lvl1pPr>
            <a:lvl2pPr>
              <a:defRPr sz="750" b="1">
                <a:solidFill>
                  <a:srgbClr val="D95362"/>
                </a:solidFill>
              </a:defRPr>
            </a:lvl2pPr>
            <a:lvl3pPr>
              <a:defRPr sz="750" b="1">
                <a:solidFill>
                  <a:srgbClr val="D95362"/>
                </a:solidFill>
              </a:defRPr>
            </a:lvl3pPr>
            <a:lvl4pPr>
              <a:defRPr sz="750" b="1">
                <a:solidFill>
                  <a:srgbClr val="D95362"/>
                </a:solidFill>
              </a:defRPr>
            </a:lvl4pPr>
            <a:lvl5pPr>
              <a:defRPr sz="750" b="1">
                <a:solidFill>
                  <a:srgbClr val="D95362"/>
                </a:solidFill>
              </a:defRPr>
            </a:lvl5pPr>
            <a:lvl6pPr>
              <a:defRPr sz="750" b="1">
                <a:solidFill>
                  <a:srgbClr val="D95362"/>
                </a:solidFill>
              </a:defRPr>
            </a:lvl6pPr>
            <a:lvl7pPr>
              <a:defRPr sz="750" b="1">
                <a:solidFill>
                  <a:srgbClr val="D95362"/>
                </a:solidFill>
              </a:defRPr>
            </a:lvl7pPr>
            <a:lvl8pPr>
              <a:defRPr sz="750" b="1">
                <a:solidFill>
                  <a:srgbClr val="D95362"/>
                </a:solidFill>
              </a:defRPr>
            </a:lvl8pPr>
            <a:lvl9pPr>
              <a:defRPr sz="7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D95362"/>
                </a:solidFill>
              </a:defRPr>
            </a:pPr>
            <a:r>
              <a:rPr sz="750" b="1">
                <a:solidFill>
                  <a:srgbClr val="D95362"/>
                </a:solidFill>
              </a:rPr>
              <a:t>CANCELLED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875343-FC32-447F-8DD7-30E90911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ผู้ใช้หรือผู้ดูแลยกเลิกภารกิจก่อนเริ่มเดินทาง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874F1D-AEFE-4329-9FC6-9156D424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8650"/>
            <a:ext cx="34290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B0C21E-9263-412F-9F67-4A6CE6BC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ล้มเหลว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8B29F8-2D72-4034-91B8-F4E041D0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D95362"/>
                </a:solidFill>
              </a:defRPr>
            </a:defPPr>
            <a:lvl1pPr>
              <a:defRPr sz="750" b="1">
                <a:solidFill>
                  <a:srgbClr val="D95362"/>
                </a:solidFill>
              </a:defRPr>
            </a:lvl1pPr>
            <a:lvl2pPr>
              <a:defRPr sz="750" b="1">
                <a:solidFill>
                  <a:srgbClr val="D95362"/>
                </a:solidFill>
              </a:defRPr>
            </a:lvl2pPr>
            <a:lvl3pPr>
              <a:defRPr sz="750" b="1">
                <a:solidFill>
                  <a:srgbClr val="D95362"/>
                </a:solidFill>
              </a:defRPr>
            </a:lvl3pPr>
            <a:lvl4pPr>
              <a:defRPr sz="750" b="1">
                <a:solidFill>
                  <a:srgbClr val="D95362"/>
                </a:solidFill>
              </a:defRPr>
            </a:lvl4pPr>
            <a:lvl5pPr>
              <a:defRPr sz="750" b="1">
                <a:solidFill>
                  <a:srgbClr val="D95362"/>
                </a:solidFill>
              </a:defRPr>
            </a:lvl5pPr>
            <a:lvl6pPr>
              <a:defRPr sz="750" b="1">
                <a:solidFill>
                  <a:srgbClr val="D95362"/>
                </a:solidFill>
              </a:defRPr>
            </a:lvl6pPr>
            <a:lvl7pPr>
              <a:defRPr sz="750" b="1">
                <a:solidFill>
                  <a:srgbClr val="D95362"/>
                </a:solidFill>
              </a:defRPr>
            </a:lvl7pPr>
            <a:lvl8pPr>
              <a:defRPr sz="750" b="1">
                <a:solidFill>
                  <a:srgbClr val="D95362"/>
                </a:solidFill>
              </a:defRPr>
            </a:lvl8pPr>
            <a:lvl9pPr>
              <a:defRPr sz="7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D95362"/>
                </a:solidFill>
              </a:defRPr>
            </a:pPr>
            <a:r>
              <a:rPr sz="750" b="1">
                <a:solidFill>
                  <a:srgbClr val="D95362"/>
                </a:solidFill>
              </a:rPr>
              <a:t>FAILED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3D3BD7-9848-4BAE-9699-F95CBBC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4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ระบบนำทางไม่สำเร็จ หรือไม่สามารถรับเป้าหมายได้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EBAA30-55F9-4FBB-93B6-535E77E7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8671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A73EFE-174A-4944-96C7-C8579942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ขอบเขตของต้นแบบ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ED03FE-8DC7-4125-8B1C-55376F93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การวางและรับสิ่งของยืนยันผ่านเว็บ</a:t>
            </a:r>
          </a:p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เนื่องจากยังไม่มีเซนเซอร์ตรวจสิ่งของ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59EB42-6275-463F-90BF-6A786135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ทุกสถานะถูกบันทึกเป็น Event History เพื่อให้ผู้ใช้ตรวจสอบย้อนหลังได้</a:t>
            </a:r>
          </a:p>
        </p:txBody>
      </p:sp>
    </p:spTree>
    <p:extLst>
      <p:ext uri="{BB962C8B-B14F-4D97-AF65-F5344CB8AC3E}">
        <p14:creationId xmlns:p14="http://schemas.microsoft.com/office/powerpoint/2010/main" val="7817668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B040F4-BFD1-4255-A70C-AF7F7C58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258D5-FD6B-45CE-9E68-6B8FD599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5C402-5FDD-4D1E-9AAC-F07518FD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การทดสอบแบ่งเป็น 3 ส่วน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9B53A-8941-4D46-93E1-68919DAA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717D4-8402-4BB3-A16D-0A6291D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แต่ละส่วนตรวจคนละระดับ ก่อนนำผลมาพิจารณาร่วมกัน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7E08B-399F-45A0-B155-1DA5DEB7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4C70F-6070-41C5-BFAA-4AFD928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26CE5-4ADC-4F30-A6A5-E46AC47B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WEB APPLICATION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4487E-46F4-4BFA-93F5-02E61398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90F11-22C3-4B4C-B05C-423133C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ตรวจสิทธิ์ผู้ใช้ หน้าจอภารกิจ คิว สถานะ และ Event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CB049-CEC8-4FFB-8394-09F48D3F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13 และ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4538B-B54D-497E-AD69-48A5D7CE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4BE89-6F83-4A11-8D39-F2982CF9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3FDF8-F80F-4F3C-BAA2-C2D732BD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ROBOT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0F132-683C-43B4-ADF6-C49EDDE6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0FD21-3D82-4F1D-A0C6-17389078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ตรวจการสร้างแผนที่ การเลือกแผนที่ และ Localization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748DA-102F-4C35-9384-C2728FC9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3EC12-F311-47D5-BC55-6AC88D9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1BE15-89B2-4B2D-82B3-6F5BAB8A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19C74-F431-472C-8D75-5F02DA89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INTEGRATION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7776F-91B9-490A-B4DC-D4CE3E91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28754-29F4-4AEB-8379-4300210D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ตรวจการส่งภารกิจผ่าน Robot Agent และการส่งสถานะกลับ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3E41F-9C0B-457D-93BA-048239F6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96412-CFBF-42CA-AB64-71B5BF8C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ผลทดสอบต่อไปนี้ยืนยันเฉพาะกรณีที่บันทึกไว้ ไม่ใช้แทนอัตราความสำเร็จรวมของระบบ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1062125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0B3C1-A801-467F-AE34-AD59C518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WEB APPLICATION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11A00-6B33-4B25-A63A-CD456103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38F8F-3942-4272-AD96-A0C8D3F2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Web Application Test: สิทธิ์และหน้าจอผู้ใช้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0EB37-61A1-4EA5-9382-1C46E767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58865-D79F-41AA-BCEE-6A2EE8B3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ตรวจว่าผู้ดูแลระบบและผู้ใช้งานทั่วไปเห็นข้อมูลตามบทบาทที่กำหนด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F837B-55AC-4743-AF48-87DA497A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C7E0C-4509-4D81-8913-F037F8D5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เข้าสู่ระบบด้วยบัญชีต่างบทบาท แล้วตรวจเมนู แดชบอร์ด แผนที่ และข้อมูลภารกิจที่แต่ละบทบาทเข้าถึงได้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DD5A6-F99D-42A6-AC7E-E626B82F4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35beafcc84728"/>
          <a:srcRect xmlns:a="http://schemas.openxmlformats.org/drawingml/2006/main" l="4894" t="0" r="4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13360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E97BC-C96F-4432-9C39-A4A26223BE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3d65fadd24d48"/>
          <a:srcRect xmlns:a="http://schemas.openxmlformats.org/drawingml/2006/main" l="4894" t="0" r="4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336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75680-F17D-4708-93D2-9205072D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ADMIN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306BB-84DC-448B-94F2-D4274C69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ผู้ดูแลตรวจสถานะระบบและจัดการข้อมูลส่วนกลาง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683BD-E6F4-4C13-B497-3138AB0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USER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185E3-9E7A-4619-882B-47BA54FB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ผู้ใช้ติดตามภารกิจและข้อมูลของตนเอง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15517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992A0-8A13-4208-9883-D7A6ADED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WEB APPLICATION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A1F24-59E9-43E3-B5EE-390507A3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7800D-1266-4D41-B740-FAE69F09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Web Application Test: คิว สถานะ และประวัติ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74C1-29F7-46AD-899E-76870A26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66E10-DCC5-4320-88BA-547A78CE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ตรวจการบันทึกสถานะของภารกิจตั้งแต่สร้างงานจนสิ้นสุด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8F330-1F8C-4487-B1B0-69DA6103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FC038-0B52-49D2-80F7-481B5464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สร้างภารกิจ ตรวจลำดับคิว และเปิด Event History เพื่อดูเวลา ผู้ก่อเหตุ และการเปลี่ยนสถานะของแต่ละขั้น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BC6E0-A7CB-4656-8F11-9D17E84E45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0d945c42a4855"/>
          <a:srcRect xmlns:a="http://schemas.openxmlformats.org/drawingml/2006/main" l="6488" t="0" r="6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13360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551CC-468A-48FA-ADA5-C305334A1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a2321d30b4adf"/>
          <a:srcRect xmlns:a="http://schemas.openxmlformats.org/drawingml/2006/main" l="6488" t="0" r="6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336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698C9-E74F-4D81-8622-C03FEDD3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TASK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85496-DD56-4C2F-942B-8FE31FB4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หน้ารวมแสดงคิว เส้นทาง เจ้าของงาน และสถานะล่าสุด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26815-5140-43C4-8ADB-F4E320A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EVENT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B12CC-2C63-4AE0-9C66-0CDCEF5C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ประวัติบันทึกเวลา แหล่งที่มา และการเปลี่ยนสถานะ</a:t>
            </a:r>
          </a:p>
        </p:txBody>
      </p:sp>
    </p:spTree>
    <p:extLst>
      <p:ext uri="{BB962C8B-B14F-4D97-AF65-F5344CB8AC3E}">
        <p14:creationId xmlns:p14="http://schemas.microsoft.com/office/powerpoint/2010/main" val="17200969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38012-7A4C-45B7-A3A9-BF2224D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1E042-9B19-4D08-9681-E3F9D36D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634B7-F589-4EAF-9C54-6400F05A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Robot Test: SLAM and 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5874-B6E5-4877-9B9C-D3C1E7E1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62D60-F359-4294-B99B-B18C514A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ตรวจการสร้าง Map-Test-01 และการกำหนด Initial Pose บนหุ่นยนต์จริง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A1A52-4261-4BE2-A759-1DDD56C7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EAE8C-F7B5-4092-866A-4ECA7101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ควบคุมฐานระหว่างสร้างแผนที่ บันทึกแผนที่ แล้วเลือกแผนที่เพื่อกำหนดตำแหน่งเริ่มต้นด้วย AMCL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1480F-5DA7-44D3-88F9-0693B3A45C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294752b864b09"/>
          <a:srcRect xmlns:a="http://schemas.openxmlformats.org/drawingml/2006/main" l="8209" t="0" r="8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000250"/>
            <a:ext cx="5334000" cy="3371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B63CC-26A4-4B43-A40F-6B3FA9BFF3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4368d938249ae"/>
          <a:srcRect xmlns:a="http://schemas.openxmlformats.org/drawingml/2006/main" l="5508" t="0" r="55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000250"/>
            <a:ext cx="5334000" cy="3371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0C8EF-0366-48D5-9368-A579F20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WEB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99AF0-31FF-4A6E-8AA0-EA313296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หน้าเว็บรับ occupancy map จาก ROS 2 ระหว่างควบคุมฐาน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DC906-5C21-449E-A586-4054F5D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LOCALIZATION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19C38-32F9-43A9-9B21-77FE3E3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ระบบยอมรับ Initial Pose และรายงานสถานะ Localized</a:t>
            </a:r>
          </a:p>
        </p:txBody>
      </p:sp>
    </p:spTree>
    <p:extLst>
      <p:ext uri="{BB962C8B-B14F-4D97-AF65-F5344CB8AC3E}">
        <p14:creationId xmlns:p14="http://schemas.microsoft.com/office/powerpoint/2010/main" val="7491503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EFA24-B665-4A1A-9AD4-E345E251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INTEGRATION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C4101-BC69-4B40-BB2B-7DD73BE8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1C7FB-6A6F-4762-BE29-B56A13F6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Integration Test: TASK-288 จากสถานี C ไปสถานี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F18EC-06F3-47B6-BA70-CE6378F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D5408-0556-45C1-B08D-D87C02F8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ตรวจการส่งภารกิจจากเว็บไปยัง Robot Agent และการส่งสถานะกลับ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8AE85-079F-4CC8-BF34-CAFABD42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32F08-A09E-4038-9EC7-6E1CB39A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สร้างภารกิจผ่านเว็บ ให้หุ่นยนต์เดินทางไปจุดรับและปลายทาง แล้วตรวจลำดับเหตุการณ์ที่ระบบบันทึก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FE4DF-32AC-4C83-989E-D84E7462B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add7474fd4842"/>
          <a:srcRect xmlns:a="http://schemas.openxmlformats.org/drawingml/2006/main" l="3070" t="0" r="3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943100"/>
            <a:ext cx="6076950" cy="3543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56729-C3BB-4F0C-8334-B4542520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EVENT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13B93-433F-43A4-BB76-C6553BB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511F5-4F70-4CC3-A78D-0B4D3B22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A5028-1279-42DD-AEA7-370E8D2F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23:13:10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E1EB2-1DDA-4E37-A327-2E3B7F40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Task created and assigned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7F341-217D-4209-B3C8-6FFE2C04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F50B6-D08A-40CE-A4E1-B4CFD6FC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98031-E456-4640-B8DB-20D5F483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99AF2-1C96-4DBC-A047-CA653774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pickup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8F1AB-6468-46B3-A2B3-914418DF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4B3B7-4938-481B-91A8-E8C06F9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A4076-43E8-4C55-9E92-69F38217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FB7C1-5693-4ED0-BEA7-BCBBBD8C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Confirm loaded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7FF1B-AEC0-4B97-8BB3-96B6DE00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16168-58CE-476D-A526-78239586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DBAB6-A91E-434F-844B-22DA9A4D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23:15:58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97B60-FCE4-487D-AE5F-DFA293A8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destination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C2327-B943-43BE-B097-96B04EE7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1C136-9C1C-41E2-8AAC-734BC830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52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23:16:04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9B9DE-D4BB-4D44-8E1B-C61E2920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Confirm received and completed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E4F74A-2B8A-4419-9CDC-DEF62946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76850"/>
            <a:ext cx="44958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4FCA5-6A6F-4C4C-88D8-C48640F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TOTAL ELAPSED  2 min 53 sec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01230C-3173-42BA-978C-A62569AF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607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ผลนี้ยืนยันเฉพาะกรณี TASK-288 ไม่ใช่อัตราความสำเร็จรวม</a:t>
            </a:r>
          </a:p>
        </p:txBody>
      </p:sp>
    </p:spTree>
    <p:extLst>
      <p:ext uri="{BB962C8B-B14F-4D97-AF65-F5344CB8AC3E}">
        <p14:creationId xmlns:p14="http://schemas.microsoft.com/office/powerpoint/2010/main" val="8840858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97CF7-7073-4E0B-9319-ABF8F2A9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7F398-E847-43E9-B3AA-FCA4179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EC0B7-95D5-4DE9-9F66-B18255DB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สรุปผลการดำเนินโครงงาน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9591C-F14C-44A3-9E46-653CA96E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3EA19-33CC-4D96-B9ED-9362A6C8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ต้นแบบเชื่อมระบบนำทางของหุ่นยนต์กับการจัดการภารกิจผ่านเว็บเป็นกระบวนการเดียวกัน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0F66F-CCE9-41D6-B2B7-E7A3A983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53340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DDCB0-95A3-4B64-A58B-83CDDA4C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ระบบที่พัฒนา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E923E-07A6-41CF-A248-17C9C69B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6291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ฐานหุ่นยนต์ Differential Drive ใช้ ODROID-C4 และ ESP32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ROS 2 ทำงานร่วมกับ SLAM Toolbox, AMCL และ Nav2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เว็บพัฒนาด้วย Next.js, FastAPI และ PostgreSQL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Robot Agent เชื่อมคำสั่งและสถานะระหว่างเว็บกับหุ่นยนต์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F84DF-3930-486A-965E-2448B647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95450"/>
            <a:ext cx="56388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8868F-A850-40EF-8347-4002B5B2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ผลการทดสอบเบื้องต้น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3CB1E-696A-421B-B3A8-AD5F51EF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958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สร้างภารกิจ จัดคิว และติดตามสถานะจากเว็บได้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สร้างแผนที่และกำหนดตำแหน่งเริ่มต้นในพื้นที่ทดลองได้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TASK-288 บันทึกลำดับเหตุการณ์ตั้งแต่รับงานจนเสร็จสิ้น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811DF-ADD0-42EC-81C6-DE9D055F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1123950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DD66A-736A-423A-8338-1F91515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ข้อจำกัด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A1A64-7A5B-4326-A43E-69DC266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ยังไม่มีโครงสร้างบรรทุกสิ่งของโดยเฉพาะ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4AEA0-10AE-4653-9E3F-532C9AF8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การวางและรับสิ่งของยังยืนยันผ่านเว็บ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CB0A4-6769-425C-A21F-F373DF3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ผลทดสอบยืนยันเฉพาะกรณีที่บันทึกไว้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  ยังไม่ใช่ผลความเสถียรระยะยาว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6B9CB-282F-4D6A-8B54-3EB40BDD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18B"/>
                </a:solidFill>
              </a:defRPr>
            </a:defPPr>
            <a:lvl1pPr>
              <a:defRPr sz="975" b="1">
                <a:solidFill>
                  <a:srgbClr val="58718B"/>
                </a:solidFill>
              </a:defRPr>
            </a:lvl1pPr>
            <a:lvl2pPr>
              <a:defRPr sz="975" b="1">
                <a:solidFill>
                  <a:srgbClr val="58718B"/>
                </a:solidFill>
              </a:defRPr>
            </a:lvl2pPr>
            <a:lvl3pPr>
              <a:defRPr sz="975" b="1">
                <a:solidFill>
                  <a:srgbClr val="58718B"/>
                </a:solidFill>
              </a:defRPr>
            </a:lvl3pPr>
            <a:lvl4pPr>
              <a:defRPr sz="975" b="1">
                <a:solidFill>
                  <a:srgbClr val="58718B"/>
                </a:solidFill>
              </a:defRPr>
            </a:lvl4pPr>
            <a:lvl5pPr>
              <a:defRPr sz="975" b="1">
                <a:solidFill>
                  <a:srgbClr val="58718B"/>
                </a:solidFill>
              </a:defRPr>
            </a:lvl5pPr>
            <a:lvl6pPr>
              <a:defRPr sz="975" b="1">
                <a:solidFill>
                  <a:srgbClr val="58718B"/>
                </a:solidFill>
              </a:defRPr>
            </a:lvl6pPr>
            <a:lvl7pPr>
              <a:defRPr sz="975" b="1">
                <a:solidFill>
                  <a:srgbClr val="58718B"/>
                </a:solidFill>
              </a:defRPr>
            </a:lvl7pPr>
            <a:lvl8pPr>
              <a:defRPr sz="975" b="1">
                <a:solidFill>
                  <a:srgbClr val="58718B"/>
                </a:solidFill>
              </a:defRPr>
            </a:lvl8pPr>
            <a:lvl9pPr>
              <a:defRPr sz="97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18B"/>
                </a:solidFill>
              </a:defRPr>
            </a:pPr>
            <a:r>
              <a:rPr sz="975" b="1">
                <a:solidFill>
                  <a:srgbClr val="58718B"/>
                </a:solidFill>
              </a:rPr>
              <a:t>จึงสรุปได้ว่าระบบต้นแบบทำงานร่วมกันได้ตามขอบเขตที่กำหนด แต่ยังต้องพัฒนาก่อนนำไปใช้งานจริง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18220223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871D53-F051-478C-A03C-60FE73E7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44678-F29C-4AA6-9815-A0BF569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91DD1-B569-47FC-9FAF-98D6C4BB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12.2 แนวทางการดำเนินโครงงานในสถานประกอบการ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285E2-7F36-4BDE-BFC6-B18E08A2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4B8FF-AA0E-4E5E-A0C9-0E36A180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นำประสบการณ์จากต้นแบบไปต่อยอดกับงานซอฟต์แวร์และระบบสมองกลฝังตัว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A5F61-8768-46F1-9D94-B7CEDA81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38100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15DF9-7B0D-4052-8B90-65CF726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8BE"/>
                </a:solidFill>
              </a:defRPr>
            </a:defPPr>
            <a:lvl1pPr>
              <a:defRPr sz="1350" b="1">
                <a:solidFill>
                  <a:srgbClr val="1678BE"/>
                </a:solidFill>
              </a:defRPr>
            </a:lvl1pPr>
            <a:lvl2pPr>
              <a:defRPr sz="1350" b="1">
                <a:solidFill>
                  <a:srgbClr val="1678BE"/>
                </a:solidFill>
              </a:defRPr>
            </a:lvl2pPr>
            <a:lvl3pPr>
              <a:defRPr sz="1350" b="1">
                <a:solidFill>
                  <a:srgbClr val="1678BE"/>
                </a:solidFill>
              </a:defRPr>
            </a:lvl3pPr>
            <a:lvl4pPr>
              <a:defRPr sz="1350" b="1">
                <a:solidFill>
                  <a:srgbClr val="1678BE"/>
                </a:solidFill>
              </a:defRPr>
            </a:lvl4pPr>
            <a:lvl5pPr>
              <a:defRPr sz="1350" b="1">
                <a:solidFill>
                  <a:srgbClr val="1678BE"/>
                </a:solidFill>
              </a:defRPr>
            </a:lvl5pPr>
            <a:lvl6pPr>
              <a:defRPr sz="1350" b="1">
                <a:solidFill>
                  <a:srgbClr val="1678BE"/>
                </a:solidFill>
              </a:defRPr>
            </a:lvl6pPr>
            <a:lvl7pPr>
              <a:defRPr sz="1350" b="1">
                <a:solidFill>
                  <a:srgbClr val="1678BE"/>
                </a:solidFill>
              </a:defRPr>
            </a:lvl7pPr>
            <a:lvl8pPr>
              <a:defRPr sz="1350" b="1">
                <a:solidFill>
                  <a:srgbClr val="1678BE"/>
                </a:solidFill>
              </a:defRPr>
            </a:lvl8pPr>
            <a:lvl9pPr>
              <a:defRPr sz="13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78BE"/>
                </a:solidFill>
              </a:defRPr>
            </a:pPr>
            <a:r>
              <a:rPr sz="1350" b="1">
                <a:solidFill>
                  <a:srgbClr val="1678BE"/>
                </a:solidFill>
              </a:rPr>
              <a:t>สถานประกอบการ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35850-60A1-47D2-9AA1-7DEE8DFA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APITechSmart Lab</a:t>
            </a:r>
          </a:p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บริษัท เอ.พี.ไอ.เทค จำกัด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6265E-6CC9-4158-8775-E6495667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ตำแหน่ง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43FF7-EE30-43E0-AF38-C001D4DB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Programmer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14E9D-E366-489D-9B4C-EAC8C1FE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ลักษณะธุรกิจ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A3E48-AAD6-413A-9237-8C224AF9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เทคโนโลยีอิเล็กทรอนิกส์ยานยนต์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ระบบควบคุมและการวิเคราะห์ข้อมูลยานยนต์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66DA7-6E74-4C3D-86A3-C03CD69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แนวทางที่คาดว่าจะเกี่ยวข้อง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1770F-2859-4689-AC96-0BEFCA10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43E5C-66B7-4672-96EA-9BEE5D40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Automotive and IoT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F9354-4452-4055-A69F-6A4DC469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พัฒนาโปรแกรมที่สื่อสารกับอุปกรณ์อิเล็กทรอนิกส์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77387-8EE3-454A-8BFC-A7B7062A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58458-804D-48CF-9AF3-1AC1F035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Sensor data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53CAC-A569-46C9-A35A-CC3AEFAC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957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 ประมวลผล และแสดงข้อมูลจากเซนเซอร์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06D8D-8EDA-4413-8E36-367E17BF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5A966-7052-4D7B-B5AC-CF0DF456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Monitoring and control 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CB9E1-B5D6-43AB-BAF0-FDA3B2FB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สร้างแอปพลิเคชันเพื่อสนับสนุนการตรวจสอบหรือควบคุมอุปกรณ์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2567C-78E3-4572-8FE3-4511482F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57225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8C798-3D29-4D4F-B05F-9325A0C4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สถานะปัจจุบัน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50560-400B-46C5-8993-8552413E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ยังไม่ได้รับหัวข้อโครงงานอย่างเป็นทางการ และจะกำหนดร่วมกับพนักงานที่ปรึกษา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02B40-834C-48C7-B69F-60DC3123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804758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2026-10-20T21:39:52.0910000Z</dcterms:created>
  <dcterms:modified xsi:type="dcterms:W3CDTF">2026-10-20T21:39:52.0910000Z</dcterms:modified>
</coreProperties>
</file>