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b9c74f119140e4" /><Relationship Type="http://schemas.openxmlformats.org/officeDocument/2006/relationships/extended-properties" Target="/docProps/app.xml" Id="R67111eea47454d2d" /><Relationship Type="http://schemas.openxmlformats.org/officeDocument/2006/relationships/officeDocument" Target="/ppt/presentation.xml" Id="R664b98a8dc9247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624a0f7d7b41f7"/>
  </p:sldMasterIdLst>
  <p:notesMasterIdLst>
    <p:notesMasterId xmlns:r="http://schemas.openxmlformats.org/officeDocument/2006/relationships" r:id="Rbd80e339572f429a"/>
  </p:notesMasterIdLst>
  <p:sldIdLst>
    <p:sldId xmlns:r="http://schemas.openxmlformats.org/officeDocument/2006/relationships" id="256" r:id="Ra47adf8161214b43"/>
    <p:sldId xmlns:r="http://schemas.openxmlformats.org/officeDocument/2006/relationships" id="257" r:id="R683fd013ad4b4f57"/>
    <p:sldId xmlns:r="http://schemas.openxmlformats.org/officeDocument/2006/relationships" id="258" r:id="R05eb668f0e244972"/>
    <p:sldId xmlns:r="http://schemas.openxmlformats.org/officeDocument/2006/relationships" id="259" r:id="Rbb45893ac59547d3"/>
    <p:sldId xmlns:r="http://schemas.openxmlformats.org/officeDocument/2006/relationships" id="260" r:id="R6dd4f251550f4b74"/>
    <p:sldId xmlns:r="http://schemas.openxmlformats.org/officeDocument/2006/relationships" id="261" r:id="Ra707b8334a0f468e"/>
    <p:sldId xmlns:r="http://schemas.openxmlformats.org/officeDocument/2006/relationships" id="262" r:id="R49e3bdbd552e46ae"/>
    <p:sldId xmlns:r="http://schemas.openxmlformats.org/officeDocument/2006/relationships" id="263" r:id="Re45dfce08736402d"/>
    <p:sldId xmlns:r="http://schemas.openxmlformats.org/officeDocument/2006/relationships" id="264" r:id="Rd20f4c56b2274181"/>
    <p:sldId xmlns:r="http://schemas.openxmlformats.org/officeDocument/2006/relationships" id="265" r:id="R7ff9c6ff4a614652"/>
    <p:sldId xmlns:r="http://schemas.openxmlformats.org/officeDocument/2006/relationships" id="266" r:id="R8dd90723a0d64fd9"/>
    <p:sldId xmlns:r="http://schemas.openxmlformats.org/officeDocument/2006/relationships" id="267" r:id="R9c61f1a25a914264"/>
    <p:sldId xmlns:r="http://schemas.openxmlformats.org/officeDocument/2006/relationships" id="268" r:id="R9042cb10c4e2489c"/>
    <p:sldId xmlns:r="http://schemas.openxmlformats.org/officeDocument/2006/relationships" id="269" r:id="R2288aefe92b541f1"/>
    <p:sldId xmlns:r="http://schemas.openxmlformats.org/officeDocument/2006/relationships" id="270" r:id="Rac2f3f7bf0984d66"/>
    <p:sldId xmlns:r="http://schemas.openxmlformats.org/officeDocument/2006/relationships" id="271" r:id="Raafc97af6d1346d1"/>
    <p:sldId xmlns:r="http://schemas.openxmlformats.org/officeDocument/2006/relationships" id="272" r:id="Rbd96ce8aca254740"/>
    <p:sldId xmlns:r="http://schemas.openxmlformats.org/officeDocument/2006/relationships" id="273" r:id="R3f01a1e34c1a46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1d9c034b6d4b43" /><Relationship Type="http://schemas.openxmlformats.org/officeDocument/2006/relationships/slideMaster" Target="/ppt/slideMasters/slideMaster1.xml" Id="R32624a0f7d7b41f7" /><Relationship Type="http://schemas.openxmlformats.org/officeDocument/2006/relationships/notesMaster" Target="/ppt/notesMasters/notesMaster1.xml" Id="Rbd80e339572f429a" /><Relationship Type="http://schemas.openxmlformats.org/officeDocument/2006/relationships/presProps" Target="/ppt/presProps.xml" Id="R4ebfda1ec3894db4" /><Relationship Type="http://schemas.openxmlformats.org/officeDocument/2006/relationships/tableStyles" Target="/ppt/tableStyles.xml" Id="R67e883f6b7924689" /><Relationship Type="http://schemas.openxmlformats.org/officeDocument/2006/relationships/slide" Target="/ppt/slides/slide1.xml" Id="Ra47adf8161214b43" /><Relationship Type="http://schemas.openxmlformats.org/officeDocument/2006/relationships/slide" Target="/ppt/slides/slide2.xml" Id="R683fd013ad4b4f57" /><Relationship Type="http://schemas.openxmlformats.org/officeDocument/2006/relationships/slide" Target="/ppt/slides/slide3.xml" Id="R05eb668f0e244972" /><Relationship Type="http://schemas.openxmlformats.org/officeDocument/2006/relationships/slide" Target="/ppt/slides/slide4.xml" Id="Rbb45893ac59547d3" /><Relationship Type="http://schemas.openxmlformats.org/officeDocument/2006/relationships/slide" Target="/ppt/slides/slide5.xml" Id="R6dd4f251550f4b74" /><Relationship Type="http://schemas.openxmlformats.org/officeDocument/2006/relationships/slide" Target="/ppt/slides/slide6.xml" Id="Ra707b8334a0f468e" /><Relationship Type="http://schemas.openxmlformats.org/officeDocument/2006/relationships/slide" Target="/ppt/slides/slide7.xml" Id="R49e3bdbd552e46ae" /><Relationship Type="http://schemas.openxmlformats.org/officeDocument/2006/relationships/slide" Target="/ppt/slides/slide8.xml" Id="Re45dfce08736402d" /><Relationship Type="http://schemas.openxmlformats.org/officeDocument/2006/relationships/slide" Target="/ppt/slides/slide9.xml" Id="Rd20f4c56b2274181" /><Relationship Type="http://schemas.openxmlformats.org/officeDocument/2006/relationships/slide" Target="/ppt/slides/slide10.xml" Id="R7ff9c6ff4a614652" /><Relationship Type="http://schemas.openxmlformats.org/officeDocument/2006/relationships/slide" Target="/ppt/slides/slide11.xml" Id="R8dd90723a0d64fd9" /><Relationship Type="http://schemas.openxmlformats.org/officeDocument/2006/relationships/slide" Target="/ppt/slides/slide12.xml" Id="R9c61f1a25a914264" /><Relationship Type="http://schemas.openxmlformats.org/officeDocument/2006/relationships/slide" Target="/ppt/slides/slide13.xml" Id="R9042cb10c4e2489c" /><Relationship Type="http://schemas.openxmlformats.org/officeDocument/2006/relationships/slide" Target="/ppt/slides/slide14.xml" Id="R2288aefe92b541f1" /><Relationship Type="http://schemas.openxmlformats.org/officeDocument/2006/relationships/slide" Target="/ppt/slides/slide15.xml" Id="Rac2f3f7bf0984d66" /><Relationship Type="http://schemas.openxmlformats.org/officeDocument/2006/relationships/slide" Target="/ppt/slides/slide16.xml" Id="Raafc97af6d1346d1" /><Relationship Type="http://schemas.openxmlformats.org/officeDocument/2006/relationships/slide" Target="/ppt/slides/slide17.xml" Id="Rbd96ce8aca254740" /><Relationship Type="http://schemas.openxmlformats.org/officeDocument/2006/relationships/slide" Target="/ppt/slides/slide18.xml" Id="R3f01a1e34c1a46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7d79710e7944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2f9b55bcda4db6" /><Relationship Type="http://schemas.openxmlformats.org/officeDocument/2006/relationships/notesMaster" Target="/ppt/notesMasters/notesMaster1.xml" Id="R03b82e15aa1e45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fbcef6d4f843f5" /><Relationship Type="http://schemas.openxmlformats.org/officeDocument/2006/relationships/notesMaster" Target="/ppt/notesMasters/notesMaster1.xml" Id="R4a24910a25244d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13ddadd7d84f1e" /><Relationship Type="http://schemas.openxmlformats.org/officeDocument/2006/relationships/notesMaster" Target="/ppt/notesMasters/notesMaster1.xml" Id="R184a20a6583048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6c83053a7d4c05" /><Relationship Type="http://schemas.openxmlformats.org/officeDocument/2006/relationships/notesMaster" Target="/ppt/notesMasters/notesMaster1.xml" Id="R80209658f89d40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c63f6706d14e50" /><Relationship Type="http://schemas.openxmlformats.org/officeDocument/2006/relationships/notesMaster" Target="/ppt/notesMasters/notesMaster1.xml" Id="R70c43d1c0fbd41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db42f34b0946e4" /><Relationship Type="http://schemas.openxmlformats.org/officeDocument/2006/relationships/notesMaster" Target="/ppt/notesMasters/notesMaster1.xml" Id="R3f4453f5ca9f4b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23b5db98a449a2" /><Relationship Type="http://schemas.openxmlformats.org/officeDocument/2006/relationships/notesMaster" Target="/ppt/notesMasters/notesMaster1.xml" Id="R940f1dce437548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99cf76f05949ae" /><Relationship Type="http://schemas.openxmlformats.org/officeDocument/2006/relationships/notesMaster" Target="/ppt/notesMasters/notesMaster1.xml" Id="R5883ce25d5b34f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3be916b4a14d44" /><Relationship Type="http://schemas.openxmlformats.org/officeDocument/2006/relationships/notesMaster" Target="/ppt/notesMasters/notesMaster1.xml" Id="Rabcae2a6a24041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8032b1b5d14e18" /><Relationship Type="http://schemas.openxmlformats.org/officeDocument/2006/relationships/notesMaster" Target="/ppt/notesMasters/notesMaster1.xml" Id="R28f3a5911f7246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b640efbecf442f" /><Relationship Type="http://schemas.openxmlformats.org/officeDocument/2006/relationships/notesMaster" Target="/ppt/notesMasters/notesMaster1.xml" Id="R2373ccdfb7904d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06ab98069c4ba9" /><Relationship Type="http://schemas.openxmlformats.org/officeDocument/2006/relationships/notesMaster" Target="/ppt/notesMasters/notesMaster1.xml" Id="Rc9e06468ef9b43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6b1724f5da47ca" /><Relationship Type="http://schemas.openxmlformats.org/officeDocument/2006/relationships/notesMaster" Target="/ppt/notesMasters/notesMaster1.xml" Id="Rb36f90563e3d4d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c0494b99ea4e34" /><Relationship Type="http://schemas.openxmlformats.org/officeDocument/2006/relationships/notesMaster" Target="/ppt/notesMasters/notesMaster1.xml" Id="Rcbbb9542b4fb46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ef73efbf7b4ff6" /><Relationship Type="http://schemas.openxmlformats.org/officeDocument/2006/relationships/notesMaster" Target="/ppt/notesMasters/notesMaster1.xml" Id="R4830871d6c8a41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6209ac0cff4c68" /><Relationship Type="http://schemas.openxmlformats.org/officeDocument/2006/relationships/notesMaster" Target="/ppt/notesMasters/notesMaster1.xml" Id="Rdf2a7cd5169e40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fc86d842bf4a03" /><Relationship Type="http://schemas.openxmlformats.org/officeDocument/2006/relationships/notesMaster" Target="/ppt/notesMasters/notesMaster1.xml" Id="Ra3801c4868b64b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e9f1c693b64216" /><Relationship Type="http://schemas.openxmlformats.org/officeDocument/2006/relationships/notesMaster" Target="/ppt/notesMasters/notesMaster1.xml" Id="R95c8450392254f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e8abec98d45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c0f20e9da40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1adcdc69246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1fe03e01747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d6c71eaed48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6a9fd48464e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6AA4D5-AB93-4E95-BB57-87BAAAC65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DFC85F-524A-453E-BBF6-32E9DB61C6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326071-5DEA-42E6-BA31-4E05BED39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FD73F8-0D49-491A-97B3-D5863B8A7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1ADCE5-71F5-4D78-A753-0827917E75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DD81C5-2558-4BE1-8713-5FB5C0860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AC898B-C15C-45CC-B876-DB61E08BBF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A0A7F-93F8-43B2-A85B-C2C4C2CC12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CFD249-40FB-4DF5-845A-2624F7B9D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789163-AA25-4436-AD1C-E336593914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4957dec1cf4e39" /><Relationship Type="http://schemas.openxmlformats.org/officeDocument/2006/relationships/slideLayout" Target="/ppt/slideLayouts/slideLayout1.xml" Id="R1c54f4173216403e" /><Relationship Type="http://schemas.openxmlformats.org/officeDocument/2006/relationships/slideLayout" Target="/ppt/slideLayouts/slideLayout2.xml" Id="R38f3b70e74724c19" /><Relationship Type="http://schemas.openxmlformats.org/officeDocument/2006/relationships/slideLayout" Target="/ppt/slideLayouts/slideLayout3.xml" Id="Rc5f5f2c855814bed" /><Relationship Type="http://schemas.openxmlformats.org/officeDocument/2006/relationships/slideLayout" Target="/ppt/slideLayouts/slideLayout4.xml" Id="R09bf8a1eef674ab8" /><Relationship Type="http://schemas.openxmlformats.org/officeDocument/2006/relationships/slideLayout" Target="/ppt/slideLayouts/slideLayout5.xml" Id="Ra2d6e40a44c9447f" /><Relationship Type="http://schemas.openxmlformats.org/officeDocument/2006/relationships/slideLayout" Target="/ppt/slideLayouts/slideLayout6.xml" Id="R7045ccbbb0674f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54f4173216403e"/>
    <p:sldLayoutId xmlns:r="http://schemas.openxmlformats.org/officeDocument/2006/relationships" id="2147483650" r:id="R38f3b70e74724c19"/>
    <p:sldLayoutId xmlns:r="http://schemas.openxmlformats.org/officeDocument/2006/relationships" id="2147483651" r:id="Rc5f5f2c855814bed"/>
    <p:sldLayoutId xmlns:r="http://schemas.openxmlformats.org/officeDocument/2006/relationships" id="2147483652" r:id="R09bf8a1eef674ab8"/>
    <p:sldLayoutId xmlns:r="http://schemas.openxmlformats.org/officeDocument/2006/relationships" id="2147483653" r:id="Ra2d6e40a44c9447f"/>
    <p:sldLayoutId xmlns:r="http://schemas.openxmlformats.org/officeDocument/2006/relationships" id="2147483654" r:id="R7045ccbbb0674f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bc481693934606" /><Relationship Type="http://schemas.openxmlformats.org/officeDocument/2006/relationships/notesSlide" Target="/ppt/notesSlides/notesSlide1.xml" Id="R959494bcd1ee4c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5423f949d24d86" /><Relationship Type="http://schemas.openxmlformats.org/officeDocument/2006/relationships/notesSlide" Target="/ppt/notesSlides/notesSlide2.xml" Id="R0709d6ac9b024a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ee4cb11b74969" /><Relationship Type="http://schemas.openxmlformats.org/officeDocument/2006/relationships/notesSlide" Target="/ppt/notesSlides/notesSlide3.xml" Id="R96f5494beb8c41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587a0e6db14f3e" /><Relationship Type="http://schemas.openxmlformats.org/officeDocument/2006/relationships/notesSlide" Target="/ppt/notesSlides/notesSlide4.xml" Id="R9f783a73a4d943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2cd945afe4c12" /><Relationship Type="http://schemas.openxmlformats.org/officeDocument/2006/relationships/notesSlide" Target="/ppt/notesSlides/notesSlide5.xml" Id="R05ee11668a5647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1138bc379342dc" /><Relationship Type="http://schemas.openxmlformats.org/officeDocument/2006/relationships/image" Target="/ppt/media/image.png" Id="R38f60ad4c7c2438c" /><Relationship Type="http://schemas.openxmlformats.org/officeDocument/2006/relationships/notesSlide" Target="/ppt/notesSlides/notesSlide6.xml" Id="R5bc1041d49ae44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eb0b423ba1413f" /><Relationship Type="http://schemas.openxmlformats.org/officeDocument/2006/relationships/image" Target="/ppt/media/image2.png" Id="Rb16cf4e9f7674ffc" /><Relationship Type="http://schemas.openxmlformats.org/officeDocument/2006/relationships/notesSlide" Target="/ppt/notesSlides/notesSlide7.xml" Id="R250c800b6fa74f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2944ade0264cf4" /><Relationship Type="http://schemas.openxmlformats.org/officeDocument/2006/relationships/image" Target="/ppt/media/image3.png" Id="R201012a7602540cc" /><Relationship Type="http://schemas.openxmlformats.org/officeDocument/2006/relationships/notesSlide" Target="/ppt/notesSlides/notesSlide8.xml" Id="R7a6ff97c1b5840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7569356c3450e" /><Relationship Type="http://schemas.openxmlformats.org/officeDocument/2006/relationships/image" Target="/ppt/media/image4.png" Id="R0dc02543d13d4696" /><Relationship Type="http://schemas.openxmlformats.org/officeDocument/2006/relationships/notesSlide" Target="/ppt/notesSlides/notesSlide9.xml" Id="Rf9a1e5acc11347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8d95307757482f" /><Relationship Type="http://schemas.openxmlformats.org/officeDocument/2006/relationships/notesSlide" Target="/ppt/notesSlides/notesSlide10.xml" Id="Ref4935e4594f49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56c2215a84ed6" /><Relationship Type="http://schemas.openxmlformats.org/officeDocument/2006/relationships/notesSlide" Target="/ppt/notesSlides/notesSlide11.xml" Id="R5fbff25cacb248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176dfc70a48b0" /><Relationship Type="http://schemas.openxmlformats.org/officeDocument/2006/relationships/notesSlide" Target="/ppt/notesSlides/notesSlide12.xml" Id="R717bbf50e2074e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16e9a74b643a2" /><Relationship Type="http://schemas.openxmlformats.org/officeDocument/2006/relationships/image" Target="/ppt/media/image5.png" Id="Rb8f4da67b97d4d42" /><Relationship Type="http://schemas.openxmlformats.org/officeDocument/2006/relationships/image" Target="/ppt/media/image6.png" Id="Rc2b860dbf6894b5a" /><Relationship Type="http://schemas.openxmlformats.org/officeDocument/2006/relationships/notesSlide" Target="/ppt/notesSlides/notesSlide13.xml" Id="R36a5ab6051f64e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34a5d092854c7b" /><Relationship Type="http://schemas.openxmlformats.org/officeDocument/2006/relationships/image" Target="/ppt/media/image7.png" Id="R6d838a33648a48cd" /><Relationship Type="http://schemas.openxmlformats.org/officeDocument/2006/relationships/image" Target="/ppt/media/image8.png" Id="R3b0dd5e3fabc4d71" /><Relationship Type="http://schemas.openxmlformats.org/officeDocument/2006/relationships/notesSlide" Target="/ppt/notesSlides/notesSlide14.xml" Id="R6ab998ab5f6741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fac6a3da654272" /><Relationship Type="http://schemas.openxmlformats.org/officeDocument/2006/relationships/image" Target="/ppt/media/image9.png" Id="Rba226d659ff04386" /><Relationship Type="http://schemas.openxmlformats.org/officeDocument/2006/relationships/image" Target="/ppt/media/image10.png" Id="R076b23c9a17b431f" /><Relationship Type="http://schemas.openxmlformats.org/officeDocument/2006/relationships/notesSlide" Target="/ppt/notesSlides/notesSlide15.xml" Id="R22c0469147a540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7f2c8cff87436e" /><Relationship Type="http://schemas.openxmlformats.org/officeDocument/2006/relationships/image" Target="/ppt/media/image11.png" Id="R2be6049005164edd" /><Relationship Type="http://schemas.openxmlformats.org/officeDocument/2006/relationships/notesSlide" Target="/ppt/notesSlides/notesSlide16.xml" Id="R26c17e3cb84943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292db80ca44b30" /><Relationship Type="http://schemas.openxmlformats.org/officeDocument/2006/relationships/notesSlide" Target="/ppt/notesSlides/notesSlide17.xml" Id="R8857b858026c4b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d3563f0f44059" /><Relationship Type="http://schemas.openxmlformats.org/officeDocument/2006/relationships/notesSlide" Target="/ppt/notesSlides/notesSlide18.xml" Id="Rc6e5c57bb5b84a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039CD-7586-4E67-9126-2A881F7B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4F625-53F3-4FB6-A7CF-8BEA399C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โครงงานเตรียมสหกิจศึกษา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13AB4-679B-42BB-83D9-91392752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876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A3B82"/>
                </a:solidFill>
              </a:defRPr>
            </a:defPPr>
            <a:lvl1pPr>
              <a:defRPr sz="3000" b="1">
                <a:solidFill>
                  <a:srgbClr val="0A3B82"/>
                </a:solidFill>
              </a:defRPr>
            </a:lvl1pPr>
            <a:lvl2pPr>
              <a:defRPr sz="3000" b="1">
                <a:solidFill>
                  <a:srgbClr val="0A3B82"/>
                </a:solidFill>
              </a:defRPr>
            </a:lvl2pPr>
            <a:lvl3pPr>
              <a:defRPr sz="3000" b="1">
                <a:solidFill>
                  <a:srgbClr val="0A3B82"/>
                </a:solidFill>
              </a:defRPr>
            </a:lvl3pPr>
            <a:lvl4pPr>
              <a:defRPr sz="3000" b="1">
                <a:solidFill>
                  <a:srgbClr val="0A3B82"/>
                </a:solidFill>
              </a:defRPr>
            </a:lvl4pPr>
            <a:lvl5pPr>
              <a:defRPr sz="3000" b="1">
                <a:solidFill>
                  <a:srgbClr val="0A3B82"/>
                </a:solidFill>
              </a:defRPr>
            </a:lvl5pPr>
            <a:lvl6pPr>
              <a:defRPr sz="3000" b="1">
                <a:solidFill>
                  <a:srgbClr val="0A3B82"/>
                </a:solidFill>
              </a:defRPr>
            </a:lvl6pPr>
            <a:lvl7pPr>
              <a:defRPr sz="3000" b="1">
                <a:solidFill>
                  <a:srgbClr val="0A3B82"/>
                </a:solidFill>
              </a:defRPr>
            </a:lvl7pPr>
            <a:lvl8pPr>
              <a:defRPr sz="3000" b="1">
                <a:solidFill>
                  <a:srgbClr val="0A3B82"/>
                </a:solidFill>
              </a:defRPr>
            </a:lvl8pPr>
            <a:lvl9pPr>
              <a:defRPr sz="30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ระบบหุ่นยนต์เคลื่อนที่อัตโนมัติ</a:t>
            </a:r>
          </a:p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สำหรับรับส่งสิ่งของภายในอาคารผ่านเว็บ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B83D1-D7F2-4E6F-849C-7259AFBF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90487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AE913-647E-455E-8304-FC6BE2BA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WEB-BASED INDOOR AUTONOMOUS DELIVERY ROBOT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94823-C033-4081-ACC3-904CB10A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ณัฐนนท์ สีระศรี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FED86-ACD1-45F5-9037-63EB0048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6610110087   วิศวกรรมคอมพิวเตอร์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534D6-19EB-4F24-8747-3D70BC4E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นำเสนอ 7 นาที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D622F-DFDC-43BE-805A-CCC5B097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14287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A494C-B4B4-48EB-86CE-4CC86DE1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4478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C6633-8A37-4469-A561-27A7927E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0525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11459-2BA6-4F83-A94C-992C692B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29200"/>
            <a:ext cx="2076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1355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3931A-C079-4B5B-9386-34AD9D0B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3B906-ABE0-4C14-A1A6-79CCB086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DBD2A-D74E-4763-9EB4-86974529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ที่มาและความสำคัญ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F7941-D29C-4DA0-9019-4049EF9E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39EF9-DC60-4605-9CDD-B8A31F2E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แนวคิดเริ่มจากงานรับส่งภายในอาคารที่ต้องทำซ้ำ และต้องติดตามได้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DC2A7-29B9-4F53-A249-273C9E9D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  <a:lvl1pPr>
              <a:defRPr sz="1875" b="1">
                <a:solidFill>
                  <a:srgbClr val="102A43"/>
                </a:solidFill>
              </a:defRPr>
            </a:lvl1pPr>
            <a:lvl2pPr>
              <a:defRPr sz="1875" b="1">
                <a:solidFill>
                  <a:srgbClr val="102A43"/>
                </a:solidFill>
              </a:defRPr>
            </a:lvl2pPr>
            <a:lvl3pPr>
              <a:defRPr sz="1875" b="1">
                <a:solidFill>
                  <a:srgbClr val="102A43"/>
                </a:solidFill>
              </a:defRPr>
            </a:lvl3pPr>
            <a:lvl4pPr>
              <a:defRPr sz="1875" b="1">
                <a:solidFill>
                  <a:srgbClr val="102A43"/>
                </a:solidFill>
              </a:defRPr>
            </a:lvl4pPr>
            <a:lvl5pPr>
              <a:defRPr sz="1875" b="1">
                <a:solidFill>
                  <a:srgbClr val="102A43"/>
                </a:solidFill>
              </a:defRPr>
            </a:lvl5pPr>
            <a:lvl6pPr>
              <a:defRPr sz="1875" b="1">
                <a:solidFill>
                  <a:srgbClr val="102A43"/>
                </a:solidFill>
              </a:defRPr>
            </a:lvl6pPr>
            <a:lvl7pPr>
              <a:defRPr sz="1875" b="1">
                <a:solidFill>
                  <a:srgbClr val="102A43"/>
                </a:solidFill>
              </a:defRPr>
            </a:lvl7pPr>
            <a:lvl8pPr>
              <a:defRPr sz="1875" b="1">
                <a:solidFill>
                  <a:srgbClr val="102A43"/>
                </a:solidFill>
              </a:defRPr>
            </a:lvl8pPr>
            <a:lvl9pPr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เราต้องการให้หุ่นยนต์รับงานจากผู้ใช้ แล้วเดินทางระหว่างสถานีได้ด้วยตนเอง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52D16-125C-4BD1-AB35-4CC663A8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แทนที่ผู้ใช้งานจะต้องเดินไปส่งสิ่งของทุกครั้ง หรือต้องเปิดเครื่องมือ ROS เพื่อสั่งหุ่นยนต์โดยตรง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E2833-6CC5-465B-8147-117C2CC3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49530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52BFA-355E-438D-96F2-54301AEE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ก่อนมีระบบนี้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C2974-8DAE-4BF4-80A7-02D02DE4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8B"/>
                </a:solidFill>
              </a:defRPr>
            </a:defPPr>
            <a:lvl1pPr>
              <a:defRPr sz="1200" b="0">
                <a:solidFill>
                  <a:srgbClr val="58718B"/>
                </a:solidFill>
              </a:defRPr>
            </a:lvl1pPr>
            <a:lvl2pPr>
              <a:defRPr sz="1200" b="0">
                <a:solidFill>
                  <a:srgbClr val="58718B"/>
                </a:solidFill>
              </a:defRPr>
            </a:lvl2pPr>
            <a:lvl3pPr>
              <a:defRPr sz="1200" b="0">
                <a:solidFill>
                  <a:srgbClr val="58718B"/>
                </a:solidFill>
              </a:defRPr>
            </a:lvl3pPr>
            <a:lvl4pPr>
              <a:defRPr sz="1200" b="0">
                <a:solidFill>
                  <a:srgbClr val="58718B"/>
                </a:solidFill>
              </a:defRPr>
            </a:lvl4pPr>
            <a:lvl5pPr>
              <a:defRPr sz="1200" b="0">
                <a:solidFill>
                  <a:srgbClr val="58718B"/>
                </a:solidFill>
              </a:defRPr>
            </a:lvl5pPr>
            <a:lvl6pPr>
              <a:defRPr sz="1200" b="0">
                <a:solidFill>
                  <a:srgbClr val="58718B"/>
                </a:solidFill>
              </a:defRPr>
            </a:lvl6pPr>
            <a:lvl7pPr>
              <a:defRPr sz="1200" b="0">
                <a:solidFill>
                  <a:srgbClr val="58718B"/>
                </a:solidFill>
              </a:defRPr>
            </a:lvl7pPr>
            <a:lvl8pPr>
              <a:defRPr sz="1200" b="0">
                <a:solidFill>
                  <a:srgbClr val="58718B"/>
                </a:solidFill>
              </a:defRPr>
            </a:lvl8pPr>
            <a:lvl9pPr>
              <a:defRPr sz="120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ผู้ใช้ต้องกำหนดคำสั่งด้วยเครื่องมือของหุ่นยนต์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ไม่เห็นคิวงานและสถานะของภารกิจในที่เดียว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ตรวจสอบย้อนหลังได้ยากเมื่อภารกิจล้มเหลว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CD239-3E07-4EFF-8A76-CB3919B5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19400"/>
            <a:ext cx="58674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26D97-D159-4C09-80FA-91288E57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แนวคิดของโครงงาน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4B22D-E6D7-4494-B9B6-6749A5A0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สร้างฐานหุ่นยนต์ที่รับภารกิจจากเว็บ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เดินทางไปยังสถานีรับของและสถานีปลายทาง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ส่งสถานะกลับให้ผู้ใช้ติดตามได้ตลอดกระบวนการ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9CF20-37B4-4E2F-AA91-14A07AAA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3F7CA-D205-4359-9C2A-835C79F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ผลที่ต้องการ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2E75C-6ED8-43CA-91EF-036BDF35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ผู้ใช้สร้างภารกิจ ติดตามสถานะ และดูประวัติได้จากเว็บ โดยไม่ต้องสั่ง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16613253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3432DC-6525-4B9C-943E-1D9AA1F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3F50D-2098-4CBB-833F-C18A2EC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09F2E-F495-4D38-90D1-80B2FE13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แนวคิดการทำงานของต้นแบบ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F1081-ED6E-406A-983E-6595F08C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DEF0B-8938-4101-BD4F-591EB896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หนึ่งภารกิจเชื่อมผู้ใช้งาน เว็บ ระบบนำทาง และหุ่นยนต์เข้าด้วยกัน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80755-98BE-4672-9C08-8F9D7B4F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9A10A-7FEA-4122-9921-724CD7A0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92FC9-3B68-4A00-8652-005E75E3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CREATE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E73A5-A8B5-43D1-84F8-0153A2C1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ผู้ใช้เลือกสถานีรับของและปลายทาง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D773E-819C-465D-AF43-3110A92D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23A83-64AA-42F5-A6A1-961B4AB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DEDE6-0679-4CD1-A417-BCFC0492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0D4BC-548E-4073-AF19-DB21DB50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ASSIGN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66A03-4F9A-416E-8E3B-672F3E21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เว็บส่งภารกิจผ่าน Robot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5F04C-0D77-49CB-BF4F-47EDE2D9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5D03A-30B0-4CDA-9AD5-F11F3D23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8308D-99C8-40C3-AE40-9A7AEF84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D8DDB-45B4-408E-A6E3-920CAA29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NAVIGATE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2357C-3334-457A-84BC-F5D36BFA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ROS 2 และ Nav2 พาหุ่นยนต์เคลื่อนที่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68D7F-B5D2-4F3C-B71C-0361FF4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F18C0-B94F-4C7E-B773-609EB12E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4B6063-F963-4430-A96F-E47BFA9B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8DA35-072D-4D1E-A52A-359C60E5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464BA-12EE-4B0B-ABCB-9791BED4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สถานะและเหตุการณ์ส่งกลับสู่หน้าเว็บ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D59D1-F535-4D14-A302-15D23804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720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ต้นแบบนี้มุ่งพิสูจน์การทำงานร่วมกันของทั้งระบบ มากกว่าการทดสอบการบรรทุกสิ่งของจริง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BD8BB-34B1-4F6D-9CFB-9FB6E753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102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การวางและรับสิ่งของยังยืนยันผ่านเว็บ และฐานหุ่นยนต์ยังไม่มีโครงสร้างบรรทุกเฉพาะ</a:t>
            </a:r>
          </a:p>
        </p:txBody>
      </p:sp>
    </p:spTree>
    <p:extLst>
      <p:ext uri="{BB962C8B-B14F-4D97-AF65-F5344CB8AC3E}">
        <p14:creationId xmlns:p14="http://schemas.microsoft.com/office/powerpoint/2010/main" val="1105478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67D16-D47F-495A-8ED8-2B770C9B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C0C74-3B8C-4DBF-8873-8DD3F804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ED36B-35AF-4990-910E-88D96038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วัตถุประสงค์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95697-E920-42AC-B85D-03A1F407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AB0B4-E74D-46A9-96FF-3FA463BD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สิ่งที่โครงงานตั้งใจออกแบบ พัฒนา และทดสอบ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56BE4-FADE-4B97-8571-14EDA4AE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2C74A-7A69-4A15-A6FB-A3331D74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พัฒนาฐานหุ่นยนต์ Differential Drive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49080-826C-4FC4-94D9-C53B8572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ใช้มอเตอร์ ชุดควบคุม และเซนเซอร์สำหรับตรวจวัดการเคลื่อนที่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02736-693A-4A0D-8DB4-62AD6994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6109A-E0E1-40CB-BC88-EE5406FA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พัฒนาระบบนำทางด้วย ROS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C88A6-2EF8-43F4-A08D-3B4B9867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 SLAM Toolbox, AMCL และ Nav2 สำหรับพื้นที่ทดลองภายในอาคาร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6E610-EB46-4512-AA3A-952D6FDF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3094D-5032-4220-B8A1-96F56DDC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005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พัฒนาเว็บแอปพลิเคชัน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C2B51-2102-4A75-A898-312CF08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243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สร้างภารกิจ จัดการคิว ติดตามสถานะ และดูประวัติตามสิทธิ์ผู้ใช้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944E3-DF6D-4B63-8501-7F3D072E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82C75-0201-4CC4-BED6-F6D75D7C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 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B6E1E-9AF1-493E-B0D7-094EDA86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รับส่งคำสั่ง ตำแหน่ง และสถานะระหว่างเว็บกับระบบหุ่นยนต์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E614F-526D-4A48-877E-F7B30394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0E37E-E39B-4785-9044-4B43E5F7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ทดสอบการทำงานร่วมกัน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D89D2-E9F4-4D87-A218-24235C18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ตรวจฟังก์ชันเว็บ การเคลื่อนที่จริง และลำดับการรับส่งสิ่งของจำลอง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14C9FE-F887-42F1-BF4E-08F19824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896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F1811D-70EA-4FE1-9AAF-0A5F9B2B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2FF2F-BF28-45C6-B291-0F29DCC3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E1955-6F8C-4A83-A5FC-8397DDE8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ขอบเขตของโครงงาน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FB674-D2B2-4BFF-B3B3-63717468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0B8A9-BB79-4DD8-947E-0E630762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แยกสิ่งที่ทดสอบในต้นแบบออกจากสิ่งที่ยังไม่ได้นำมาประเมิน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53CFB-F935-453D-8B84-60169B6A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83DCB-6BCA-497E-81B8-8E976F95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ครอบคลุม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91534-8DBF-4743-A418-1A5910F3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D9ED6-6D24-4422-9B85-A89BB795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หุ่นยนต์จริง 1 คันในพื้นที่ทดลองภายในห้อง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AB834-9A24-412C-AD0D-A7F7CC92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1E580-A1D6-4975-9CFC-52193183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สถานีบนแผนที่ประมาณ 2 ถึง 4 จุด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F320E-AB90-4510-AF46-B4896EB0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DB79E-7460-4278-8996-9C79AD1C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การสร้างแผนที่ ระบุตำแหน่ง และนำทาง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778F9-4269-4A9B-9C39-6A92515F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D176C-87A3-4F3B-AAC3-FA431352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เว็บจัดการผู้ใช้ สถานี ภารกิจ คิว และประวัติ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7406F-4AA2-4F23-B5E7-5D516A8E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2FD05-3947-41E9-830B-F564ECD6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ยืนยันการวางและรับสิ่งของผ่านเว็บ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CC08A-9DC1-4AC2-82B5-3117BAA2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8B395-6D23-4669-BA91-79A6C87E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ยังไม่ครอบคลุม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F5A4B-7B60-4504-9092-F2E68B3A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742F1-B04E-4385-BBCC-92A87808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โครงสร้างบรรทุกสิ่งของโดยเฉพาะ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5BF52-4A67-446D-9949-8FC0EE66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547B8-494E-4D20-9889-0CD4ECB8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การประเมินน้ำหนักบรรทุกและการขนส่งจริง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E117BA-8215-4078-A953-9155F568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5B8CC7-7E89-48C5-8BAE-76036242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ระบบตรวจจับว่าสิ่งของถูกวางหรือรับแล้ว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D527F0-963F-4049-99A9-799FCFC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982D5F-011F-4954-B5FA-8A45CF60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การรับรองความปลอดภัยสำหรับพื้นที่ทั่วไป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528AC5-59A2-4A3F-8379-3E68334B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4E17B-6463-4F62-B669-BE1E6499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ความเสถียรและประสิทธิภาพระยะยาว</a:t>
            </a:r>
          </a:p>
        </p:txBody>
      </p:sp>
    </p:spTree>
    <p:extLst>
      <p:ext uri="{BB962C8B-B14F-4D97-AF65-F5344CB8AC3E}">
        <p14:creationId xmlns:p14="http://schemas.microsoft.com/office/powerpoint/2010/main" val="1472077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70355-B79F-4AE9-91C2-1F9CA3E7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87CCB-38F5-4835-A212-4248D235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13834-5D07-4988-A1C0-AC5F7CB3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สถาปัตยกรรมระบบ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DF855-67D0-4960-BA05-862AC8C3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31A82-E0E8-466B-B5A5-86D7E80F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สามส่วนหลักแลกเปลี่ยนคำสั่งและสถานะผ่าน Robot Agent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798C1-99BB-4CAC-820B-A05618061D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60ad4c7c2438c"/>
          <a:stretch xmlns:a="http://schemas.openxmlformats.org/drawingml/2006/main"/>
        </p:blipFill>
        <p:spPr>
          <a:xfrm xmlns:a="http://schemas.openxmlformats.org/drawingml/2006/main">
            <a:off x="2373480" y="1504950"/>
            <a:ext cx="7445039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89111-EAD5-4123-AC29-267C74A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เว็บไม่เชื่อมต่อ ROS 2 โดยตรง  Robot Agent เป็นตัวกลางระหว่างระบบจัดการภารกิจกับหุ่นยนต์</a:t>
            </a:r>
          </a:p>
        </p:txBody>
      </p:sp>
    </p:spTree>
    <p:extLst>
      <p:ext uri="{BB962C8B-B14F-4D97-AF65-F5344CB8AC3E}">
        <p14:creationId xmlns:p14="http://schemas.microsoft.com/office/powerpoint/2010/main" val="5523589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6365C-BA64-4B11-BAD4-4C541E22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EA0C2-0A23-4E46-A2BD-39ED630B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C6EF7-B4BA-498D-8B8B-8033AEEB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ฐานหุ่นยนต์และ Differential 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48935-33A1-46EF-8F1A-968F4913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FD369-5988-4EDB-80EA-658A27F2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ควบคุมทิศทางจากความเร็วล้อซ้ายและขวา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02279-951F-4761-B3D8-0E8AE9FD49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cf4e9f7674ffc"/>
          <a:stretch xmlns:a="http://schemas.openxmlformats.org/drawingml/2006/main"/>
        </p:blipFill>
        <p:spPr>
          <a:xfrm xmlns:a="http://schemas.openxmlformats.org/drawingml/2006/main">
            <a:off x="534226" y="1581150"/>
            <a:ext cx="7218298" cy="4514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F8ED5-A1DF-4E09-8EF4-C9BF0D47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ฮาร์ดแวร์หลัก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D270C-10C2-49F7-9D77-D7E6E646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A833F-8E83-4A5B-B582-768E8655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574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ODROID-C4 ประมวลผล ROS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6ECBF-A310-4414-9E1D-CE4F37ED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E9065-5648-42C1-B737-EC4FEAAB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98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ESP32 ควบคุมฐานและอ่าน 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B9B91-2F7B-4F70-A4BE-60B09D27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9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7B314-ACB7-431A-835E-64695254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TB6612FNG ขับมอเตอร์ 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DCE65-E549-475F-90B6-27859EBA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07E83-08F6-4AEC-B205-BFA7390E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147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MPU6050 วัดการเคลื่อนที่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4BB0C-BD51-419B-B1D9-82998E4C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88121-9D92-43EF-AD17-3FA19CA5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YDLIDAR X3 สแกนพื้นที่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29D7D-1F7C-4EC8-89EC-1B1F4FBE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4BAC1-6877-4E42-88A1-B9A40F20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196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USB Camera ส่งภาพสด</a:t>
            </a:r>
          </a:p>
        </p:txBody>
      </p:sp>
    </p:spTree>
    <p:extLst>
      <p:ext uri="{BB962C8B-B14F-4D97-AF65-F5344CB8AC3E}">
        <p14:creationId xmlns:p14="http://schemas.microsoft.com/office/powerpoint/2010/main" val="7047095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9AE32-41E5-4F02-93BB-A3693D0C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20041-934E-41B8-A353-0E7A862C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83D1A-7083-46BA-8BC7-60B6A05C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การควบคุมความเร็วล้อแบบป้อนกลับ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3049E-69B9-4F0B-B08D-CE90C811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1CA93-6456-4E8D-90AC-BFFF3CAA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Encoder ช่วยให้คำสั่งความเร็วสัมพันธ์กับการเคลื่อนที่จริงของล้อ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28658-5D6E-47D2-8480-15387F9DDA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012a7602540cc"/>
          <a:stretch xmlns:a="http://schemas.openxmlformats.org/drawingml/2006/main"/>
        </p:blipFill>
        <p:spPr>
          <a:xfrm xmlns:a="http://schemas.openxmlformats.org/drawingml/2006/main">
            <a:off x="2869598" y="1619250"/>
            <a:ext cx="6452803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78CBB-64DC-494E-B916-795759FD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A2633-9624-4ECC-8A4D-CFD81A12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TARGET SPEED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47860-0DE7-4FCE-8FA2-9CEFF8D2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95A15-5BC1-4FC3-8426-5AAD3AE6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16518-EAEB-49E6-9841-E7E6B0A0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PI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CF16D-B0FD-4D7D-B120-11B32752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6DC92-5336-4E75-A5BA-9024F27A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4963E-D0DB-44AE-B6C4-BCE1B11D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MOTOR + WHEEL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985BC-B147-4603-BA9F-15776D94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E13C1-C048-4B94-9971-DE831B87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2930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330AE-C50F-4A56-B50B-167D2433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95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ENCODER FEEDBACK</a:t>
            </a:r>
          </a:p>
        </p:txBody>
      </p:sp>
    </p:spTree>
    <p:extLst>
      <p:ext uri="{BB962C8B-B14F-4D97-AF65-F5344CB8AC3E}">
        <p14:creationId xmlns:p14="http://schemas.microsoft.com/office/powerpoint/2010/main" val="1778650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18E69-220F-44E2-B957-DBA3C8FA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B25EE-516B-4C01-86B4-76B81C3E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A42E2-AADD-4387-9D63-82AAA57D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Mapping, Localization and 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DEE47-9368-483D-B232-D3FB0821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01DD7-47B6-41B3-9216-A1960DF5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สร้างแผนที่ก่อน ระบุตำแหน่งบนแผนที่ แล้วจึงส่งเป้าหมายให้ Nav2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9B769-6E9C-4D44-AF28-1E48997FE0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02543d13d4696"/>
          <a:stretch xmlns:a="http://schemas.openxmlformats.org/drawingml/2006/main"/>
        </p:blipFill>
        <p:spPr>
          <a:xfrm xmlns:a="http://schemas.openxmlformats.org/drawingml/2006/main">
            <a:off x="2288881" y="1524000"/>
            <a:ext cx="7614239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852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6F1D53-2D28-4ECD-8633-B2D36F03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E95BF-1BFE-4A68-AA58-27C7B965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ABB05-4966-45B9-8417-76F0F015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เว็บแอปพลิเคชันและ Robot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16ABF-7BA3-45D9-A4D3-6CD3DE5C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43F25-2E1D-4E0C-B2F9-FF8B5D1B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Robot Agent เชื่อมระบบจัดการภารกิจกับระบบนำทางของหุ่นยนต์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D151A-FCC3-4EAB-8208-4E9B56CD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3333750" cy="354330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6BA4E-1F02-453F-A9A4-C230B161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WEB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82889-DA10-4A2B-AF66-B0E6927B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ผู้ใช้งาน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0F4BF-11B9-4F2C-A08A-1F10A2AD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เลือกสถานี สร้างภารกิจ และยืนยันการรับส่ง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AB635-8E07-473B-BD71-0E7A378E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912AD-ADEE-4C38-8293-EBC1F36B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Web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21C26-F2AD-4197-B1F8-2B852C9D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แสดงคิว สถานะ ตำแหน่ง และประวัติ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70B23-C3DF-4CC0-BBCA-57614DDD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Backend +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574AE-FBB2-4B03-B412-0B56F078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ตรวจสอบและบันทึกภารกิจ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5B41E-A129-4427-B5E0-07DE66E7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57350"/>
            <a:ext cx="2857500" cy="384810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BB2C3-D7BD-4F08-B9C2-E027667D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9C479-D999-4E23-9AA2-264B7516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7EAF3"/>
                </a:solidFill>
              </a:defRPr>
            </a:defPPr>
            <a:lvl1pPr>
              <a:defRPr sz="1050" b="0">
                <a:solidFill>
                  <a:srgbClr val="C7EAF3"/>
                </a:solidFill>
              </a:defRPr>
            </a:lvl1pPr>
            <a:lvl2pPr>
              <a:defRPr sz="1050" b="0">
                <a:solidFill>
                  <a:srgbClr val="C7EAF3"/>
                </a:solidFill>
              </a:defRPr>
            </a:lvl2pPr>
            <a:lvl3pPr>
              <a:defRPr sz="1050" b="0">
                <a:solidFill>
                  <a:srgbClr val="C7EAF3"/>
                </a:solidFill>
              </a:defRPr>
            </a:lvl3pPr>
            <a:lvl4pPr>
              <a:defRPr sz="1050" b="0">
                <a:solidFill>
                  <a:srgbClr val="C7EAF3"/>
                </a:solidFill>
              </a:defRPr>
            </a:lvl4pPr>
            <a:lvl5pPr>
              <a:defRPr sz="1050" b="0">
                <a:solidFill>
                  <a:srgbClr val="C7EAF3"/>
                </a:solidFill>
              </a:defRPr>
            </a:lvl5pPr>
            <a:lvl6pPr>
              <a:defRPr sz="1050" b="0">
                <a:solidFill>
                  <a:srgbClr val="C7EAF3"/>
                </a:solidFill>
              </a:defRPr>
            </a:lvl6pPr>
            <a:lvl7pPr>
              <a:defRPr sz="1050" b="0">
                <a:solidFill>
                  <a:srgbClr val="C7EAF3"/>
                </a:solidFill>
              </a:defRPr>
            </a:lvl7pPr>
            <a:lvl8pPr>
              <a:defRPr sz="1050" b="0">
                <a:solidFill>
                  <a:srgbClr val="C7EAF3"/>
                </a:solidFill>
              </a:defRPr>
            </a:lvl8pPr>
            <a:lvl9pPr>
              <a:defRPr sz="1050" b="0">
                <a:solidFill>
                  <a:srgbClr val="C7EAF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7EAF3"/>
                </a:solidFill>
              </a:defRPr>
            </a:pPr>
            <a:r>
              <a:rPr sz="1050" b="0">
                <a:solidFill>
                  <a:srgbClr val="C7EAF3"/>
                </a:solidFill>
              </a:rPr>
              <a:t>ตัวกลางระหว่างเว็บกับ ROS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C25B5-0D23-4328-A683-C29DB4FF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9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D1D9F-1BA4-413D-981C-CA9AE786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6227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รับภารกิจจาก 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C0262-7928-4BDE-8190-F78906C2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24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6F296-73E8-4ABB-BCC0-07E6416B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7662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เรียก Nav2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3F14A-ACF5-4DA7-B7B0-1EDB2A7C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AF952-D0C9-4A24-9113-8FCAC6C5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9097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ติดตามผลการนำทาง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CE69FA-4CEA-4ADC-93E4-0A240AD3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52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5076A-EFE1-4CFB-A44C-68B70D99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0532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ส่งสถานะกลับสู่เว็บ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3242AF-B002-435D-B208-E63E717D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333750" cy="354330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E5D3B3-A7A7-49FA-B2E7-B90818BE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57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ROBOT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1DE81D-2E9B-404A-91E8-24C164F5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ROS 2 + Nav2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45C478-F14D-43E1-B5DD-1F658346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รับเป้าหมาย วางแผนเส้นทาง และส่ง cmd_vel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A8B6B9-4BF9-46CD-862D-291A4F3B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28AA4-7176-404A-B11D-B8B52BAE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Base Driver + ESP32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C0FCDE-75B2-44D3-96AB-1F270115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14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ขับมอเตอร์และอ่าน Encoder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7B350-075A-4C5C-AA51-EBA9799D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Telemetry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1A8E13-F5FF-40FB-8733-0CE075D4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91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ส่ง Odometry ตำแหน่ง และสถานะกลับ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ED98FA-58CA-45C4-9690-DC4F55CC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95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MISSION COMMAND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F66551-E9A4-4ED6-99CC-7A4C5CF2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1750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7762D8-762F-4E31-BD24-39B716EE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95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NAV2 GOAL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E3451E-26B2-44B3-8A02-A6449FCA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7BC30E-37C6-4CA7-B80C-8DDAF6CB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05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STATUS + EVENT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BC1229-D67D-4E42-8559-51175C7A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05300"/>
            <a:ext cx="8382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solidFill>
              <a:srgbClr val="1678B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81E2B0-E1E1-491E-8C76-5A2EAA65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05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POSE + RESULT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9B5D0E-2650-4575-9AAA-5AC5509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8382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solidFill>
              <a:srgbClr val="1678B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82ECE8-3E39-4BD3-A2FE-D29A87CA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7215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ผู้ใช้สั่งงานและติดตามภารกิจจากเว็บ โดยไม่ต้องติดต่อ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9555800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BCF765-A324-4AF2-AFBF-06D977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MISSION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1C742-EAF4-454E-B6A1-184CEF4A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4DB93-0769-4404-ABC4-E301DD5C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ลำดับการทำงานของภารกิจ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E9FED-66CA-4D3B-8B12-E364FB01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C515D-EEA7-4D20-9E75-097EE675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หนึ่งภารกิจประกอบด้วยการเดินทาง และการยืนยันรับ–ส่งผ่านหน้าเว็บ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DC67E-0256-44B3-9FB0-4A105172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ลำดับปกติ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FC239-51C6-4814-88E1-AD07D139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38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ชื่อภาษาไทยอธิบายสิ่งที่ผู้ใช้เห็น ส่วนรหัสด้านล่างคือสถานะที่ระบบบันทึก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E7F72-B8D4-4479-892A-6B27D72D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DD44C-DA42-4FA2-9D1C-BDD374F6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80CF6-D208-4FED-99AA-4E20221A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47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เข้าคิว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8C81C-F219-47F7-8F09-1E931851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00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58718B"/>
                </a:solidFill>
              </a:defRPr>
            </a:defPPr>
            <a:lvl1pPr>
              <a:defRPr sz="525" b="1">
                <a:solidFill>
                  <a:srgbClr val="58718B"/>
                </a:solidFill>
              </a:defRPr>
            </a:lvl1pPr>
            <a:lvl2pPr>
              <a:defRPr sz="525" b="1">
                <a:solidFill>
                  <a:srgbClr val="58718B"/>
                </a:solidFill>
              </a:defRPr>
            </a:lvl2pPr>
            <a:lvl3pPr>
              <a:defRPr sz="525" b="1">
                <a:solidFill>
                  <a:srgbClr val="58718B"/>
                </a:solidFill>
              </a:defRPr>
            </a:lvl3pPr>
            <a:lvl4pPr>
              <a:defRPr sz="525" b="1">
                <a:solidFill>
                  <a:srgbClr val="58718B"/>
                </a:solidFill>
              </a:defRPr>
            </a:lvl4pPr>
            <a:lvl5pPr>
              <a:defRPr sz="525" b="1">
                <a:solidFill>
                  <a:srgbClr val="58718B"/>
                </a:solidFill>
              </a:defRPr>
            </a:lvl5pPr>
            <a:lvl6pPr>
              <a:defRPr sz="525" b="1">
                <a:solidFill>
                  <a:srgbClr val="58718B"/>
                </a:solidFill>
              </a:defRPr>
            </a:lvl6pPr>
            <a:lvl7pPr>
              <a:defRPr sz="525" b="1">
                <a:solidFill>
                  <a:srgbClr val="58718B"/>
                </a:solidFill>
              </a:defRPr>
            </a:lvl7pPr>
            <a:lvl8pPr>
              <a:defRPr sz="525" b="1">
                <a:solidFill>
                  <a:srgbClr val="58718B"/>
                </a:solidFill>
              </a:defRPr>
            </a:lvl8pPr>
            <a:lvl9pPr>
              <a:defRPr sz="52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58718B"/>
                </a:solidFill>
              </a:defRPr>
            </a:pPr>
            <a:r>
              <a:rPr sz="525" b="1">
                <a:solidFill>
                  <a:srgbClr val="58718B"/>
                </a:solidFill>
              </a:rPr>
              <a:t>QUEUED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5B62C-6135-45B5-AD70-6A01E766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9A27C-5B86-485C-B0B9-D4356796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4D720-8BDC-4607-9B71-8B7FD0CA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B5CC2-CEE9-4F44-9848-027AC701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647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ไปยังจุดรับ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97D22-4654-415B-B4EE-5B674FA0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00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58718B"/>
                </a:solidFill>
              </a:defRPr>
            </a:defPPr>
            <a:lvl1pPr>
              <a:defRPr sz="525" b="1">
                <a:solidFill>
                  <a:srgbClr val="58718B"/>
                </a:solidFill>
              </a:defRPr>
            </a:lvl1pPr>
            <a:lvl2pPr>
              <a:defRPr sz="525" b="1">
                <a:solidFill>
                  <a:srgbClr val="58718B"/>
                </a:solidFill>
              </a:defRPr>
            </a:lvl2pPr>
            <a:lvl3pPr>
              <a:defRPr sz="525" b="1">
                <a:solidFill>
                  <a:srgbClr val="58718B"/>
                </a:solidFill>
              </a:defRPr>
            </a:lvl3pPr>
            <a:lvl4pPr>
              <a:defRPr sz="525" b="1">
                <a:solidFill>
                  <a:srgbClr val="58718B"/>
                </a:solidFill>
              </a:defRPr>
            </a:lvl4pPr>
            <a:lvl5pPr>
              <a:defRPr sz="525" b="1">
                <a:solidFill>
                  <a:srgbClr val="58718B"/>
                </a:solidFill>
              </a:defRPr>
            </a:lvl5pPr>
            <a:lvl6pPr>
              <a:defRPr sz="525" b="1">
                <a:solidFill>
                  <a:srgbClr val="58718B"/>
                </a:solidFill>
              </a:defRPr>
            </a:lvl6pPr>
            <a:lvl7pPr>
              <a:defRPr sz="525" b="1">
                <a:solidFill>
                  <a:srgbClr val="58718B"/>
                </a:solidFill>
              </a:defRPr>
            </a:lvl7pPr>
            <a:lvl8pPr>
              <a:defRPr sz="525" b="1">
                <a:solidFill>
                  <a:srgbClr val="58718B"/>
                </a:solidFill>
              </a:defRPr>
            </a:lvl8pPr>
            <a:lvl9pPr>
              <a:defRPr sz="52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58718B"/>
                </a:solidFill>
              </a:defRPr>
            </a:pPr>
            <a:r>
              <a:rPr sz="525" b="1">
                <a:solidFill>
                  <a:srgbClr val="58718B"/>
                </a:solidFill>
              </a:rPr>
              <a:t>GOING_TO_PICKUP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898EC-69EA-4A05-9042-09D5BCEB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D4B86-7CE9-447F-A8B3-4E9D7DD1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3F4E3-DEBA-4070-8E39-0C9C66B3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AC76ED-DD34-4950-8643-1130D100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47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รอยืนยันการวาง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D95F1-F834-4137-9301-C61D146E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00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58718B"/>
                </a:solidFill>
              </a:defRPr>
            </a:defPPr>
            <a:lvl1pPr>
              <a:defRPr sz="525" b="1">
                <a:solidFill>
                  <a:srgbClr val="58718B"/>
                </a:solidFill>
              </a:defRPr>
            </a:lvl1pPr>
            <a:lvl2pPr>
              <a:defRPr sz="525" b="1">
                <a:solidFill>
                  <a:srgbClr val="58718B"/>
                </a:solidFill>
              </a:defRPr>
            </a:lvl2pPr>
            <a:lvl3pPr>
              <a:defRPr sz="525" b="1">
                <a:solidFill>
                  <a:srgbClr val="58718B"/>
                </a:solidFill>
              </a:defRPr>
            </a:lvl3pPr>
            <a:lvl4pPr>
              <a:defRPr sz="525" b="1">
                <a:solidFill>
                  <a:srgbClr val="58718B"/>
                </a:solidFill>
              </a:defRPr>
            </a:lvl4pPr>
            <a:lvl5pPr>
              <a:defRPr sz="525" b="1">
                <a:solidFill>
                  <a:srgbClr val="58718B"/>
                </a:solidFill>
              </a:defRPr>
            </a:lvl5pPr>
            <a:lvl6pPr>
              <a:defRPr sz="525" b="1">
                <a:solidFill>
                  <a:srgbClr val="58718B"/>
                </a:solidFill>
              </a:defRPr>
            </a:lvl6pPr>
            <a:lvl7pPr>
              <a:defRPr sz="525" b="1">
                <a:solidFill>
                  <a:srgbClr val="58718B"/>
                </a:solidFill>
              </a:defRPr>
            </a:lvl7pPr>
            <a:lvl8pPr>
              <a:defRPr sz="525" b="1">
                <a:solidFill>
                  <a:srgbClr val="58718B"/>
                </a:solidFill>
              </a:defRPr>
            </a:lvl8pPr>
            <a:lvl9pPr>
              <a:defRPr sz="52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58718B"/>
                </a:solidFill>
              </a:defRPr>
            </a:pPr>
            <a:r>
              <a:rPr sz="525" b="1">
                <a:solidFill>
                  <a:srgbClr val="58718B"/>
                </a:solidFill>
              </a:rPr>
              <a:t>WAITING_FOR_LOADING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0EE05-2045-4D62-B2C0-5F0CC049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B5058-51D4-4B91-BC47-6F1BC2EB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69CCA-41CB-4A3E-8129-2CD22C06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AAFEF-F528-4845-8CBC-25FADF66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ไปยังปลายทาง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D8509-D287-466F-9200-FE5FB9D2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00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58718B"/>
                </a:solidFill>
              </a:defRPr>
            </a:defPPr>
            <a:lvl1pPr>
              <a:defRPr sz="525" b="1">
                <a:solidFill>
                  <a:srgbClr val="58718B"/>
                </a:solidFill>
              </a:defRPr>
            </a:lvl1pPr>
            <a:lvl2pPr>
              <a:defRPr sz="525" b="1">
                <a:solidFill>
                  <a:srgbClr val="58718B"/>
                </a:solidFill>
              </a:defRPr>
            </a:lvl2pPr>
            <a:lvl3pPr>
              <a:defRPr sz="525" b="1">
                <a:solidFill>
                  <a:srgbClr val="58718B"/>
                </a:solidFill>
              </a:defRPr>
            </a:lvl3pPr>
            <a:lvl4pPr>
              <a:defRPr sz="525" b="1">
                <a:solidFill>
                  <a:srgbClr val="58718B"/>
                </a:solidFill>
              </a:defRPr>
            </a:lvl4pPr>
            <a:lvl5pPr>
              <a:defRPr sz="525" b="1">
                <a:solidFill>
                  <a:srgbClr val="58718B"/>
                </a:solidFill>
              </a:defRPr>
            </a:lvl5pPr>
            <a:lvl6pPr>
              <a:defRPr sz="525" b="1">
                <a:solidFill>
                  <a:srgbClr val="58718B"/>
                </a:solidFill>
              </a:defRPr>
            </a:lvl6pPr>
            <a:lvl7pPr>
              <a:defRPr sz="525" b="1">
                <a:solidFill>
                  <a:srgbClr val="58718B"/>
                </a:solidFill>
              </a:defRPr>
            </a:lvl7pPr>
            <a:lvl8pPr>
              <a:defRPr sz="525" b="1">
                <a:solidFill>
                  <a:srgbClr val="58718B"/>
                </a:solidFill>
              </a:defRPr>
            </a:lvl8pPr>
            <a:lvl9pPr>
              <a:defRPr sz="52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58718B"/>
                </a:solidFill>
              </a:defRPr>
            </a:pPr>
            <a:r>
              <a:rPr sz="525" b="1">
                <a:solidFill>
                  <a:srgbClr val="58718B"/>
                </a:solidFill>
              </a:rPr>
              <a:t>DELIVERING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BA9AC-70E7-41FF-B831-5F168611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6C6AA1-8507-4B0B-8815-45AE2F2F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94F894-0DCE-4F32-BBE8-B6096D83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DE9D03-D15A-4093-BF92-FB855D64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47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รอยืนยันการรับ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7537F9-151F-473C-BFF5-757F01AB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00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58718B"/>
                </a:solidFill>
              </a:defRPr>
            </a:defPPr>
            <a:lvl1pPr>
              <a:defRPr sz="525" b="1">
                <a:solidFill>
                  <a:srgbClr val="58718B"/>
                </a:solidFill>
              </a:defRPr>
            </a:lvl1pPr>
            <a:lvl2pPr>
              <a:defRPr sz="525" b="1">
                <a:solidFill>
                  <a:srgbClr val="58718B"/>
                </a:solidFill>
              </a:defRPr>
            </a:lvl2pPr>
            <a:lvl3pPr>
              <a:defRPr sz="525" b="1">
                <a:solidFill>
                  <a:srgbClr val="58718B"/>
                </a:solidFill>
              </a:defRPr>
            </a:lvl3pPr>
            <a:lvl4pPr>
              <a:defRPr sz="525" b="1">
                <a:solidFill>
                  <a:srgbClr val="58718B"/>
                </a:solidFill>
              </a:defRPr>
            </a:lvl4pPr>
            <a:lvl5pPr>
              <a:defRPr sz="525" b="1">
                <a:solidFill>
                  <a:srgbClr val="58718B"/>
                </a:solidFill>
              </a:defRPr>
            </a:lvl5pPr>
            <a:lvl6pPr>
              <a:defRPr sz="525" b="1">
                <a:solidFill>
                  <a:srgbClr val="58718B"/>
                </a:solidFill>
              </a:defRPr>
            </a:lvl6pPr>
            <a:lvl7pPr>
              <a:defRPr sz="525" b="1">
                <a:solidFill>
                  <a:srgbClr val="58718B"/>
                </a:solidFill>
              </a:defRPr>
            </a:lvl7pPr>
            <a:lvl8pPr>
              <a:defRPr sz="525" b="1">
                <a:solidFill>
                  <a:srgbClr val="58718B"/>
                </a:solidFill>
              </a:defRPr>
            </a:lvl8pPr>
            <a:lvl9pPr>
              <a:defRPr sz="52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58718B"/>
                </a:solidFill>
              </a:defRPr>
            </a:pPr>
            <a:r>
              <a:rPr sz="525" b="1">
                <a:solidFill>
                  <a:srgbClr val="58718B"/>
                </a:solidFill>
              </a:rPr>
              <a:t>WAITING_FOR_UNLOADING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51C863-BA02-412F-8DC8-7A31373D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593FF-66C1-4393-A9A9-4131A9BF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B42B1B-5EA2-4D5E-AA1E-1B4F9A24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B62EAA-5E50-4289-92BE-1CEFC977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647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เสร็จสิ้น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EAC752-4DDD-40BB-8535-969F7AC5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00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FFFFFF"/>
                </a:solidFill>
              </a:defRPr>
            </a:defPPr>
            <a:lvl1pPr>
              <a:defRPr sz="525" b="1">
                <a:solidFill>
                  <a:srgbClr val="FFFFFF"/>
                </a:solidFill>
              </a:defRPr>
            </a:lvl1pPr>
            <a:lvl2pPr>
              <a:defRPr sz="525" b="1">
                <a:solidFill>
                  <a:srgbClr val="FFFFFF"/>
                </a:solidFill>
              </a:defRPr>
            </a:lvl2pPr>
            <a:lvl3pPr>
              <a:defRPr sz="525" b="1">
                <a:solidFill>
                  <a:srgbClr val="FFFFFF"/>
                </a:solidFill>
              </a:defRPr>
            </a:lvl3pPr>
            <a:lvl4pPr>
              <a:defRPr sz="525" b="1">
                <a:solidFill>
                  <a:srgbClr val="FFFFFF"/>
                </a:solidFill>
              </a:defRPr>
            </a:lvl4pPr>
            <a:lvl5pPr>
              <a:defRPr sz="525" b="1">
                <a:solidFill>
                  <a:srgbClr val="FFFFFF"/>
                </a:solidFill>
              </a:defRPr>
            </a:lvl5pPr>
            <a:lvl6pPr>
              <a:defRPr sz="525" b="1">
                <a:solidFill>
                  <a:srgbClr val="FFFFFF"/>
                </a:solidFill>
              </a:defRPr>
            </a:lvl6pPr>
            <a:lvl7pPr>
              <a:defRPr sz="525" b="1">
                <a:solidFill>
                  <a:srgbClr val="FFFFFF"/>
                </a:solidFill>
              </a:defRPr>
            </a:lvl7pPr>
            <a:lvl8pPr>
              <a:defRPr sz="525" b="1">
                <a:solidFill>
                  <a:srgbClr val="FFFFFF"/>
                </a:solidFill>
              </a:defRPr>
            </a:lvl8pPr>
            <a:lvl9pPr>
              <a:defRPr sz="5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FFFFFF"/>
                </a:solidFill>
              </a:defRPr>
            </a:pPr>
            <a:r>
              <a:rPr sz="525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991E14-B67D-4F4D-B919-4F08FF58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95362"/>
                </a:solidFill>
              </a:defRPr>
            </a:defPPr>
            <a:lvl1pPr>
              <a:defRPr sz="1125" b="1">
                <a:solidFill>
                  <a:srgbClr val="D95362"/>
                </a:solidFill>
              </a:defRPr>
            </a:lvl1pPr>
            <a:lvl2pPr>
              <a:defRPr sz="1125" b="1">
                <a:solidFill>
                  <a:srgbClr val="D95362"/>
                </a:solidFill>
              </a:defRPr>
            </a:lvl2pPr>
            <a:lvl3pPr>
              <a:defRPr sz="1125" b="1">
                <a:solidFill>
                  <a:srgbClr val="D95362"/>
                </a:solidFill>
              </a:defRPr>
            </a:lvl3pPr>
            <a:lvl4pPr>
              <a:defRPr sz="1125" b="1">
                <a:solidFill>
                  <a:srgbClr val="D95362"/>
                </a:solidFill>
              </a:defRPr>
            </a:lvl4pPr>
            <a:lvl5pPr>
              <a:defRPr sz="1125" b="1">
                <a:solidFill>
                  <a:srgbClr val="D95362"/>
                </a:solidFill>
              </a:defRPr>
            </a:lvl5pPr>
            <a:lvl6pPr>
              <a:defRPr sz="1125" b="1">
                <a:solidFill>
                  <a:srgbClr val="D95362"/>
                </a:solidFill>
              </a:defRPr>
            </a:lvl6pPr>
            <a:lvl7pPr>
              <a:defRPr sz="1125" b="1">
                <a:solidFill>
                  <a:srgbClr val="D95362"/>
                </a:solidFill>
              </a:defRPr>
            </a:lvl7pPr>
            <a:lvl8pPr>
              <a:defRPr sz="1125" b="1">
                <a:solidFill>
                  <a:srgbClr val="D95362"/>
                </a:solidFill>
              </a:defRPr>
            </a:lvl8pPr>
            <a:lvl9pPr>
              <a:defRPr sz="1125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D95362"/>
                </a:solidFill>
              </a:defRPr>
            </a:pPr>
            <a:r>
              <a:rPr sz="1125" b="1">
                <a:solidFill>
                  <a:srgbClr val="D95362"/>
                </a:solidFill>
              </a:rPr>
              <a:t>กรณีสิ้นสุดอื่น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56AB8A-F9DA-4711-808F-2DFB8801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342900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DEF899-82E2-4418-8039-4014F1A7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5362"/>
                </a:solidFill>
              </a:defRPr>
            </a:defPPr>
            <a:lvl1pPr>
              <a:defRPr sz="1350" b="1">
                <a:solidFill>
                  <a:srgbClr val="D95362"/>
                </a:solidFill>
              </a:defRPr>
            </a:lvl1pPr>
            <a:lvl2pPr>
              <a:defRPr sz="1350" b="1">
                <a:solidFill>
                  <a:srgbClr val="D95362"/>
                </a:solidFill>
              </a:defRPr>
            </a:lvl2pPr>
            <a:lvl3pPr>
              <a:defRPr sz="1350" b="1">
                <a:solidFill>
                  <a:srgbClr val="D95362"/>
                </a:solidFill>
              </a:defRPr>
            </a:lvl3pPr>
            <a:lvl4pPr>
              <a:defRPr sz="1350" b="1">
                <a:solidFill>
                  <a:srgbClr val="D95362"/>
                </a:solidFill>
              </a:defRPr>
            </a:lvl4pPr>
            <a:lvl5pPr>
              <a:defRPr sz="1350" b="1">
                <a:solidFill>
                  <a:srgbClr val="D95362"/>
                </a:solidFill>
              </a:defRPr>
            </a:lvl5pPr>
            <a:lvl6pPr>
              <a:defRPr sz="1350" b="1">
                <a:solidFill>
                  <a:srgbClr val="D95362"/>
                </a:solidFill>
              </a:defRPr>
            </a:lvl6pPr>
            <a:lvl7pPr>
              <a:defRPr sz="1350" b="1">
                <a:solidFill>
                  <a:srgbClr val="D95362"/>
                </a:solidFill>
              </a:defRPr>
            </a:lvl7pPr>
            <a:lvl8pPr>
              <a:defRPr sz="1350" b="1">
                <a:solidFill>
                  <a:srgbClr val="D95362"/>
                </a:solidFill>
              </a:defRPr>
            </a:lvl8pPr>
            <a:lvl9pPr>
              <a:defRPr sz="13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95362"/>
                </a:solidFill>
              </a:defRPr>
            </a:pPr>
            <a:r>
              <a:rPr sz="1350" b="1">
                <a:solidFill>
                  <a:srgbClr val="D95362"/>
                </a:solidFill>
              </a:rPr>
              <a:t>ยกเลิก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08E652-FB8F-41B7-83AB-84D9EFF4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D95362"/>
                </a:solidFill>
              </a:defRPr>
            </a:defPPr>
            <a:lvl1pPr>
              <a:defRPr sz="750" b="1">
                <a:solidFill>
                  <a:srgbClr val="D95362"/>
                </a:solidFill>
              </a:defRPr>
            </a:lvl1pPr>
            <a:lvl2pPr>
              <a:defRPr sz="750" b="1">
                <a:solidFill>
                  <a:srgbClr val="D95362"/>
                </a:solidFill>
              </a:defRPr>
            </a:lvl2pPr>
            <a:lvl3pPr>
              <a:defRPr sz="750" b="1">
                <a:solidFill>
                  <a:srgbClr val="D95362"/>
                </a:solidFill>
              </a:defRPr>
            </a:lvl3pPr>
            <a:lvl4pPr>
              <a:defRPr sz="750" b="1">
                <a:solidFill>
                  <a:srgbClr val="D95362"/>
                </a:solidFill>
              </a:defRPr>
            </a:lvl4pPr>
            <a:lvl5pPr>
              <a:defRPr sz="750" b="1">
                <a:solidFill>
                  <a:srgbClr val="D95362"/>
                </a:solidFill>
              </a:defRPr>
            </a:lvl5pPr>
            <a:lvl6pPr>
              <a:defRPr sz="750" b="1">
                <a:solidFill>
                  <a:srgbClr val="D95362"/>
                </a:solidFill>
              </a:defRPr>
            </a:lvl6pPr>
            <a:lvl7pPr>
              <a:defRPr sz="750" b="1">
                <a:solidFill>
                  <a:srgbClr val="D95362"/>
                </a:solidFill>
              </a:defRPr>
            </a:lvl7pPr>
            <a:lvl8pPr>
              <a:defRPr sz="750" b="1">
                <a:solidFill>
                  <a:srgbClr val="D95362"/>
                </a:solidFill>
              </a:defRPr>
            </a:lvl8pPr>
            <a:lvl9pPr>
              <a:defRPr sz="7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D95362"/>
                </a:solidFill>
              </a:defRPr>
            </a:pPr>
            <a:r>
              <a:rPr sz="750" b="1">
                <a:solidFill>
                  <a:srgbClr val="D95362"/>
                </a:solidFill>
              </a:rPr>
              <a:t>CANCELLED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EC90B9-C37D-474F-A65B-758B0DA8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4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02A43"/>
                </a:solidFill>
              </a:defRPr>
            </a:defPPr>
            <a:lvl1pPr>
              <a:defRPr sz="975" b="0">
                <a:solidFill>
                  <a:srgbClr val="102A43"/>
                </a:solidFill>
              </a:defRPr>
            </a:lvl1pPr>
            <a:lvl2pPr>
              <a:defRPr sz="975" b="0">
                <a:solidFill>
                  <a:srgbClr val="102A43"/>
                </a:solidFill>
              </a:defRPr>
            </a:lvl2pPr>
            <a:lvl3pPr>
              <a:defRPr sz="975" b="0">
                <a:solidFill>
                  <a:srgbClr val="102A43"/>
                </a:solidFill>
              </a:defRPr>
            </a:lvl3pPr>
            <a:lvl4pPr>
              <a:defRPr sz="975" b="0">
                <a:solidFill>
                  <a:srgbClr val="102A43"/>
                </a:solidFill>
              </a:defRPr>
            </a:lvl4pPr>
            <a:lvl5pPr>
              <a:defRPr sz="975" b="0">
                <a:solidFill>
                  <a:srgbClr val="102A43"/>
                </a:solidFill>
              </a:defRPr>
            </a:lvl5pPr>
            <a:lvl6pPr>
              <a:defRPr sz="975" b="0">
                <a:solidFill>
                  <a:srgbClr val="102A43"/>
                </a:solidFill>
              </a:defRPr>
            </a:lvl6pPr>
            <a:lvl7pPr>
              <a:defRPr sz="975" b="0">
                <a:solidFill>
                  <a:srgbClr val="102A43"/>
                </a:solidFill>
              </a:defRPr>
            </a:lvl7pPr>
            <a:lvl8pPr>
              <a:defRPr sz="975" b="0">
                <a:solidFill>
                  <a:srgbClr val="102A43"/>
                </a:solidFill>
              </a:defRPr>
            </a:lvl8pPr>
            <a:lvl9pPr>
              <a:defRPr sz="9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ผู้ใช้หรือผู้ดูแลยกเลิกภารกิจก่อนเริ่มเดินทาง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AD3F6F-5BCA-49A0-B836-084FF102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38650"/>
            <a:ext cx="342900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9E969C-FA93-4672-B982-B636AD8C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5362"/>
                </a:solidFill>
              </a:defRPr>
            </a:defPPr>
            <a:lvl1pPr>
              <a:defRPr sz="1350" b="1">
                <a:solidFill>
                  <a:srgbClr val="D95362"/>
                </a:solidFill>
              </a:defRPr>
            </a:lvl1pPr>
            <a:lvl2pPr>
              <a:defRPr sz="1350" b="1">
                <a:solidFill>
                  <a:srgbClr val="D95362"/>
                </a:solidFill>
              </a:defRPr>
            </a:lvl2pPr>
            <a:lvl3pPr>
              <a:defRPr sz="1350" b="1">
                <a:solidFill>
                  <a:srgbClr val="D95362"/>
                </a:solidFill>
              </a:defRPr>
            </a:lvl3pPr>
            <a:lvl4pPr>
              <a:defRPr sz="1350" b="1">
                <a:solidFill>
                  <a:srgbClr val="D95362"/>
                </a:solidFill>
              </a:defRPr>
            </a:lvl4pPr>
            <a:lvl5pPr>
              <a:defRPr sz="1350" b="1">
                <a:solidFill>
                  <a:srgbClr val="D95362"/>
                </a:solidFill>
              </a:defRPr>
            </a:lvl5pPr>
            <a:lvl6pPr>
              <a:defRPr sz="1350" b="1">
                <a:solidFill>
                  <a:srgbClr val="D95362"/>
                </a:solidFill>
              </a:defRPr>
            </a:lvl6pPr>
            <a:lvl7pPr>
              <a:defRPr sz="1350" b="1">
                <a:solidFill>
                  <a:srgbClr val="D95362"/>
                </a:solidFill>
              </a:defRPr>
            </a:lvl7pPr>
            <a:lvl8pPr>
              <a:defRPr sz="1350" b="1">
                <a:solidFill>
                  <a:srgbClr val="D95362"/>
                </a:solidFill>
              </a:defRPr>
            </a:lvl8pPr>
            <a:lvl9pPr>
              <a:defRPr sz="13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95362"/>
                </a:solidFill>
              </a:defRPr>
            </a:pPr>
            <a:r>
              <a:rPr sz="1350" b="1">
                <a:solidFill>
                  <a:srgbClr val="D95362"/>
                </a:solidFill>
              </a:rPr>
              <a:t>ล้มเหลว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E91302-2119-42F2-8182-15CC6678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0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D95362"/>
                </a:solidFill>
              </a:defRPr>
            </a:defPPr>
            <a:lvl1pPr>
              <a:defRPr sz="750" b="1">
                <a:solidFill>
                  <a:srgbClr val="D95362"/>
                </a:solidFill>
              </a:defRPr>
            </a:lvl1pPr>
            <a:lvl2pPr>
              <a:defRPr sz="750" b="1">
                <a:solidFill>
                  <a:srgbClr val="D95362"/>
                </a:solidFill>
              </a:defRPr>
            </a:lvl2pPr>
            <a:lvl3pPr>
              <a:defRPr sz="750" b="1">
                <a:solidFill>
                  <a:srgbClr val="D95362"/>
                </a:solidFill>
              </a:defRPr>
            </a:lvl3pPr>
            <a:lvl4pPr>
              <a:defRPr sz="750" b="1">
                <a:solidFill>
                  <a:srgbClr val="D95362"/>
                </a:solidFill>
              </a:defRPr>
            </a:lvl4pPr>
            <a:lvl5pPr>
              <a:defRPr sz="750" b="1">
                <a:solidFill>
                  <a:srgbClr val="D95362"/>
                </a:solidFill>
              </a:defRPr>
            </a:lvl5pPr>
            <a:lvl6pPr>
              <a:defRPr sz="750" b="1">
                <a:solidFill>
                  <a:srgbClr val="D95362"/>
                </a:solidFill>
              </a:defRPr>
            </a:lvl6pPr>
            <a:lvl7pPr>
              <a:defRPr sz="750" b="1">
                <a:solidFill>
                  <a:srgbClr val="D95362"/>
                </a:solidFill>
              </a:defRPr>
            </a:lvl7pPr>
            <a:lvl8pPr>
              <a:defRPr sz="750" b="1">
                <a:solidFill>
                  <a:srgbClr val="D95362"/>
                </a:solidFill>
              </a:defRPr>
            </a:lvl8pPr>
            <a:lvl9pPr>
              <a:defRPr sz="7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D95362"/>
                </a:solidFill>
              </a:defRPr>
            </a:pPr>
            <a:r>
              <a:rPr sz="750" b="1">
                <a:solidFill>
                  <a:srgbClr val="D95362"/>
                </a:solidFill>
              </a:rPr>
              <a:t>FAILED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69DD76-6D49-4BD2-A08E-4C3914A5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4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02A43"/>
                </a:solidFill>
              </a:defRPr>
            </a:defPPr>
            <a:lvl1pPr>
              <a:defRPr sz="975" b="0">
                <a:solidFill>
                  <a:srgbClr val="102A43"/>
                </a:solidFill>
              </a:defRPr>
            </a:lvl1pPr>
            <a:lvl2pPr>
              <a:defRPr sz="975" b="0">
                <a:solidFill>
                  <a:srgbClr val="102A43"/>
                </a:solidFill>
              </a:defRPr>
            </a:lvl2pPr>
            <a:lvl3pPr>
              <a:defRPr sz="975" b="0">
                <a:solidFill>
                  <a:srgbClr val="102A43"/>
                </a:solidFill>
              </a:defRPr>
            </a:lvl3pPr>
            <a:lvl4pPr>
              <a:defRPr sz="975" b="0">
                <a:solidFill>
                  <a:srgbClr val="102A43"/>
                </a:solidFill>
              </a:defRPr>
            </a:lvl4pPr>
            <a:lvl5pPr>
              <a:defRPr sz="975" b="0">
                <a:solidFill>
                  <a:srgbClr val="102A43"/>
                </a:solidFill>
              </a:defRPr>
            </a:lvl5pPr>
            <a:lvl6pPr>
              <a:defRPr sz="975" b="0">
                <a:solidFill>
                  <a:srgbClr val="102A43"/>
                </a:solidFill>
              </a:defRPr>
            </a:lvl6pPr>
            <a:lvl7pPr>
              <a:defRPr sz="975" b="0">
                <a:solidFill>
                  <a:srgbClr val="102A43"/>
                </a:solidFill>
              </a:defRPr>
            </a:lvl7pPr>
            <a:lvl8pPr>
              <a:defRPr sz="975" b="0">
                <a:solidFill>
                  <a:srgbClr val="102A43"/>
                </a:solidFill>
              </a:defRPr>
            </a:lvl8pPr>
            <a:lvl9pPr>
              <a:defRPr sz="9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ระบบนำทางไม่สำเร็จ หรือไม่สามารถรับเป้าหมายได้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BE05DB-A504-47C5-A4A7-5C19EC08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86715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D2C670-D04E-48A2-85F5-B85A1C31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ขอบเขตของต้นแบบ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44DD8F-1BBB-4185-BF32-FDDE7910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149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02A43"/>
                </a:solidFill>
              </a:defRPr>
            </a:defPPr>
            <a:lvl1pPr>
              <a:defRPr sz="975" b="0">
                <a:solidFill>
                  <a:srgbClr val="102A43"/>
                </a:solidFill>
              </a:defRPr>
            </a:lvl1pPr>
            <a:lvl2pPr>
              <a:defRPr sz="975" b="0">
                <a:solidFill>
                  <a:srgbClr val="102A43"/>
                </a:solidFill>
              </a:defRPr>
            </a:lvl2pPr>
            <a:lvl3pPr>
              <a:defRPr sz="975" b="0">
                <a:solidFill>
                  <a:srgbClr val="102A43"/>
                </a:solidFill>
              </a:defRPr>
            </a:lvl3pPr>
            <a:lvl4pPr>
              <a:defRPr sz="975" b="0">
                <a:solidFill>
                  <a:srgbClr val="102A43"/>
                </a:solidFill>
              </a:defRPr>
            </a:lvl4pPr>
            <a:lvl5pPr>
              <a:defRPr sz="975" b="0">
                <a:solidFill>
                  <a:srgbClr val="102A43"/>
                </a:solidFill>
              </a:defRPr>
            </a:lvl5pPr>
            <a:lvl6pPr>
              <a:defRPr sz="975" b="0">
                <a:solidFill>
                  <a:srgbClr val="102A43"/>
                </a:solidFill>
              </a:defRPr>
            </a:lvl6pPr>
            <a:lvl7pPr>
              <a:defRPr sz="975" b="0">
                <a:solidFill>
                  <a:srgbClr val="102A43"/>
                </a:solidFill>
              </a:defRPr>
            </a:lvl7pPr>
            <a:lvl8pPr>
              <a:defRPr sz="975" b="0">
                <a:solidFill>
                  <a:srgbClr val="102A43"/>
                </a:solidFill>
              </a:defRPr>
            </a:lvl8pPr>
            <a:lvl9pPr>
              <a:defRPr sz="9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การวางและรับสิ่งของยืนยันผ่านเว็บ</a:t>
            </a:r>
          </a:p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เนื่องจากยังไม่มีเซนเซอร์ตรวจสิ่งของ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F19631-B4A1-4D81-B666-AB48406D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ทุกสถานะถูกบันทึกเป็น Event History เพื่อให้ผู้ใช้ตรวจสอบย้อนหลังได้</a:t>
            </a:r>
          </a:p>
        </p:txBody>
      </p:sp>
    </p:spTree>
    <p:extLst>
      <p:ext uri="{BB962C8B-B14F-4D97-AF65-F5344CB8AC3E}">
        <p14:creationId xmlns:p14="http://schemas.microsoft.com/office/powerpoint/2010/main" val="20374764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93A283-EC6F-4EC5-8A50-51E81A5B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C053D-6685-4C25-8DD9-FE026A90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77D5B-FE0B-4C3B-82EF-F747DEC9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การทดสอบแบ่งเป็น 3 ส่วน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1B7A4-346A-4655-A676-5D8B2D1B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A63EE-F4A6-43F8-9112-9FF9F537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แต่ละส่วนตรวจคนละระดับ ก่อนนำผลมาพิจารณาร่วมกัน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A91CB-BBB8-46C7-B0BC-9DC7CE3B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3333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689FD-2A31-4AAB-A919-846ED810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110C1-95A1-4541-B921-755506DF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WEB APPLICATION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8F122-BF91-4E54-A7E5-7A9D2122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ทดสอบอะไร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61608-AD46-4F19-BBBA-2D664313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ตรวจสิทธิ์ผู้ใช้ หน้าจอภารกิจ คิว สถานะ และ Event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A13CF-97C6-4ECF-B0B2-4715D9CB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718B"/>
                </a:solidFill>
              </a:defRPr>
            </a:defPPr>
            <a:lvl1pPr>
              <a:defRPr sz="900" b="1">
                <a:solidFill>
                  <a:srgbClr val="58718B"/>
                </a:solidFill>
              </a:defRPr>
            </a:lvl1pPr>
            <a:lvl2pPr>
              <a:defRPr sz="900" b="1">
                <a:solidFill>
                  <a:srgbClr val="58718B"/>
                </a:solidFill>
              </a:defRPr>
            </a:lvl2pPr>
            <a:lvl3pPr>
              <a:defRPr sz="900" b="1">
                <a:solidFill>
                  <a:srgbClr val="58718B"/>
                </a:solidFill>
              </a:defRPr>
            </a:lvl3pPr>
            <a:lvl4pPr>
              <a:defRPr sz="900" b="1">
                <a:solidFill>
                  <a:srgbClr val="58718B"/>
                </a:solidFill>
              </a:defRPr>
            </a:lvl4pPr>
            <a:lvl5pPr>
              <a:defRPr sz="900" b="1">
                <a:solidFill>
                  <a:srgbClr val="58718B"/>
                </a:solidFill>
              </a:defRPr>
            </a:lvl5pPr>
            <a:lvl6pPr>
              <a:defRPr sz="900" b="1">
                <a:solidFill>
                  <a:srgbClr val="58718B"/>
                </a:solidFill>
              </a:defRPr>
            </a:lvl6pPr>
            <a:lvl7pPr>
              <a:defRPr sz="900" b="1">
                <a:solidFill>
                  <a:srgbClr val="58718B"/>
                </a:solidFill>
              </a:defRPr>
            </a:lvl7pPr>
            <a:lvl8pPr>
              <a:defRPr sz="900" b="1">
                <a:solidFill>
                  <a:srgbClr val="58718B"/>
                </a:solidFill>
              </a:defRPr>
            </a:lvl8pPr>
            <a:lvl9pPr>
              <a:defRPr sz="90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8718B"/>
                </a:solidFill>
              </a:defRPr>
            </a:pPr>
            <a:r>
              <a:rPr sz="900" b="1">
                <a:solidFill>
                  <a:srgbClr val="58718B"/>
                </a:solidFill>
              </a:rPr>
              <a:t>ผลลัพธ์แสดงในหน้า 13 และ 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F2E0B-E15B-4798-B4D5-7359FFA6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3333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7FF21-3EB6-48AD-A23F-22616941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12E0D-CB35-4219-9C3A-AAFD4279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ROBOT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906E9-31A0-4000-98FC-7938B731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ทดสอบอะไร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8CF82-0187-44B8-BE51-CFAD81E9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ตรวจการสร้างแผนที่ การเลือกแผนที่ และ Localization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19872-2E3D-43C4-AD64-B87857B2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718B"/>
                </a:solidFill>
              </a:defRPr>
            </a:defPPr>
            <a:lvl1pPr>
              <a:defRPr sz="900" b="1">
                <a:solidFill>
                  <a:srgbClr val="58718B"/>
                </a:solidFill>
              </a:defRPr>
            </a:lvl1pPr>
            <a:lvl2pPr>
              <a:defRPr sz="900" b="1">
                <a:solidFill>
                  <a:srgbClr val="58718B"/>
                </a:solidFill>
              </a:defRPr>
            </a:lvl2pPr>
            <a:lvl3pPr>
              <a:defRPr sz="900" b="1">
                <a:solidFill>
                  <a:srgbClr val="58718B"/>
                </a:solidFill>
              </a:defRPr>
            </a:lvl3pPr>
            <a:lvl4pPr>
              <a:defRPr sz="900" b="1">
                <a:solidFill>
                  <a:srgbClr val="58718B"/>
                </a:solidFill>
              </a:defRPr>
            </a:lvl4pPr>
            <a:lvl5pPr>
              <a:defRPr sz="900" b="1">
                <a:solidFill>
                  <a:srgbClr val="58718B"/>
                </a:solidFill>
              </a:defRPr>
            </a:lvl5pPr>
            <a:lvl6pPr>
              <a:defRPr sz="900" b="1">
                <a:solidFill>
                  <a:srgbClr val="58718B"/>
                </a:solidFill>
              </a:defRPr>
            </a:lvl6pPr>
            <a:lvl7pPr>
              <a:defRPr sz="900" b="1">
                <a:solidFill>
                  <a:srgbClr val="58718B"/>
                </a:solidFill>
              </a:defRPr>
            </a:lvl7pPr>
            <a:lvl8pPr>
              <a:defRPr sz="900" b="1">
                <a:solidFill>
                  <a:srgbClr val="58718B"/>
                </a:solidFill>
              </a:defRPr>
            </a:lvl8pPr>
            <a:lvl9pPr>
              <a:defRPr sz="90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8718B"/>
                </a:solidFill>
              </a:defRPr>
            </a:pPr>
            <a:r>
              <a:rPr sz="900" b="1">
                <a:solidFill>
                  <a:srgbClr val="58718B"/>
                </a:solidFill>
              </a:rPr>
              <a:t>ผลลัพธ์แสดงในหน้า 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F7BDF-08B1-4184-8C7E-82FC3029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3333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AC48F-A237-4ADF-B99B-8736B561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585AD-661F-496E-91CD-52E3489C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05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INTEGRATION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B7152-33A0-4DEB-94BD-9E5409A8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ทดสอบอะไร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D1C41D-446C-4BBA-B832-DB8B7210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ตรวจการส่งภารกิจผ่าน Robot Agent และการส่งสถานะกลับ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A3DC99-AB3C-4D06-90D9-6E8B945C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718B"/>
                </a:solidFill>
              </a:defRPr>
            </a:defPPr>
            <a:lvl1pPr>
              <a:defRPr sz="900" b="1">
                <a:solidFill>
                  <a:srgbClr val="58718B"/>
                </a:solidFill>
              </a:defRPr>
            </a:lvl1pPr>
            <a:lvl2pPr>
              <a:defRPr sz="900" b="1">
                <a:solidFill>
                  <a:srgbClr val="58718B"/>
                </a:solidFill>
              </a:defRPr>
            </a:lvl2pPr>
            <a:lvl3pPr>
              <a:defRPr sz="900" b="1">
                <a:solidFill>
                  <a:srgbClr val="58718B"/>
                </a:solidFill>
              </a:defRPr>
            </a:lvl3pPr>
            <a:lvl4pPr>
              <a:defRPr sz="900" b="1">
                <a:solidFill>
                  <a:srgbClr val="58718B"/>
                </a:solidFill>
              </a:defRPr>
            </a:lvl4pPr>
            <a:lvl5pPr>
              <a:defRPr sz="900" b="1">
                <a:solidFill>
                  <a:srgbClr val="58718B"/>
                </a:solidFill>
              </a:defRPr>
            </a:lvl5pPr>
            <a:lvl6pPr>
              <a:defRPr sz="900" b="1">
                <a:solidFill>
                  <a:srgbClr val="58718B"/>
                </a:solidFill>
              </a:defRPr>
            </a:lvl6pPr>
            <a:lvl7pPr>
              <a:defRPr sz="900" b="1">
                <a:solidFill>
                  <a:srgbClr val="58718B"/>
                </a:solidFill>
              </a:defRPr>
            </a:lvl7pPr>
            <a:lvl8pPr>
              <a:defRPr sz="900" b="1">
                <a:solidFill>
                  <a:srgbClr val="58718B"/>
                </a:solidFill>
              </a:defRPr>
            </a:lvl8pPr>
            <a:lvl9pPr>
              <a:defRPr sz="90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8718B"/>
                </a:solidFill>
              </a:defRPr>
            </a:pPr>
            <a:r>
              <a:rPr sz="900" b="1">
                <a:solidFill>
                  <a:srgbClr val="58718B"/>
                </a:solidFill>
              </a:rPr>
              <a:t>ผลลัพธ์แสดงในหน้า 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462DF-A8D0-4234-B83A-796C102A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ผลทดสอบต่อไปนี้ยืนยันเฉพาะกรณีที่บันทึกไว้ ไม่ใช้แทนอัตราความสำเร็จรวมของระบบ</a:t>
            </a:r>
          </a:p>
        </p:txBody>
      </p:sp>
    </p:spTree>
    <p:extLst>
      <p:ext uri="{BB962C8B-B14F-4D97-AF65-F5344CB8AC3E}">
        <p14:creationId xmlns:p14="http://schemas.microsoft.com/office/powerpoint/2010/main" val="10818380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D3C16-A576-4299-9BF2-783B3919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WEB APPLICATION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699BA-E0AB-442A-A3B0-AEDFE2E3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60C14-7280-4DCA-A8A0-9AA3EFF6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Web Application Test: สิทธิ์และหน้าจอผู้ใช้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6CFF5-13A0-48DC-85D0-6808C379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55581-8561-4972-8020-C7F1D938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ตรวจว่าผู้ดูแลระบบและผู้ใช้งานทั่วไปเห็นข้อมูลตามบทบาทที่กำหนด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BF1A2-B9A6-4A31-A877-E2791AF6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7B74E-4AD1-4174-B4CA-4834FCBB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621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เข้าสู่ระบบด้วยบัญชีต่างบทบาท แล้วตรวจเมนู แดชบอร์ด แผนที่ และข้อมูลภารกิจที่แต่ละบทบาทเข้าถึงได้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8710A-2BE3-435D-8453-189F196100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4da67b97d4d42"/>
          <a:srcRect xmlns:a="http://schemas.openxmlformats.org/drawingml/2006/main" l="4894" t="0" r="4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133600"/>
            <a:ext cx="5334000" cy="32385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9D3DE-F9F1-42B5-9221-D33BB6A36B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860dbf6894b5a"/>
          <a:srcRect xmlns:a="http://schemas.openxmlformats.org/drawingml/2006/main" l="4894" t="0" r="4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133600"/>
            <a:ext cx="5334000" cy="3238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49810-F84D-4F35-8D82-A9C6801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ADMIN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16460-70F2-402F-AB1C-71C04609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ผู้ดูแลตรวจสถานะระบบและจัดการข้อมูลส่วนกลาง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9E73B-7381-46D8-A015-A99C485B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USER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D82F4-4DD8-4A9B-9587-BC79F156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ผู้ใช้ติดตามภารกิจและข้อมูลของตนเอง</a:t>
            </a:r>
          </a:p>
        </p:txBody>
      </p:sp>
    </p:spTree>
    <p:extLst>
      <p:ext uri="{BB962C8B-B14F-4D97-AF65-F5344CB8AC3E}">
        <p14:creationId xmlns:p14="http://schemas.microsoft.com/office/powerpoint/2010/main" val="8889456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85F82-8846-416D-82C6-552F9D67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WEB APPLICATION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73AF9-E9FC-4129-81CA-EAE2D9D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9B7A3-9E9F-4790-99B8-76EE56BE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Web Application Test: คิว สถานะ และประวัติ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A9FC-EC27-4DFE-A40F-D46C1C96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4290A-2134-4D02-8887-67461625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ตรวจการบันทึกสถานะของภารกิจตั้งแต่สร้างงานจนสิ้นสุด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0A07C-7A76-4510-8913-389E5EBC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CED3F-014D-409B-8927-695D0B34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621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สร้างภารกิจ ตรวจลำดับคิว และเปิด Event History เพื่อดูเวลา ผู้ก่อเหตุ และการเปลี่ยนสถานะของแต่ละขั้น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FD677-0D40-409A-BF4E-8C9D7A9E3B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38a33648a48cd"/>
          <a:srcRect xmlns:a="http://schemas.openxmlformats.org/drawingml/2006/main" l="6488" t="0" r="64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133600"/>
            <a:ext cx="5334000" cy="32385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42720-0064-4F23-9DB3-32F893AB73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dd5e3fabc4d71"/>
          <a:srcRect xmlns:a="http://schemas.openxmlformats.org/drawingml/2006/main" l="6488" t="0" r="64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133600"/>
            <a:ext cx="5334000" cy="3238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8F8C7-5103-4845-A803-AE81619C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TASK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898EC-7F18-4152-9201-97A901B1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หน้ารวมแสดงคิว เส้นทาง เจ้าของงาน และสถานะล่าสุด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BF0B9-804E-41F1-9C21-CFDCC82A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EVENT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687E1-D3D3-476A-8519-C5C29DA5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ประวัติบันทึกเวลา แหล่งที่มา และการเปลี่ยนสถานะ</a:t>
            </a:r>
          </a:p>
        </p:txBody>
      </p:sp>
    </p:spTree>
    <p:extLst>
      <p:ext uri="{BB962C8B-B14F-4D97-AF65-F5344CB8AC3E}">
        <p14:creationId xmlns:p14="http://schemas.microsoft.com/office/powerpoint/2010/main" val="15419392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E4903-39BA-41B2-B10C-435649F3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119A8-B29C-4463-AAFA-013EB466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FE1E8-CCC4-4869-BC9F-36B4A894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Robot Test: SLAM and Localization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9B4CD-7F44-4EFF-9E68-92A571E9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23D8E-4D17-40D4-AE05-FB14C5B1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ตรวจการสร้าง Map-Test-01 และการกำหนด Initial Pose บนหุ่นยนต์จริง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C7084-8457-4BD7-8A33-5120A37F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FFC94-5BD5-44F4-BDAF-3A606AD3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66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ควบคุมฐานระหว่างสร้างแผนที่ บันทึกแผนที่ แล้วเลือกแผนที่เพื่อกำหนดตำแหน่งเริ่มต้นด้วย AMCL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044D4-1286-4E08-A46D-A87ABF1E6B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26d659ff04386"/>
          <a:srcRect xmlns:a="http://schemas.openxmlformats.org/drawingml/2006/main" l="8209" t="0" r="82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000250"/>
            <a:ext cx="5334000" cy="33718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4411A-0414-4CE1-9C58-EAEB1567D5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b23c9a17b431f"/>
          <a:srcRect xmlns:a="http://schemas.openxmlformats.org/drawingml/2006/main" l="5508" t="0" r="55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000250"/>
            <a:ext cx="5334000" cy="3371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11B12-CBFC-400A-9426-3931A35B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WEB 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AAA2C-E090-492C-B976-D3CAF2AE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หน้าเว็บรับ occupancy map จาก ROS 2 ระหว่างควบคุมฐาน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F88FC-04C7-4715-B51C-D990887A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LOCALIZATION 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94173-199C-41AA-AA2D-72BC84C9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ระบบยอมรับ Initial Pose และรายงานสถานะ Localized</a:t>
            </a:r>
          </a:p>
        </p:txBody>
      </p:sp>
    </p:spTree>
    <p:extLst>
      <p:ext uri="{BB962C8B-B14F-4D97-AF65-F5344CB8AC3E}">
        <p14:creationId xmlns:p14="http://schemas.microsoft.com/office/powerpoint/2010/main" val="15747858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986027-480C-47AF-B844-334DE2EE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INTEGRATION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F6F05-A410-454A-90C8-524E9007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ABE03-111E-451B-AAAF-4D1D6FBA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Integration Test: TASK-288 จากสถานี C ไปสถานี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3CF1E-5A37-4CDD-B4F7-2340D08F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A5990-B02A-4DD1-A9C1-429DAB3D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ตรวจการส่งภารกิจจากเว็บไปยัง Robot Agent และการส่งสถานะกลับ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EDF7C-A53C-49D7-AB38-D140CFAE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29232-A4EA-405D-B34F-EE6B4DD6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287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สร้างภารกิจผ่านเว็บ ให้หุ่นยนต์เดินทางไปจุดรับและปลายทาง แล้วตรวจลำดับเหตุการณ์ที่ระบบบันทึก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289B5-DE1C-4212-ABF4-19F24564DE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6049005164edd"/>
          <a:srcRect xmlns:a="http://schemas.openxmlformats.org/drawingml/2006/main" l="3070" t="0" r="3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943100"/>
            <a:ext cx="6076950" cy="3543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39C7C-891C-499D-8F9C-973AFA1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EVENT 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48499-871B-4EAC-A71A-731C35AF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BDD0D-579D-49E9-A452-CEC406B9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6C2C9-6858-4FFD-B6DA-36207B9B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431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23:13:10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BAB77-2CFF-4B17-9000-33A0554D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Task created and assigned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6D700-CEC0-429D-8717-5E2AC111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8AB7B-C693-441D-965F-2555A755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1C723-4A6D-421F-96B7-C6A0D015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95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8591A-C9A9-4967-8E3E-252E5F3A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pickup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EA2C2-77D0-41C3-9341-2B48D1E4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24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3A434-1BF8-4E44-93CF-9994E0FC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576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2F713-79F3-4FD0-9017-F258E20D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48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A8718-AC9B-4E07-9DCB-0B44225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Confirm loaded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F1F36-92D8-4941-9AA3-4BDA89DC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76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4D727-0AE3-4CF6-9028-44B353E3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E3BB3-AB62-480A-BD89-F83730A8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23:15:58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4B328-910D-4326-9987-DB40A6F7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destination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E4CBD-2095-411B-8768-106439C5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99951-54D8-4D0D-8B90-9C3AF03C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52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23:16:04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F011EA-4472-42A6-9B90-8CD21E15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Confirm received and completed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3AA81-FB0A-46FF-84A8-FE2F27C7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76850"/>
            <a:ext cx="44958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38ECBE-EF2A-479D-8AE6-A6F76810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TOTAL ELAPSED  2 min 53 sec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F66BB1-E548-434E-A27B-622C9A73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53100"/>
            <a:ext cx="607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ผลนี้ยืนยันเฉพาะกรณี TASK-288 ไม่ใช่อัตราความสำเร็จรวม</a:t>
            </a:r>
          </a:p>
        </p:txBody>
      </p:sp>
    </p:spTree>
    <p:extLst>
      <p:ext uri="{BB962C8B-B14F-4D97-AF65-F5344CB8AC3E}">
        <p14:creationId xmlns:p14="http://schemas.microsoft.com/office/powerpoint/2010/main" val="5786330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724BD-C3BE-4D01-9D66-5F9370CA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B4BD6-84FA-40B8-A53A-06033650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A38E0-934D-46EC-8FDE-88BA0D26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สรุปผลการดำเนินโครงงาน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4AB91-68EE-4C41-804A-9D5ADA9A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B7A3E-5D2E-4232-8E55-21CBE053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ต้นแบบเชื่อมระบบนำทางของหุ่นยนต์กับการจัดการภารกิจผ่านเว็บเป็นกระบวนการเดียวกัน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E66BE-A55D-411B-A076-EDF33FF6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53340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4D7EB-9A0C-4D17-B307-5A4BB171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ระบบที่พัฒนา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64EBC-1766-4747-B258-9727CD2A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6291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ฐานหุ่นยนต์ Differential Drive ใช้ ODROID-C4 และ ESP32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ROS 2 ทำงานร่วมกับ SLAM Toolbox, AMCL และ Nav2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เว็บพัฒนาด้วย Next.js, FastAPI และ PostgreSQL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Robot Agent เชื่อมคำสั่งและสถานะระหว่างเว็บกับหุ่นยนต์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6DE58-6099-43C1-B825-C43FD8AE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95450"/>
            <a:ext cx="56388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C2C77-AAB2-49B6-9938-38915837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ผลการทดสอบเบื้องต้น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7E3EA-884B-4826-A6C0-A068D4AB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8958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• สร้างภารกิจ จัดคิว และติดตามสถานะจากเว็บได้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• สร้างแผนที่และกำหนดตำแหน่งเริ่มต้นในพื้นที่ทดลองได้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• TASK-288 บันทึกลำดับเหตุการณ์ตั้งแต่รับงานจนเสร็จสิ้น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BC172-63AE-41E3-B37A-EB5F5685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11239500" cy="1295400"/>
          </a:xfrm>
          <a:prstGeom xmlns:a="http://schemas.openxmlformats.org/drawingml/2006/main" prst="roundRect">
            <a:avLst>
              <a:gd name="adj" fmla="val 1617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4F126-A0D1-4568-BBA6-314FA5AA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5362"/>
                </a:solidFill>
              </a:defRPr>
            </a:defPPr>
            <a:lvl1pPr>
              <a:defRPr sz="1350" b="1">
                <a:solidFill>
                  <a:srgbClr val="D95362"/>
                </a:solidFill>
              </a:defRPr>
            </a:lvl1pPr>
            <a:lvl2pPr>
              <a:defRPr sz="1350" b="1">
                <a:solidFill>
                  <a:srgbClr val="D95362"/>
                </a:solidFill>
              </a:defRPr>
            </a:lvl2pPr>
            <a:lvl3pPr>
              <a:defRPr sz="1350" b="1">
                <a:solidFill>
                  <a:srgbClr val="D95362"/>
                </a:solidFill>
              </a:defRPr>
            </a:lvl3pPr>
            <a:lvl4pPr>
              <a:defRPr sz="1350" b="1">
                <a:solidFill>
                  <a:srgbClr val="D95362"/>
                </a:solidFill>
              </a:defRPr>
            </a:lvl4pPr>
            <a:lvl5pPr>
              <a:defRPr sz="1350" b="1">
                <a:solidFill>
                  <a:srgbClr val="D95362"/>
                </a:solidFill>
              </a:defRPr>
            </a:lvl5pPr>
            <a:lvl6pPr>
              <a:defRPr sz="1350" b="1">
                <a:solidFill>
                  <a:srgbClr val="D95362"/>
                </a:solidFill>
              </a:defRPr>
            </a:lvl6pPr>
            <a:lvl7pPr>
              <a:defRPr sz="1350" b="1">
                <a:solidFill>
                  <a:srgbClr val="D95362"/>
                </a:solidFill>
              </a:defRPr>
            </a:lvl7pPr>
            <a:lvl8pPr>
              <a:defRPr sz="1350" b="1">
                <a:solidFill>
                  <a:srgbClr val="D95362"/>
                </a:solidFill>
              </a:defRPr>
            </a:lvl8pPr>
            <a:lvl9pPr>
              <a:defRPr sz="13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95362"/>
                </a:solidFill>
              </a:defRPr>
            </a:pPr>
            <a:r>
              <a:rPr sz="1350" b="1">
                <a:solidFill>
                  <a:srgbClr val="D95362"/>
                </a:solidFill>
              </a:rPr>
              <a:t>ข้อจำกัด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5667E-2B0F-4F65-B29B-9B736BFF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• ยังไม่มีโครงสร้างบรรทุกสิ่งของโดยเฉพาะ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7F38E-B125-4D73-B3C3-66EEC6FE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• การวางและรับสิ่งของยังยืนยันผ่านเว็บ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AC0D2-AD0F-452B-947C-D65D6AC9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01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• ผลทดสอบยืนยันเฉพาะกรณีที่บันทึกไว้</a:t>
            </a:r>
          </a:p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  ยังไม่ใช่ผลความเสถียรระยะยาว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5424D-11A5-494E-AFD1-2326A84F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8718B"/>
                </a:solidFill>
              </a:defRPr>
            </a:defPPr>
            <a:lvl1pPr>
              <a:defRPr sz="975" b="1">
                <a:solidFill>
                  <a:srgbClr val="58718B"/>
                </a:solidFill>
              </a:defRPr>
            </a:lvl1pPr>
            <a:lvl2pPr>
              <a:defRPr sz="975" b="1">
                <a:solidFill>
                  <a:srgbClr val="58718B"/>
                </a:solidFill>
              </a:defRPr>
            </a:lvl2pPr>
            <a:lvl3pPr>
              <a:defRPr sz="975" b="1">
                <a:solidFill>
                  <a:srgbClr val="58718B"/>
                </a:solidFill>
              </a:defRPr>
            </a:lvl3pPr>
            <a:lvl4pPr>
              <a:defRPr sz="975" b="1">
                <a:solidFill>
                  <a:srgbClr val="58718B"/>
                </a:solidFill>
              </a:defRPr>
            </a:lvl4pPr>
            <a:lvl5pPr>
              <a:defRPr sz="975" b="1">
                <a:solidFill>
                  <a:srgbClr val="58718B"/>
                </a:solidFill>
              </a:defRPr>
            </a:lvl5pPr>
            <a:lvl6pPr>
              <a:defRPr sz="975" b="1">
                <a:solidFill>
                  <a:srgbClr val="58718B"/>
                </a:solidFill>
              </a:defRPr>
            </a:lvl6pPr>
            <a:lvl7pPr>
              <a:defRPr sz="975" b="1">
                <a:solidFill>
                  <a:srgbClr val="58718B"/>
                </a:solidFill>
              </a:defRPr>
            </a:lvl7pPr>
            <a:lvl8pPr>
              <a:defRPr sz="975" b="1">
                <a:solidFill>
                  <a:srgbClr val="58718B"/>
                </a:solidFill>
              </a:defRPr>
            </a:lvl8pPr>
            <a:lvl9pPr>
              <a:defRPr sz="97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718B"/>
                </a:solidFill>
              </a:defRPr>
            </a:pPr>
            <a:r>
              <a:rPr sz="975" b="1">
                <a:solidFill>
                  <a:srgbClr val="58718B"/>
                </a:solidFill>
              </a:rPr>
              <a:t>จึงสรุปได้ว่าระบบต้นแบบทำงานร่วมกันได้ตามขอบเขตที่กำหนด แต่ยังต้องพัฒนาก่อนนำไปใช้งานจริง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18492698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BCC469-FEC8-4249-ABB8-41DB091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B626C-57AF-4F66-B392-5E37444C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78C9A-C673-4069-B5D0-F267D456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12.2 แนวทางการดำเนินโครงงานในสถานประกอบการ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23941-7604-4DDA-BDDA-B35558FB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9C921-A93A-4C39-B148-719EC0F7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นำประสบการณ์จากต้นแบบไปต่อยอดกับงานซอฟต์แวร์และระบบสมองกลฝังตัว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5EAEB-ED39-437C-B6E4-A2BE1F96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3810000" cy="381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76843-EE5A-428E-807B-1316950A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8BE"/>
                </a:solidFill>
              </a:defRPr>
            </a:defPPr>
            <a:lvl1pPr>
              <a:defRPr sz="1350" b="1">
                <a:solidFill>
                  <a:srgbClr val="1678BE"/>
                </a:solidFill>
              </a:defRPr>
            </a:lvl1pPr>
            <a:lvl2pPr>
              <a:defRPr sz="1350" b="1">
                <a:solidFill>
                  <a:srgbClr val="1678BE"/>
                </a:solidFill>
              </a:defRPr>
            </a:lvl2pPr>
            <a:lvl3pPr>
              <a:defRPr sz="1350" b="1">
                <a:solidFill>
                  <a:srgbClr val="1678BE"/>
                </a:solidFill>
              </a:defRPr>
            </a:lvl3pPr>
            <a:lvl4pPr>
              <a:defRPr sz="1350" b="1">
                <a:solidFill>
                  <a:srgbClr val="1678BE"/>
                </a:solidFill>
              </a:defRPr>
            </a:lvl4pPr>
            <a:lvl5pPr>
              <a:defRPr sz="1350" b="1">
                <a:solidFill>
                  <a:srgbClr val="1678BE"/>
                </a:solidFill>
              </a:defRPr>
            </a:lvl5pPr>
            <a:lvl6pPr>
              <a:defRPr sz="1350" b="1">
                <a:solidFill>
                  <a:srgbClr val="1678BE"/>
                </a:solidFill>
              </a:defRPr>
            </a:lvl6pPr>
            <a:lvl7pPr>
              <a:defRPr sz="1350" b="1">
                <a:solidFill>
                  <a:srgbClr val="1678BE"/>
                </a:solidFill>
              </a:defRPr>
            </a:lvl7pPr>
            <a:lvl8pPr>
              <a:defRPr sz="1350" b="1">
                <a:solidFill>
                  <a:srgbClr val="1678BE"/>
                </a:solidFill>
              </a:defRPr>
            </a:lvl8pPr>
            <a:lvl9pPr>
              <a:defRPr sz="13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78BE"/>
                </a:solidFill>
              </a:defRPr>
            </a:pPr>
            <a:r>
              <a:rPr sz="1350" b="1">
                <a:solidFill>
                  <a:srgbClr val="1678BE"/>
                </a:solidFill>
              </a:rPr>
              <a:t>สถานประกอบการ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A3D3C-6D08-4503-B72A-2137D822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APITechSmart Lab</a:t>
            </a:r>
          </a:p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บริษัท เอ.พี.ไอ.เทค จำกัด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292B7-9EC0-4339-B453-FB569F5A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ตำแหน่ง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786B9-5B67-4575-AD83-CD34D90E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Programmer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14F6C-8334-4D0E-8C89-3F7686CE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ลักษณะธุรกิจ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61090-4CB1-4920-9A7A-A24CF2A0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เทคโนโลยีอิเล็กทรอนิกส์ยานยนต์</a:t>
            </a:r>
          </a:p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ระบบควบคุมและการวิเคราะห์ข้อมูลยานยนต์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8BFB9-6048-43AB-B087-A2F94848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แนวทางที่คาดว่าจะเกี่ยวข้อง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A1187-00FC-456C-A989-D80266C6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D5957-46C2-4B60-A7B5-3AB8B3C9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Automotive and IoT software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BD7C6-4631-4057-B4E5-7A0386F4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051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พัฒนาโปรแกรมที่สื่อสารกับอุปกรณ์อิเล็กทรอนิกส์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5FD6C-AF38-42D7-AB52-75138324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351A8-3177-48C9-A819-ABFBBB8D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Sensor data 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F9A34-08AE-46C1-AF42-AEFCCE1C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957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 ประมวลผล และแสดงข้อมูลจากเซนเซอร์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E516E0-08BE-49F2-905C-62AC7B3C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607AF-84F4-4899-936F-291A233F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624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Monitoring and control applications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9A2DE-C2DC-4C51-917A-5D5EC3DE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863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สร้างแอปพลิเคชันเพื่อสนับสนุนการตรวจสอบหรือควบคุมอุปกรณ์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6F468D-D8A1-4AD7-8EAA-F1E3728D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6572250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3F1AFF-9627-442F-B0FB-B2F56A28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86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สถานะปัจจุบัน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0A166-015F-4678-A05C-C989F7FD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4830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ยังไม่ได้รับหัวข้อโครงงานอย่างเป็นทางการ และจะกำหนดร่วมกับพนักงานที่ปรึกษา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90726-D47F-4D07-BED5-DBD98768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15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3B82"/>
                </a:solidFill>
              </a:defRPr>
            </a:defPPr>
            <a:lvl1pPr>
              <a:defRPr sz="1800" b="1">
                <a:solidFill>
                  <a:srgbClr val="0A3B82"/>
                </a:solidFill>
              </a:defRPr>
            </a:lvl1pPr>
            <a:lvl2pPr>
              <a:defRPr sz="1800" b="1">
                <a:solidFill>
                  <a:srgbClr val="0A3B82"/>
                </a:solidFill>
              </a:defRPr>
            </a:lvl2pPr>
            <a:lvl3pPr>
              <a:defRPr sz="1800" b="1">
                <a:solidFill>
                  <a:srgbClr val="0A3B82"/>
                </a:solidFill>
              </a:defRPr>
            </a:lvl3pPr>
            <a:lvl4pPr>
              <a:defRPr sz="1800" b="1">
                <a:solidFill>
                  <a:srgbClr val="0A3B82"/>
                </a:solidFill>
              </a:defRPr>
            </a:lvl4pPr>
            <a:lvl5pPr>
              <a:defRPr sz="1800" b="1">
                <a:solidFill>
                  <a:srgbClr val="0A3B82"/>
                </a:solidFill>
              </a:defRPr>
            </a:lvl5pPr>
            <a:lvl6pPr>
              <a:defRPr sz="1800" b="1">
                <a:solidFill>
                  <a:srgbClr val="0A3B82"/>
                </a:solidFill>
              </a:defRPr>
            </a:lvl6pPr>
            <a:lvl7pPr>
              <a:defRPr sz="1800" b="1">
                <a:solidFill>
                  <a:srgbClr val="0A3B82"/>
                </a:solidFill>
              </a:defRPr>
            </a:lvl7pPr>
            <a:lvl8pPr>
              <a:defRPr sz="1800" b="1">
                <a:solidFill>
                  <a:srgbClr val="0A3B82"/>
                </a:solidFill>
              </a:defRPr>
            </a:lvl8pPr>
            <a:lvl9pPr>
              <a:defRPr sz="18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3B82"/>
                </a:solidFill>
              </a:defRPr>
            </a:pPr>
            <a:r>
              <a:rPr sz="1800" b="1">
                <a:solidFill>
                  <a:srgbClr val="0A3B82"/>
                </a:solidFill>
              </a:rPr>
              <a:t>ขอบคุณครับ</a:t>
            </a:r>
          </a:p>
        </p:txBody>
      </p:sp>
    </p:spTree>
    <p:extLst>
      <p:ext uri="{BB962C8B-B14F-4D97-AF65-F5344CB8AC3E}">
        <p14:creationId xmlns:p14="http://schemas.microsoft.com/office/powerpoint/2010/main" val="171804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2026-10-20T21:41:09.5860000Z</dcterms:created>
  <dcterms:modified xsi:type="dcterms:W3CDTF">2026-10-20T21:41:09.5860000Z</dcterms:modified>
</coreProperties>
</file>